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  <p:sldMasterId id="2147483715" r:id="rId6"/>
  </p:sldMasterIdLst>
  <p:notesMasterIdLst>
    <p:notesMasterId r:id="rId16"/>
  </p:notesMasterIdLst>
  <p:sldIdLst>
    <p:sldId id="264" r:id="rId7"/>
    <p:sldId id="2147471809" r:id="rId8"/>
    <p:sldId id="2147471810" r:id="rId9"/>
    <p:sldId id="2147471803" r:id="rId10"/>
    <p:sldId id="280" r:id="rId11"/>
    <p:sldId id="2147471804" r:id="rId12"/>
    <p:sldId id="2147471801" r:id="rId13"/>
    <p:sldId id="2147471807" r:id="rId14"/>
    <p:sldId id="21474718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648919-4012-A414-78F1-ACD4CF60BDEF}" name="EVANS, Harrison (NHS ENGLAND - X24)" initials="EX" userId="S::harrison.evans2_nhs.net#ext#@healthsharedservice.onmicrosoft.com::b8f1f8d1-9935-46d7-b0d1-cd67447dc9ef" providerId="AD"/>
  <p188:author id="{3793192D-5337-6852-150F-0FFF28AED88C}" name="Brunner, Emily" initials="EB" userId="S::Emily.Brunner@dhsc.gov.uk::56329f4e-7bd7-4468-8fd2-5dbe47923445" providerId="AD"/>
  <p188:author id="{5DB6D38B-4912-7351-27DC-CE7DFCC9FCA6}" name="O'NEIL, Martin (NHS ENGLAND - X26)" initials="" userId="S::martin.oneil4@nhs.net::b573856e-8b1e-42da-b159-a60af09282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AA0"/>
    <a:srgbClr val="F7C5FA"/>
    <a:srgbClr val="114889"/>
    <a:srgbClr val="66F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D1C3C-7FBB-4C66-AAF6-70042207E150}" v="38" dt="2026-02-08T16:04:26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BURTON, Will (NHS ENGLAND)" userId="86055aad-a7e9-4dc5-a2e0-86a798ac9ba4" providerId="ADAL" clId="{D9919522-9D98-4793-BCEB-0960DC349227}"/>
    <pc:docChg chg="undo custSel modSld sldOrd">
      <pc:chgData name="WARBURTON, Will (NHS ENGLAND)" userId="86055aad-a7e9-4dc5-a2e0-86a798ac9ba4" providerId="ADAL" clId="{D9919522-9D98-4793-BCEB-0960DC349227}" dt="2026-02-09T11:16:37.200" v="518" actId="20577"/>
      <pc:docMkLst>
        <pc:docMk/>
      </pc:docMkLst>
      <pc:sldChg chg="modSp mod">
        <pc:chgData name="WARBURTON, Will (NHS ENGLAND)" userId="86055aad-a7e9-4dc5-a2e0-86a798ac9ba4" providerId="ADAL" clId="{D9919522-9D98-4793-BCEB-0960DC349227}" dt="2026-02-09T11:16:37.200" v="518" actId="20577"/>
        <pc:sldMkLst>
          <pc:docMk/>
          <pc:sldMk cId="2169717014" sldId="264"/>
        </pc:sldMkLst>
        <pc:spChg chg="mod">
          <ac:chgData name="WARBURTON, Will (NHS ENGLAND)" userId="86055aad-a7e9-4dc5-a2e0-86a798ac9ba4" providerId="ADAL" clId="{D9919522-9D98-4793-BCEB-0960DC349227}" dt="2026-02-09T11:16:37.200" v="518" actId="20577"/>
          <ac:spMkLst>
            <pc:docMk/>
            <pc:sldMk cId="2169717014" sldId="264"/>
            <ac:spMk id="8" creationId="{C337A5F0-F58C-21E5-DC1A-EF9CA006011E}"/>
          </ac:spMkLst>
        </pc:spChg>
      </pc:sldChg>
      <pc:sldChg chg="modSp mod">
        <pc:chgData name="WARBURTON, Will (NHS ENGLAND)" userId="86055aad-a7e9-4dc5-a2e0-86a798ac9ba4" providerId="ADAL" clId="{D9919522-9D98-4793-BCEB-0960DC349227}" dt="2026-02-08T13:09:36.627" v="245" actId="20577"/>
        <pc:sldMkLst>
          <pc:docMk/>
          <pc:sldMk cId="3521800756" sldId="2147471801"/>
        </pc:sldMkLst>
        <pc:spChg chg="mod">
          <ac:chgData name="WARBURTON, Will (NHS ENGLAND)" userId="86055aad-a7e9-4dc5-a2e0-86a798ac9ba4" providerId="ADAL" clId="{D9919522-9D98-4793-BCEB-0960DC349227}" dt="2026-02-08T13:03:55.720" v="210" actId="207"/>
          <ac:spMkLst>
            <pc:docMk/>
            <pc:sldMk cId="3521800756" sldId="2147471801"/>
            <ac:spMk id="10" creationId="{253FA8EC-CCFA-3D28-C932-B67586DDBEB3}"/>
          </ac:spMkLst>
        </pc:spChg>
        <pc:spChg chg="mod">
          <ac:chgData name="WARBURTON, Will (NHS ENGLAND)" userId="86055aad-a7e9-4dc5-a2e0-86a798ac9ba4" providerId="ADAL" clId="{D9919522-9D98-4793-BCEB-0960DC349227}" dt="2026-02-08T13:02:57.324" v="208" actId="207"/>
          <ac:spMkLst>
            <pc:docMk/>
            <pc:sldMk cId="3521800756" sldId="2147471801"/>
            <ac:spMk id="11" creationId="{2AE869EF-227C-351F-4E08-542370BDE719}"/>
          </ac:spMkLst>
        </pc:spChg>
        <pc:spChg chg="mod">
          <ac:chgData name="WARBURTON, Will (NHS ENGLAND)" userId="86055aad-a7e9-4dc5-a2e0-86a798ac9ba4" providerId="ADAL" clId="{D9919522-9D98-4793-BCEB-0960DC349227}" dt="2026-02-08T13:08:59.279" v="234" actId="207"/>
          <ac:spMkLst>
            <pc:docMk/>
            <pc:sldMk cId="3521800756" sldId="2147471801"/>
            <ac:spMk id="19" creationId="{F8A80D0D-61D3-7B38-05D4-3146C4641E97}"/>
          </ac:spMkLst>
        </pc:spChg>
        <pc:spChg chg="mod">
          <ac:chgData name="WARBURTON, Will (NHS ENGLAND)" userId="86055aad-a7e9-4dc5-a2e0-86a798ac9ba4" providerId="ADAL" clId="{D9919522-9D98-4793-BCEB-0960DC349227}" dt="2026-02-08T13:03:19.511" v="209" actId="207"/>
          <ac:spMkLst>
            <pc:docMk/>
            <pc:sldMk cId="3521800756" sldId="2147471801"/>
            <ac:spMk id="26" creationId="{1326B4F2-CCA6-D6CD-42B4-C52801F8B4F8}"/>
          </ac:spMkLst>
        </pc:spChg>
        <pc:spChg chg="mod">
          <ac:chgData name="WARBURTON, Will (NHS ENGLAND)" userId="86055aad-a7e9-4dc5-a2e0-86a798ac9ba4" providerId="ADAL" clId="{D9919522-9D98-4793-BCEB-0960DC349227}" dt="2026-02-08T13:09:36.627" v="245" actId="20577"/>
          <ac:spMkLst>
            <pc:docMk/>
            <pc:sldMk cId="3521800756" sldId="2147471801"/>
            <ac:spMk id="29" creationId="{7A586074-5481-5493-26C4-26C36B1E0CED}"/>
          </ac:spMkLst>
        </pc:spChg>
        <pc:spChg chg="mod">
          <ac:chgData name="WARBURTON, Will (NHS ENGLAND)" userId="86055aad-a7e9-4dc5-a2e0-86a798ac9ba4" providerId="ADAL" clId="{D9919522-9D98-4793-BCEB-0960DC349227}" dt="2026-02-08T13:04:04.374" v="211" actId="207"/>
          <ac:spMkLst>
            <pc:docMk/>
            <pc:sldMk cId="3521800756" sldId="2147471801"/>
            <ac:spMk id="37" creationId="{AAE7F99B-E35E-EC10-2A1E-C05568C2362D}"/>
          </ac:spMkLst>
        </pc:spChg>
      </pc:sldChg>
      <pc:sldChg chg="modSp mod">
        <pc:chgData name="WARBURTON, Will (NHS ENGLAND)" userId="86055aad-a7e9-4dc5-a2e0-86a798ac9ba4" providerId="ADAL" clId="{D9919522-9D98-4793-BCEB-0960DC349227}" dt="2026-02-08T11:45:29.547" v="205" actId="1035"/>
        <pc:sldMkLst>
          <pc:docMk/>
          <pc:sldMk cId="492580420" sldId="2147471803"/>
        </pc:sldMkLst>
        <pc:spChg chg="mod">
          <ac:chgData name="WARBURTON, Will (NHS ENGLAND)" userId="86055aad-a7e9-4dc5-a2e0-86a798ac9ba4" providerId="ADAL" clId="{D9919522-9D98-4793-BCEB-0960DC349227}" dt="2026-02-08T11:45:02.007" v="178" actId="1036"/>
          <ac:spMkLst>
            <pc:docMk/>
            <pc:sldMk cId="492580420" sldId="2147471803"/>
            <ac:spMk id="3" creationId="{928CF9D0-671A-1CEA-AB75-96431962B333}"/>
          </ac:spMkLst>
        </pc:spChg>
        <pc:spChg chg="mod">
          <ac:chgData name="WARBURTON, Will (NHS ENGLAND)" userId="86055aad-a7e9-4dc5-a2e0-86a798ac9ba4" providerId="ADAL" clId="{D9919522-9D98-4793-BCEB-0960DC349227}" dt="2026-02-08T11:45:10.311" v="189" actId="1037"/>
          <ac:spMkLst>
            <pc:docMk/>
            <pc:sldMk cId="492580420" sldId="2147471803"/>
            <ac:spMk id="4" creationId="{058E706A-A73D-1D44-8815-25E066E3F1C9}"/>
          </ac:spMkLst>
        </pc:spChg>
        <pc:spChg chg="mod">
          <ac:chgData name="WARBURTON, Will (NHS ENGLAND)" userId="86055aad-a7e9-4dc5-a2e0-86a798ac9ba4" providerId="ADAL" clId="{D9919522-9D98-4793-BCEB-0960DC349227}" dt="2026-02-08T11:45:25.925" v="204" actId="1035"/>
          <ac:spMkLst>
            <pc:docMk/>
            <pc:sldMk cId="492580420" sldId="2147471803"/>
            <ac:spMk id="5" creationId="{319560A2-6796-DBD9-3F4D-C0D09F5DA618}"/>
          </ac:spMkLst>
        </pc:spChg>
        <pc:picChg chg="mod">
          <ac:chgData name="WARBURTON, Will (NHS ENGLAND)" userId="86055aad-a7e9-4dc5-a2e0-86a798ac9ba4" providerId="ADAL" clId="{D9919522-9D98-4793-BCEB-0960DC349227}" dt="2026-02-08T11:45:10.311" v="189" actId="1037"/>
          <ac:picMkLst>
            <pc:docMk/>
            <pc:sldMk cId="492580420" sldId="2147471803"/>
            <ac:picMk id="1026" creationId="{9E2EE606-8AB7-DD0E-2989-C15AD30B0B17}"/>
          </ac:picMkLst>
        </pc:picChg>
        <pc:picChg chg="mod">
          <ac:chgData name="WARBURTON, Will (NHS ENGLAND)" userId="86055aad-a7e9-4dc5-a2e0-86a798ac9ba4" providerId="ADAL" clId="{D9919522-9D98-4793-BCEB-0960DC349227}" dt="2026-02-08T11:45:29.547" v="205" actId="1035"/>
          <ac:picMkLst>
            <pc:docMk/>
            <pc:sldMk cId="492580420" sldId="2147471803"/>
            <ac:picMk id="1028" creationId="{DF948651-AB10-152B-AD81-BE6C8FB2F313}"/>
          </ac:picMkLst>
        </pc:picChg>
        <pc:picChg chg="mod">
          <ac:chgData name="WARBURTON, Will (NHS ENGLAND)" userId="86055aad-a7e9-4dc5-a2e0-86a798ac9ba4" providerId="ADAL" clId="{D9919522-9D98-4793-BCEB-0960DC349227}" dt="2026-02-08T11:45:05.028" v="183" actId="1037"/>
          <ac:picMkLst>
            <pc:docMk/>
            <pc:sldMk cId="492580420" sldId="2147471803"/>
            <ac:picMk id="1030" creationId="{187FA077-FC00-18DA-1AC7-85F0DFA1FD59}"/>
          </ac:picMkLst>
        </pc:picChg>
      </pc:sldChg>
      <pc:sldChg chg="modSp mod">
        <pc:chgData name="WARBURTON, Will (NHS ENGLAND)" userId="86055aad-a7e9-4dc5-a2e0-86a798ac9ba4" providerId="ADAL" clId="{D9919522-9D98-4793-BCEB-0960DC349227}" dt="2026-02-08T16:12:58.020" v="483" actId="1036"/>
        <pc:sldMkLst>
          <pc:docMk/>
          <pc:sldMk cId="724320052" sldId="2147471807"/>
        </pc:sldMkLst>
        <pc:spChg chg="mod">
          <ac:chgData name="WARBURTON, Will (NHS ENGLAND)" userId="86055aad-a7e9-4dc5-a2e0-86a798ac9ba4" providerId="ADAL" clId="{D9919522-9D98-4793-BCEB-0960DC349227}" dt="2026-02-08T16:12:58.020" v="483" actId="1036"/>
          <ac:spMkLst>
            <pc:docMk/>
            <pc:sldMk cId="724320052" sldId="2147471807"/>
            <ac:spMk id="4" creationId="{77732086-16DF-7C5F-DA71-4047B6266BF9}"/>
          </ac:spMkLst>
        </pc:spChg>
        <pc:spChg chg="mod">
          <ac:chgData name="WARBURTON, Will (NHS ENGLAND)" userId="86055aad-a7e9-4dc5-a2e0-86a798ac9ba4" providerId="ADAL" clId="{D9919522-9D98-4793-BCEB-0960DC349227}" dt="2026-02-08T13:10:34.177" v="268" actId="20577"/>
          <ac:spMkLst>
            <pc:docMk/>
            <pc:sldMk cId="724320052" sldId="2147471807"/>
            <ac:spMk id="6" creationId="{95441BEE-7BEF-E2AE-0C7E-B4916E186969}"/>
          </ac:spMkLst>
        </pc:spChg>
      </pc:sldChg>
      <pc:sldChg chg="modSp mod">
        <pc:chgData name="WARBURTON, Will (NHS ENGLAND)" userId="86055aad-a7e9-4dc5-a2e0-86a798ac9ba4" providerId="ADAL" clId="{D9919522-9D98-4793-BCEB-0960DC349227}" dt="2026-02-08T16:12:23.139" v="473" actId="1035"/>
        <pc:sldMkLst>
          <pc:docMk/>
          <pc:sldMk cId="2369720080" sldId="2147471808"/>
        </pc:sldMkLst>
        <pc:spChg chg="mod">
          <ac:chgData name="WARBURTON, Will (NHS ENGLAND)" userId="86055aad-a7e9-4dc5-a2e0-86a798ac9ba4" providerId="ADAL" clId="{D9919522-9D98-4793-BCEB-0960DC349227}" dt="2026-02-08T16:10:46.790" v="398" actId="14100"/>
          <ac:spMkLst>
            <pc:docMk/>
            <pc:sldMk cId="2369720080" sldId="2147471808"/>
            <ac:spMk id="3" creationId="{677134E2-36CD-700E-6D7D-9B89CBB48716}"/>
          </ac:spMkLst>
        </pc:spChg>
        <pc:spChg chg="mod">
          <ac:chgData name="WARBURTON, Will (NHS ENGLAND)" userId="86055aad-a7e9-4dc5-a2e0-86a798ac9ba4" providerId="ADAL" clId="{D9919522-9D98-4793-BCEB-0960DC349227}" dt="2026-02-08T16:12:13.064" v="467" actId="20577"/>
          <ac:spMkLst>
            <pc:docMk/>
            <pc:sldMk cId="2369720080" sldId="2147471808"/>
            <ac:spMk id="4" creationId="{CB6C9667-AEF5-F633-C42A-B880A4DCF429}"/>
          </ac:spMkLst>
        </pc:spChg>
        <pc:spChg chg="mod">
          <ac:chgData name="WARBURTON, Will (NHS ENGLAND)" userId="86055aad-a7e9-4dc5-a2e0-86a798ac9ba4" providerId="ADAL" clId="{D9919522-9D98-4793-BCEB-0960DC349227}" dt="2026-02-08T16:11:39.929" v="464" actId="20577"/>
          <ac:spMkLst>
            <pc:docMk/>
            <pc:sldMk cId="2369720080" sldId="2147471808"/>
            <ac:spMk id="5" creationId="{02D33E9F-6ED7-2AD3-4F2A-DED8E81E14ED}"/>
          </ac:spMkLst>
        </pc:spChg>
        <pc:spChg chg="mod">
          <ac:chgData name="WARBURTON, Will (NHS ENGLAND)" userId="86055aad-a7e9-4dc5-a2e0-86a798ac9ba4" providerId="ADAL" clId="{D9919522-9D98-4793-BCEB-0960DC349227}" dt="2026-02-08T16:12:23.139" v="473" actId="1035"/>
          <ac:spMkLst>
            <pc:docMk/>
            <pc:sldMk cId="2369720080" sldId="2147471808"/>
            <ac:spMk id="14" creationId="{A6FD2B40-51E8-C714-48D4-FF5AA7E4BCB6}"/>
          </ac:spMkLst>
        </pc:sp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8" creationId="{54603F47-3279-27B9-A8FC-CCC053FCB88E}"/>
          </ac:picMkLst>
        </pc:pic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9" creationId="{95DD805C-1CC5-234A-CD02-17874708AF90}"/>
          </ac:picMkLst>
        </pc:pic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10" creationId="{785B5461-19B1-1B6A-8C02-8DEEC1271B75}"/>
          </ac:picMkLst>
        </pc:pic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11" creationId="{124A92C2-A313-40E8-4BB0-7E922BA47080}"/>
          </ac:picMkLst>
        </pc:pic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12" creationId="{A3279831-7C86-1FC7-CF15-51201F5B6B6C}"/>
          </ac:picMkLst>
        </pc:picChg>
        <pc:picChg chg="mod">
          <ac:chgData name="WARBURTON, Will (NHS ENGLAND)" userId="86055aad-a7e9-4dc5-a2e0-86a798ac9ba4" providerId="ADAL" clId="{D9919522-9D98-4793-BCEB-0960DC349227}" dt="2026-02-08T13:12:13.395" v="278" actId="1036"/>
          <ac:picMkLst>
            <pc:docMk/>
            <pc:sldMk cId="2369720080" sldId="2147471808"/>
            <ac:picMk id="13" creationId="{A223E12C-9CD0-B304-5F44-5801A8906DF5}"/>
          </ac:picMkLst>
        </pc:picChg>
      </pc:sldChg>
      <pc:sldChg chg="addSp delSp modSp mod">
        <pc:chgData name="WARBURTON, Will (NHS ENGLAND)" userId="86055aad-a7e9-4dc5-a2e0-86a798ac9ba4" providerId="ADAL" clId="{D9919522-9D98-4793-BCEB-0960DC349227}" dt="2026-02-08T16:06:41.124" v="345" actId="20577"/>
        <pc:sldMkLst>
          <pc:docMk/>
          <pc:sldMk cId="339321450" sldId="2147471809"/>
        </pc:sldMkLst>
        <pc:spChg chg="mod">
          <ac:chgData name="WARBURTON, Will (NHS ENGLAND)" userId="86055aad-a7e9-4dc5-a2e0-86a798ac9ba4" providerId="ADAL" clId="{D9919522-9D98-4793-BCEB-0960DC349227}" dt="2026-02-08T16:04:05.272" v="314" actId="164"/>
          <ac:spMkLst>
            <pc:docMk/>
            <pc:sldMk cId="339321450" sldId="2147471809"/>
            <ac:spMk id="2" creationId="{9ACDE930-4FB5-9C25-014F-2417F54B881E}"/>
          </ac:spMkLst>
        </pc:spChg>
        <pc:spChg chg="mod">
          <ac:chgData name="WARBURTON, Will (NHS ENGLAND)" userId="86055aad-a7e9-4dc5-a2e0-86a798ac9ba4" providerId="ADAL" clId="{D9919522-9D98-4793-BCEB-0960DC349227}" dt="2026-02-08T16:04:14.050" v="315" actId="164"/>
          <ac:spMkLst>
            <pc:docMk/>
            <pc:sldMk cId="339321450" sldId="2147471809"/>
            <ac:spMk id="4" creationId="{005596DE-0793-1ECA-0299-A61EE2F6DEA4}"/>
          </ac:spMkLst>
        </pc:spChg>
        <pc:spChg chg="mod">
          <ac:chgData name="WARBURTON, Will (NHS ENGLAND)" userId="86055aad-a7e9-4dc5-a2e0-86a798ac9ba4" providerId="ADAL" clId="{D9919522-9D98-4793-BCEB-0960DC349227}" dt="2026-02-08T16:04:05.272" v="314" actId="164"/>
          <ac:spMkLst>
            <pc:docMk/>
            <pc:sldMk cId="339321450" sldId="2147471809"/>
            <ac:spMk id="5" creationId="{BEF494A2-A7D6-84DC-9BA7-AB2CC382DFFA}"/>
          </ac:spMkLst>
        </pc:spChg>
        <pc:spChg chg="mod">
          <ac:chgData name="WARBURTON, Will (NHS ENGLAND)" userId="86055aad-a7e9-4dc5-a2e0-86a798ac9ba4" providerId="ADAL" clId="{D9919522-9D98-4793-BCEB-0960DC349227}" dt="2026-02-08T16:04:14.050" v="315" actId="164"/>
          <ac:spMkLst>
            <pc:docMk/>
            <pc:sldMk cId="339321450" sldId="2147471809"/>
            <ac:spMk id="6" creationId="{09D2E9C0-E848-95F9-1667-DC4777C0FEFA}"/>
          </ac:spMkLst>
        </pc:spChg>
        <pc:spChg chg="mod">
          <ac:chgData name="WARBURTON, Will (NHS ENGLAND)" userId="86055aad-a7e9-4dc5-a2e0-86a798ac9ba4" providerId="ADAL" clId="{D9919522-9D98-4793-BCEB-0960DC349227}" dt="2026-02-08T16:04:20.742" v="316" actId="164"/>
          <ac:spMkLst>
            <pc:docMk/>
            <pc:sldMk cId="339321450" sldId="2147471809"/>
            <ac:spMk id="7" creationId="{75C2C021-D592-D4AB-B76F-9AA02DE9C1D5}"/>
          </ac:spMkLst>
        </pc:spChg>
        <pc:spChg chg="del">
          <ac:chgData name="WARBURTON, Will (NHS ENGLAND)" userId="86055aad-a7e9-4dc5-a2e0-86a798ac9ba4" providerId="ADAL" clId="{D9919522-9D98-4793-BCEB-0960DC349227}" dt="2026-02-08T11:03:39.203" v="13" actId="478"/>
          <ac:spMkLst>
            <pc:docMk/>
            <pc:sldMk cId="339321450" sldId="2147471809"/>
            <ac:spMk id="8" creationId="{165ED559-C87D-86D1-E8A0-D0A8BB23C51F}"/>
          </ac:spMkLst>
        </pc:spChg>
        <pc:spChg chg="mod">
          <ac:chgData name="WARBURTON, Will (NHS ENGLAND)" userId="86055aad-a7e9-4dc5-a2e0-86a798ac9ba4" providerId="ADAL" clId="{D9919522-9D98-4793-BCEB-0960DC349227}" dt="2026-02-08T16:04:20.742" v="316" actId="164"/>
          <ac:spMkLst>
            <pc:docMk/>
            <pc:sldMk cId="339321450" sldId="2147471809"/>
            <ac:spMk id="9" creationId="{6373BE89-0C7F-F6D7-24AF-49A10FA8AF4E}"/>
          </ac:spMkLst>
        </pc:spChg>
        <pc:spChg chg="del">
          <ac:chgData name="WARBURTON, Will (NHS ENGLAND)" userId="86055aad-a7e9-4dc5-a2e0-86a798ac9ba4" providerId="ADAL" clId="{D9919522-9D98-4793-BCEB-0960DC349227}" dt="2026-02-08T11:03:41.700" v="14" actId="478"/>
          <ac:spMkLst>
            <pc:docMk/>
            <pc:sldMk cId="339321450" sldId="2147471809"/>
            <ac:spMk id="10" creationId="{C3535042-3F38-566B-C109-391ED159D10B}"/>
          </ac:spMkLst>
        </pc:spChg>
        <pc:spChg chg="mod">
          <ac:chgData name="WARBURTON, Will (NHS ENGLAND)" userId="86055aad-a7e9-4dc5-a2e0-86a798ac9ba4" providerId="ADAL" clId="{D9919522-9D98-4793-BCEB-0960DC349227}" dt="2026-02-08T16:04:26.245" v="317" actId="164"/>
          <ac:spMkLst>
            <pc:docMk/>
            <pc:sldMk cId="339321450" sldId="2147471809"/>
            <ac:spMk id="11" creationId="{DA6841C7-B3EF-79C3-7E5F-42E7D11B5989}"/>
          </ac:spMkLst>
        </pc:spChg>
        <pc:spChg chg="mod">
          <ac:chgData name="WARBURTON, Will (NHS ENGLAND)" userId="86055aad-a7e9-4dc5-a2e0-86a798ac9ba4" providerId="ADAL" clId="{D9919522-9D98-4793-BCEB-0960DC349227}" dt="2026-02-08T16:04:26.245" v="317" actId="164"/>
          <ac:spMkLst>
            <pc:docMk/>
            <pc:sldMk cId="339321450" sldId="2147471809"/>
            <ac:spMk id="12" creationId="{EDBA7D81-127F-5737-0651-7CAFD2AB7128}"/>
          </ac:spMkLst>
        </pc:spChg>
        <pc:spChg chg="mod">
          <ac:chgData name="WARBURTON, Will (NHS ENGLAND)" userId="86055aad-a7e9-4dc5-a2e0-86a798ac9ba4" providerId="ADAL" clId="{D9919522-9D98-4793-BCEB-0960DC349227}" dt="2026-02-08T16:06:41.124" v="345" actId="20577"/>
          <ac:spMkLst>
            <pc:docMk/>
            <pc:sldMk cId="339321450" sldId="2147471809"/>
            <ac:spMk id="15" creationId="{42C40FF8-ADC8-DDE3-7CDD-E87A2A820630}"/>
          </ac:spMkLst>
        </pc:spChg>
        <pc:grpChg chg="add mod">
          <ac:chgData name="WARBURTON, Will (NHS ENGLAND)" userId="86055aad-a7e9-4dc5-a2e0-86a798ac9ba4" providerId="ADAL" clId="{D9919522-9D98-4793-BCEB-0960DC349227}" dt="2026-02-08T16:06:10.289" v="328" actId="12789"/>
          <ac:grpSpMkLst>
            <pc:docMk/>
            <pc:sldMk cId="339321450" sldId="2147471809"/>
            <ac:grpSpMk id="3" creationId="{BA8552D8-B00F-44C0-387E-980F8F78D68E}"/>
          </ac:grpSpMkLst>
        </pc:grpChg>
        <pc:grpChg chg="add mod">
          <ac:chgData name="WARBURTON, Will (NHS ENGLAND)" userId="86055aad-a7e9-4dc5-a2e0-86a798ac9ba4" providerId="ADAL" clId="{D9919522-9D98-4793-BCEB-0960DC349227}" dt="2026-02-08T16:06:10.289" v="328" actId="12789"/>
          <ac:grpSpMkLst>
            <pc:docMk/>
            <pc:sldMk cId="339321450" sldId="2147471809"/>
            <ac:grpSpMk id="8" creationId="{B357C6AA-ECA9-4AB5-B4E4-D9EEB4ED05FD}"/>
          </ac:grpSpMkLst>
        </pc:grpChg>
        <pc:grpChg chg="add mod">
          <ac:chgData name="WARBURTON, Will (NHS ENGLAND)" userId="86055aad-a7e9-4dc5-a2e0-86a798ac9ba4" providerId="ADAL" clId="{D9919522-9D98-4793-BCEB-0960DC349227}" dt="2026-02-08T16:05:56.373" v="327" actId="12789"/>
          <ac:grpSpMkLst>
            <pc:docMk/>
            <pc:sldMk cId="339321450" sldId="2147471809"/>
            <ac:grpSpMk id="10" creationId="{1A9EFB5B-38C6-A784-925E-8C4F12F34DBA}"/>
          </ac:grpSpMkLst>
        </pc:grpChg>
        <pc:grpChg chg="add mod">
          <ac:chgData name="WARBURTON, Will (NHS ENGLAND)" userId="86055aad-a7e9-4dc5-a2e0-86a798ac9ba4" providerId="ADAL" clId="{D9919522-9D98-4793-BCEB-0960DC349227}" dt="2026-02-08T16:05:56.373" v="327" actId="12789"/>
          <ac:grpSpMkLst>
            <pc:docMk/>
            <pc:sldMk cId="339321450" sldId="2147471809"/>
            <ac:grpSpMk id="13" creationId="{3393FB08-91B1-AD5B-462A-EB5C326ACE11}"/>
          </ac:grpSpMkLst>
        </pc:grpChg>
        <pc:picChg chg="mod">
          <ac:chgData name="WARBURTON, Will (NHS ENGLAND)" userId="86055aad-a7e9-4dc5-a2e0-86a798ac9ba4" providerId="ADAL" clId="{D9919522-9D98-4793-BCEB-0960DC349227}" dt="2026-02-08T16:04:20.742" v="316" actId="164"/>
          <ac:picMkLst>
            <pc:docMk/>
            <pc:sldMk cId="339321450" sldId="2147471809"/>
            <ac:picMk id="18" creationId="{4218658A-B31C-F116-0D4E-E3F078F23F84}"/>
          </ac:picMkLst>
        </pc:picChg>
        <pc:picChg chg="mod">
          <ac:chgData name="WARBURTON, Will (NHS ENGLAND)" userId="86055aad-a7e9-4dc5-a2e0-86a798ac9ba4" providerId="ADAL" clId="{D9919522-9D98-4793-BCEB-0960DC349227}" dt="2026-02-08T16:04:14.050" v="315" actId="164"/>
          <ac:picMkLst>
            <pc:docMk/>
            <pc:sldMk cId="339321450" sldId="2147471809"/>
            <ac:picMk id="19" creationId="{7A80D2F3-346A-2A1C-C1E7-D1A5260C510D}"/>
          </ac:picMkLst>
        </pc:picChg>
        <pc:picChg chg="mod">
          <ac:chgData name="WARBURTON, Will (NHS ENGLAND)" userId="86055aad-a7e9-4dc5-a2e0-86a798ac9ba4" providerId="ADAL" clId="{D9919522-9D98-4793-BCEB-0960DC349227}" dt="2026-02-08T11:03:59.902" v="47" actId="1038"/>
          <ac:picMkLst>
            <pc:docMk/>
            <pc:sldMk cId="339321450" sldId="2147471809"/>
            <ac:picMk id="20" creationId="{9E172809-7816-FA52-1EC0-D9AC25DC9964}"/>
          </ac:picMkLst>
        </pc:picChg>
        <pc:picChg chg="mod">
          <ac:chgData name="WARBURTON, Will (NHS ENGLAND)" userId="86055aad-a7e9-4dc5-a2e0-86a798ac9ba4" providerId="ADAL" clId="{D9919522-9D98-4793-BCEB-0960DC349227}" dt="2026-02-08T16:04:05.272" v="314" actId="164"/>
          <ac:picMkLst>
            <pc:docMk/>
            <pc:sldMk cId="339321450" sldId="2147471809"/>
            <ac:picMk id="21" creationId="{BE48AC07-7B71-E219-BB20-23ADCA173976}"/>
          </ac:picMkLst>
        </pc:picChg>
        <pc:picChg chg="mod">
          <ac:chgData name="WARBURTON, Will (NHS ENGLAND)" userId="86055aad-a7e9-4dc5-a2e0-86a798ac9ba4" providerId="ADAL" clId="{D9919522-9D98-4793-BCEB-0960DC349227}" dt="2026-02-08T16:04:26.245" v="317" actId="164"/>
          <ac:picMkLst>
            <pc:docMk/>
            <pc:sldMk cId="339321450" sldId="2147471809"/>
            <ac:picMk id="23" creationId="{00892658-0DE0-5991-EA91-5D5F776427FB}"/>
          </ac:picMkLst>
        </pc:picChg>
      </pc:sldChg>
      <pc:sldChg chg="modSp mod ord">
        <pc:chgData name="WARBURTON, Will (NHS ENGLAND)" userId="86055aad-a7e9-4dc5-a2e0-86a798ac9ba4" providerId="ADAL" clId="{D9919522-9D98-4793-BCEB-0960DC349227}" dt="2026-02-08T11:18:44.196" v="113"/>
        <pc:sldMkLst>
          <pc:docMk/>
          <pc:sldMk cId="285292009" sldId="2147471810"/>
        </pc:sldMkLst>
        <pc:spChg chg="mod">
          <ac:chgData name="WARBURTON, Will (NHS ENGLAND)" userId="86055aad-a7e9-4dc5-a2e0-86a798ac9ba4" providerId="ADAL" clId="{D9919522-9D98-4793-BCEB-0960DC349227}" dt="2026-02-08T11:18:24.569" v="111" actId="20577"/>
          <ac:spMkLst>
            <pc:docMk/>
            <pc:sldMk cId="285292009" sldId="2147471810"/>
            <ac:spMk id="6" creationId="{E3F5218D-BB4D-DE2C-61D8-130A71E1DB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1B6E9-1D3A-4D60-9A74-57DA7DA8959C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A5BB9-49CD-4ADB-9FBA-66D087BE0DA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67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uffieldtrust.org.uk/resource/all-is-not-well-sickness-absence-in-the-nhs-in-england" TargetMode="External"/><Relationship Id="rId3" Type="http://schemas.openxmlformats.org/officeDocument/2006/relationships/hyperlink" Target="https://www.ons.gov.uk/peoplepopulationandcommunity/birthsdeathsandmarriages/deaths/bulletins/deathsregistrationsummarytables/2023" TargetMode="External"/><Relationship Id="rId7" Type="http://schemas.openxmlformats.org/officeDocument/2006/relationships/hyperlink" Target="https://www.england.nhs.uk/2025/03/staff-leaving-the-nhs-among-lowest-in-over-a-decade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kingsfund.org.uk/insight-and-analysis/data-and-charts/nhs-budget-nutshell" TargetMode="External"/><Relationship Id="rId5" Type="http://schemas.openxmlformats.org/officeDocument/2006/relationships/hyperlink" Target="https://www.england.nhs.uk/long-read/nhs-productivity-december-2024/" TargetMode="External"/><Relationship Id="rId4" Type="http://schemas.openxmlformats.org/officeDocument/2006/relationships/hyperlink" Target="https://www.kingsfund.org.uk/insight-and-analysis/data-and-charts/nhs-workforce-nutshell" TargetMode="External"/><Relationship Id="rId9" Type="http://schemas.openxmlformats.org/officeDocument/2006/relationships/hyperlink" Target="https://www.kingsfund.org.uk/insight-and-analysis/reports/public-satisfaction-nhs-social-care-in-2024-bsa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11D31-D389-237D-3507-654EA5FE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0E763-836D-7233-910D-FA60B5D20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ADC186-40A6-D041-9A68-7603C7B7E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AED1A-B849-DE37-6DBB-7B11B3B9F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C0CBA8-F14A-B048-A6C7-CDFC2B65931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18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ADCFE-CCE7-EBB2-8439-C585ADE9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C0D20-AF8A-AB0B-AB09-74CA5A567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204D7-0C5D-FF63-709C-173F42647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To note some data is time lagged but generally looking at 2023-25</a:t>
            </a:r>
          </a:p>
          <a:p>
            <a:endParaRPr lang="en-GB">
              <a:solidFill>
                <a:srgbClr val="0563C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>
                <a:solidFill>
                  <a:srgbClr val="0563C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Happening To Life Expectancy In England? | The King's Fund</a:t>
            </a:r>
            <a:endParaRPr lang="en-GB"/>
          </a:p>
          <a:p>
            <a:r>
              <a:rPr lang="en-GB">
                <a:hlinkClick r:id="rId3"/>
              </a:rPr>
              <a:t>Deaths registered in England and Wales - Office for National Statistics</a:t>
            </a:r>
            <a:endParaRPr lang="en-GB"/>
          </a:p>
          <a:p>
            <a:r>
              <a:rPr lang="en-GB">
                <a:hlinkClick r:id="rId4"/>
              </a:rPr>
              <a:t>NHS Workforce Nutshell | The King's Fund</a:t>
            </a:r>
            <a:endParaRPr lang="en-GB"/>
          </a:p>
          <a:p>
            <a:r>
              <a:rPr lang="en-GB">
                <a:hlinkClick r:id="rId5"/>
              </a:rPr>
              <a:t>NHS England » NHS productivity</a:t>
            </a:r>
            <a:endParaRPr lang="en-GB"/>
          </a:p>
          <a:p>
            <a:r>
              <a:rPr lang="en-GB">
                <a:hlinkClick r:id="rId6"/>
              </a:rPr>
              <a:t>The NHS Budget And How It Has Changed | The King's Fund</a:t>
            </a:r>
            <a:endParaRPr lang="en-GB"/>
          </a:p>
          <a:p>
            <a:r>
              <a:rPr lang="en-GB">
                <a:hlinkClick r:id="rId7"/>
              </a:rPr>
              <a:t>NHS England » Staff leaving the NHS among lowest in over a decade</a:t>
            </a:r>
            <a:endParaRPr lang="en-GB"/>
          </a:p>
          <a:p>
            <a:r>
              <a:rPr lang="en-GB">
                <a:hlinkClick r:id="rId8"/>
              </a:rPr>
              <a:t>All is not well: Sickness absence in the NHS in England | Nuffield Trust</a:t>
            </a:r>
            <a:endParaRPr lang="en-GB"/>
          </a:p>
          <a:p>
            <a:r>
              <a:rPr lang="en-GB">
                <a:hlinkClick r:id="rId9"/>
              </a:rPr>
              <a:t>Public Satisfaction With The NHS And Social Care In 2024 | BSA | The King's Fund</a:t>
            </a:r>
            <a:endParaRPr lang="en-GB"/>
          </a:p>
          <a:p>
            <a:endParaRPr lang="en-GB"/>
          </a:p>
          <a:p>
            <a:pPr>
              <a:spcAft>
                <a:spcPts val="300"/>
              </a:spcAft>
              <a:defRPr/>
            </a:pPr>
            <a:endParaRPr lang="en-GB" b="0" i="0">
              <a:solidFill>
                <a:srgbClr val="2B2B2B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9D0B3-B21B-DCB9-F74B-E7D5091C3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C49F6A-3473-4841-99B9-CD09717F1ED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58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797EB-D69A-4AD4-F079-F5596F427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AA198-EB07-C806-BBAD-5CD15C4FC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261A3-9BEA-EDA3-84C2-7D7814F5F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78A1-D8FF-2798-F26C-E1280D0B8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41A96F-2958-4561-85D6-FA627D9E3EE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6691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EF73-8689-D333-39D1-9D3CE25D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7D913-40E6-0804-B81F-4B75269D9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2FAC7-279B-9F9A-D9C5-40D1694F5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21A37-CBA7-B085-EA2E-49C08D40C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41A96F-2958-4561-85D6-FA627D9E3EE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626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3E02-41DD-525B-B663-8F1278AA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D607-2C90-0B33-2C76-E11980FA4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668A2-A19F-92D5-FCA3-0074E97BE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85D10-49B5-F0FE-ACE5-207880B9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41A96F-2958-4561-85D6-FA627D9E3EE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800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2A73-A5A7-2733-F76F-C6A702A3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B2646-69B2-B826-3907-90E24A3FB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440DE-74C4-B27B-5F63-9F589140D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7761E-1B45-568D-DA62-CE2C2C792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41A96F-2958-4561-85D6-FA627D9E3EE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62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5.svg"/></Relationships>
</file>

<file path=ppt/slideLayouts/_rels/slideLayout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5.svg"/></Relationships>
</file>

<file path=ppt/slideLayouts/_rels/slideLayout9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1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7A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75ED3-6A11-40A3-B402-3921529EAC7E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CDB99-C441-42AA-B5F6-158ACE8AC3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83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782B-F504-4E71-DB4D-FCBDDE45F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E14BE-76A8-83A3-2E7C-4029999EB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C693F-213E-DABA-7F3C-B0722F62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A249-B942-604B-B44A-234E6F4E2D23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53E08-474C-2751-81D1-6FFD8A83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DB143-8A03-69FA-74AF-DE1BA32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5F81-D1AA-1745-B6E7-77DE3CC8F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1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308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3B713D-1FBB-0E4F-91D0-D2B735266E7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425563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42556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003087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8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2DDCA5-A307-96EA-64A8-CCBA8E5F6393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414" y="3166643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1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Font typeface="Arial" panose="020B0604020202020204" pitchFamily="34" charset="0"/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2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9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</a:extLst>
          </p:cNvPr>
          <p:cNvSpPr/>
          <p:nvPr userDrawn="1"/>
        </p:nvSpPr>
        <p:spPr>
          <a:xfrm>
            <a:off x="3830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</a:extLst>
          </p:cNvPr>
          <p:cNvSpPr/>
          <p:nvPr userDrawn="1"/>
        </p:nvSpPr>
        <p:spPr>
          <a:xfrm>
            <a:off x="15345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</a:extLst>
          </p:cNvPr>
          <p:cNvSpPr/>
          <p:nvPr userDrawn="1"/>
        </p:nvSpPr>
        <p:spPr>
          <a:xfrm>
            <a:off x="26859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6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3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</a:extLst>
          </p:cNvPr>
          <p:cNvSpPr/>
          <p:nvPr userDrawn="1"/>
        </p:nvSpPr>
        <p:spPr>
          <a:xfrm>
            <a:off x="4988926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</a:extLst>
          </p:cNvPr>
          <p:cNvSpPr/>
          <p:nvPr userDrawn="1"/>
        </p:nvSpPr>
        <p:spPr>
          <a:xfrm>
            <a:off x="6140393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</a:extLst>
          </p:cNvPr>
          <p:cNvSpPr/>
          <p:nvPr userDrawn="1"/>
        </p:nvSpPr>
        <p:spPr>
          <a:xfrm>
            <a:off x="7291860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</a:extLst>
          </p:cNvPr>
          <p:cNvSpPr/>
          <p:nvPr userDrawn="1"/>
        </p:nvSpPr>
        <p:spPr>
          <a:xfrm>
            <a:off x="8443327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</a:extLst>
          </p:cNvPr>
          <p:cNvSpPr/>
          <p:nvPr userDrawn="1"/>
        </p:nvSpPr>
        <p:spPr>
          <a:xfrm>
            <a:off x="9594794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</a:extLst>
          </p:cNvPr>
          <p:cNvSpPr/>
          <p:nvPr userDrawn="1"/>
        </p:nvSpPr>
        <p:spPr>
          <a:xfrm>
            <a:off x="10746258" y="3175161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8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DF01C83-A866-28AC-7B1F-38947CCF6D80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9" y="3175161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6" y="3175161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3" y="3175161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1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9" y="454490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6" y="454490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3" y="454490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4490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</a:extLst>
          </p:cNvPr>
          <p:cNvSpPr/>
          <p:nvPr userDrawn="1"/>
        </p:nvSpPr>
        <p:spPr>
          <a:xfrm>
            <a:off x="5122912" y="3175161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</a:extLst>
          </p:cNvPr>
          <p:cNvSpPr/>
          <p:nvPr userDrawn="1"/>
        </p:nvSpPr>
        <p:spPr>
          <a:xfrm>
            <a:off x="7474154" y="3175161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</a:extLst>
          </p:cNvPr>
          <p:cNvSpPr/>
          <p:nvPr userDrawn="1"/>
        </p:nvSpPr>
        <p:spPr>
          <a:xfrm>
            <a:off x="9825396" y="3175161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25361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8000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90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3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8000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FE9CC-24C2-9AAC-6340-A9E7BC3249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3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A8029-A35C-F1D7-1760-F49B8EB2F938}"/>
              </a:ext>
            </a:extLst>
          </p:cNvPr>
          <p:cNvSpPr/>
          <p:nvPr userDrawn="1"/>
        </p:nvSpPr>
        <p:spPr>
          <a:xfrm>
            <a:off x="7645139" y="-6"/>
            <a:ext cx="4571651" cy="68726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8000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90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7E467FA-4B6D-7419-1514-CAFB6358C7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7080" y="323686"/>
            <a:ext cx="705840" cy="57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5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C4A9B1-8C9A-5B25-6E7A-B9589ECCAD85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8000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09CFFC-C421-A97A-14A3-FE2852D11994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71999"/>
            <a:ext cx="11088000" cy="345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2088001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267-CD3E-4484-1B20-32E90EB4ED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1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4" y="1647569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137"/>
              </a:lnSpc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pPr algn="r"/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</p:spTree>
    <p:extLst>
      <p:ext uri="{BB962C8B-B14F-4D97-AF65-F5344CB8AC3E}">
        <p14:creationId xmlns:p14="http://schemas.microsoft.com/office/powerpoint/2010/main" val="127900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large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BFC8184-A52B-1D58-DCBB-64F070DB04AB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4368" y="1180299"/>
            <a:ext cx="9811265" cy="2983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137" b="0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centred text over multiple</a:t>
            </a:r>
            <a:br>
              <a:rPr lang="en-GB"/>
            </a:br>
            <a:r>
              <a:rPr lang="en-GB"/>
              <a:t>lines, try to make a harmonious shape like a diamond or </a:t>
            </a:r>
            <a:r>
              <a:rPr lang="en-GB" err="1"/>
              <a:t>xmas</a:t>
            </a:r>
            <a:r>
              <a:rPr lang="en-GB"/>
              <a:t> tree or</a:t>
            </a:r>
            <a:br>
              <a:rPr lang="en-GB"/>
            </a:br>
            <a:r>
              <a:rPr lang="en-GB"/>
              <a:t>something similar”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0923" y="5096236"/>
            <a:ext cx="3890150" cy="896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167" b="1">
                <a:solidFill>
                  <a:schemeClr val="accent6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AA706-8AF6-8441-8070-06566C40A69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2D3EEB-DBD8-CD48-C723-5F35F1DADF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3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2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2277722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5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6231885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2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2277722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5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6239448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6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B26CA0-4967-284E-42B6-5686F8C6B07B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47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8BBC9FB-69CA-ACB9-E6B9-6E2830215B65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9200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1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92001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1" y="1302462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1" y="3852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1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2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F5444-DD33-9C60-EE5C-BAE130A1CBF5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5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5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8166480-FB4D-C34C-807C-7BA7DD328F6E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1" y="1735015"/>
            <a:ext cx="3564001" cy="4319711"/>
          </a:xfrm>
        </p:spPr>
        <p:txBody>
          <a:bodyPr/>
          <a:lstStyle>
            <a:lvl1pPr marL="0" indent="0">
              <a:buNone/>
              <a:defRPr sz="2167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267E27-DA97-0D46-9740-BF9E88C52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F929AC-5E7A-1A4C-8427-F04E4C908E8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6D0C676-28C4-BF14-7D49-3169DC1AAA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01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5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5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5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3FC528-9065-C94F-99DF-349AA62E3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2AC99-8B06-B44A-BCC3-DEDF573C140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712B60-6C80-0125-1B04-001787232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55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4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1D89516-E743-9149-8E82-C8FD33FB9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046538-6FA9-4F4C-86B3-9F8268B46A71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2ACBA56-8EF4-494B-AB68-12ECC4D0812F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1" y="1285014"/>
            <a:ext cx="3564001" cy="4769711"/>
          </a:xfrm>
        </p:spPr>
        <p:txBody>
          <a:bodyPr/>
          <a:lstStyle>
            <a:lvl1pPr marL="0" indent="0">
              <a:buNone/>
              <a:defRPr sz="2167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5FB54-F5EA-C613-D5F4-F3C0063B3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8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9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9" y="1089953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5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5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1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81D218-E72F-F84F-B0C3-EC8A11107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481822-0DD9-B249-90C1-3B1FE0FD98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CCE6883-92E0-20E6-632B-52558F9DB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3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6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8FD52DB-CC55-304D-B862-680CEE783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036740-51BF-404A-B94A-164C9330AE62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8D1774-8975-89D5-1EA8-A6855035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23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2UP +Int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EEEA08-1C49-6944-6F79-AABE5D4651A9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290349"/>
            <a:ext cx="3564000" cy="3764374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290349"/>
            <a:ext cx="3564000" cy="3764372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17D3740-0A11-F14D-A939-98CD3587271B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1" y="1285014"/>
            <a:ext cx="3564001" cy="4769711"/>
          </a:xfrm>
        </p:spPr>
        <p:txBody>
          <a:bodyPr lIns="0" tIns="0" rIns="0" bIns="0"/>
          <a:lstStyle>
            <a:lvl1pPr marL="0" indent="0">
              <a:buNone/>
              <a:defRPr sz="2167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5347A23-4C56-A54D-96A3-4993B8606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21EFD07-C8A5-7845-9A8E-928B94195A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4871" y="142623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076541C-26A7-7147-BAC1-5A229E7C0E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7249" y="142623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FF391A-F0C8-2846-A025-06D92CB6CD4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626D58-3C16-8648-D845-A7F5213188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32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5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5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5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DBDDA74-8B33-8B4B-9B25-993D2BE7C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5D2B57-B97B-B347-9DEB-D5C1AC753A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708" y="1897014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3DD1D30-BF5F-3F4D-A1DE-F7778CA7ED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4871" y="1897014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443938-DE7C-934D-A74E-737FAD8DA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7249" y="1891996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E58B1A-02A3-B84A-8BB1-27D19814EDB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C73BAF5-5900-0C46-ED91-BD67D9ED4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33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4UP +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BD2400-C5F8-6FA7-2AD7-D6C6E9D59298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A0FBD3D-6E21-E549-967B-395F00EE190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1" y="1393014"/>
            <a:ext cx="3564001" cy="4865268"/>
          </a:xfrm>
        </p:spPr>
        <p:txBody>
          <a:bodyPr lIns="0" tIns="0" rIns="0" bIns="0"/>
          <a:lstStyle>
            <a:lvl1pPr marL="0" indent="0">
              <a:buNone/>
              <a:defRPr sz="2167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8CEA5C8-040E-A042-A8BE-B661106C8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63E93DE-B0A0-E448-839F-EC15B688DA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8428" y="1393014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728E9EF-F5FD-C54D-A0C4-E79B3934E3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2591" y="1394399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3CE4756-EA5A-644E-8E3C-7A88541176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428" y="3954281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023CEAC-43CB-D349-B655-0C148109A5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0154" y="3954281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16781D-5A03-6141-8389-E5AB404ECD9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6B9BB60-BD70-1857-B877-C41DEC1AF4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3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9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9" y="1113399"/>
            <a:ext cx="3564000" cy="899876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5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5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1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61316BA-3A2D-A349-8FD8-DEAD56529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EC696E9-078C-3E45-8DCD-5A562EAEB2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979" y="1228501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7258850-67A6-DA45-BCA6-3A1843C3D9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0431" y="1228501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9D36508-91C9-D341-BD22-8B7D09BC1D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490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A46B0EB-2090-6B41-BC96-DD563B676C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0077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DEAB9F2-4319-8F40-BA4F-1ED7E30638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3BFC66-CD6B-7E4B-8089-7EA6B13C54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778E56-0E45-B720-1A87-18BF82CED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3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6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167"/>
              </a:lnSpc>
              <a:spcBef>
                <a:spcPts val="0"/>
              </a:spcBef>
              <a:spcAft>
                <a:spcPts val="886"/>
              </a:spcAft>
              <a:buClr>
                <a:schemeClr val="tx1"/>
              </a:buClr>
              <a:buNone/>
              <a:defRPr sz="1773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FEA82EC-5F70-2C43-B773-938E8FCB9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9F8E112-B1EA-6542-A337-A038C269A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708" y="1296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C36E8D2E-4AD7-3342-855A-6E726FEDA3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2434" y="1296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4380DA1-D506-154B-828B-630201A38F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67249" y="1296000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EF0A95D-85EC-7E4C-87ED-A15257D0B0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708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B38F8DE-42A5-1243-AE49-5247BD8167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2434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4DB68FB-4DB7-1741-9BB7-E3E914ECFD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167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C03302-9DA8-744E-AE94-FF1801AB2637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9B64CD-1CC9-E09E-D868-6F5395EB99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3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190978-5FC4-6858-371C-AF3DAD50E21F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5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3666" indent="-283666" algn="l">
              <a:buNone/>
              <a:defRPr sz="4137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1" y="4780884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9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3" y="1673325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546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AD1B1-54FF-2FC6-D407-337D3737411D}"/>
              </a:ext>
            </a:extLst>
          </p:cNvPr>
          <p:cNvSpPr txBox="1"/>
          <p:nvPr userDrawn="1"/>
        </p:nvSpPr>
        <p:spPr>
          <a:xfrm>
            <a:off x="1245609" y="2349016"/>
            <a:ext cx="3552728" cy="154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89"/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8601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8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3" y="1673325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546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8404-D948-7642-8BC6-F42E883389E5}"/>
              </a:ext>
            </a:extLst>
          </p:cNvPr>
          <p:cNvSpPr txBox="1"/>
          <p:nvPr userDrawn="1"/>
        </p:nvSpPr>
        <p:spPr>
          <a:xfrm>
            <a:off x="1245609" y="2349016"/>
            <a:ext cx="3552728" cy="154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89"/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155962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551A3-9BAE-400C-B485-0F4ED3DB7306}"/>
              </a:ext>
            </a:extLst>
          </p:cNvPr>
          <p:cNvSpPr txBox="1"/>
          <p:nvPr userDrawn="1"/>
        </p:nvSpPr>
        <p:spPr>
          <a:xfrm>
            <a:off x="1245609" y="2349016"/>
            <a:ext cx="3552728" cy="136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58" b="1"/>
              <a:t>“Quote text here. Quote text here. Quote text here.”</a:t>
            </a:r>
          </a:p>
        </p:txBody>
      </p:sp>
    </p:spTree>
    <p:extLst>
      <p:ext uri="{BB962C8B-B14F-4D97-AF65-F5344CB8AC3E}">
        <p14:creationId xmlns:p14="http://schemas.microsoft.com/office/powerpoint/2010/main" val="291212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D8FDB-A40F-9C14-5A8C-BCBBA006B64D}"/>
              </a:ext>
            </a:extLst>
          </p:cNvPr>
          <p:cNvSpPr txBox="1"/>
          <p:nvPr userDrawn="1"/>
        </p:nvSpPr>
        <p:spPr>
          <a:xfrm>
            <a:off x="1245609" y="2349016"/>
            <a:ext cx="3552728" cy="1365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58" b="1"/>
              <a:t>“Quote text here. Quote text here. Quote text here.”</a:t>
            </a:r>
          </a:p>
        </p:txBody>
      </p:sp>
    </p:spTree>
    <p:extLst>
      <p:ext uri="{BB962C8B-B14F-4D97-AF65-F5344CB8AC3E}">
        <p14:creationId xmlns:p14="http://schemas.microsoft.com/office/powerpoint/2010/main" val="142319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C30C3909-1482-1013-E118-A2CE0A1DD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933" y="2520000"/>
            <a:ext cx="6948488" cy="963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5910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83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092F3-915E-341D-8AD1-B8E398E9BFA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0AF6C2AD-0E53-2A94-6EDF-C2BC1C35E6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6746" y="-121919"/>
            <a:ext cx="12408747" cy="697992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001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5910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33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C9A4BA-CD7C-BF8C-6221-BCB58BC96EC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2D07C2D6-AB1B-B84B-BC13-7D79E8BCFC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264" y="-122409"/>
            <a:ext cx="12499929" cy="703121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7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5910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37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268FFC32-6059-0DED-CEB1-02D4D3CCB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599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5910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13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1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tx1"/>
                </a:solidFill>
              </a:rPr>
              <a:pPr algn="r"/>
              <a:t>‹#›</a:t>
            </a:fld>
            <a:endParaRPr lang="en-GB" sz="1182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1813" indent="0">
              <a:buNone/>
              <a:defRPr/>
            </a:lvl2pPr>
            <a:lvl3pPr marL="703626" indent="0">
              <a:buNone/>
              <a:defRPr/>
            </a:lvl3pPr>
            <a:lvl4pPr marL="1064819" indent="0">
              <a:buNone/>
              <a:defRPr/>
            </a:lvl4pPr>
            <a:lvl5pPr marL="1416632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B6F326D-0ECB-4952-2659-CD1729198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7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5910" b="1">
                <a:solidFill>
                  <a:schemeClr val="tx1"/>
                </a:solidFill>
              </a:defRPr>
            </a:lvl1pPr>
            <a:lvl2pPr marL="351813" indent="0">
              <a:buNone/>
              <a:defRPr>
                <a:solidFill>
                  <a:schemeClr val="tx1"/>
                </a:solidFill>
              </a:defRPr>
            </a:lvl2pPr>
            <a:lvl3pPr marL="703626" indent="0">
              <a:buNone/>
              <a:defRPr>
                <a:solidFill>
                  <a:schemeClr val="tx1"/>
                </a:solidFill>
              </a:defRPr>
            </a:lvl3pPr>
            <a:lvl4pPr marL="1064819" indent="0">
              <a:buNone/>
              <a:defRPr>
                <a:solidFill>
                  <a:schemeClr val="tx1"/>
                </a:solidFill>
              </a:defRPr>
            </a:lvl4pPr>
            <a:lvl5pPr marL="1416632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</p:spTree>
    <p:extLst>
      <p:ext uri="{BB962C8B-B14F-4D97-AF65-F5344CB8AC3E}">
        <p14:creationId xmlns:p14="http://schemas.microsoft.com/office/powerpoint/2010/main" val="273131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5715927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1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00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364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546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00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773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64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00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773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64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</a:t>
            </a:r>
            <a:r>
              <a:rPr kumimoji="0" lang="en-GB" sz="2364" b="1" i="0" u="none" strike="noStrike" kern="1200" cap="none" spc="2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nhsengland</a:t>
            </a:r>
            <a:endParaRPr kumimoji="0" lang="en-GB" sz="2364" b="1" i="0" u="none" strike="noStrike" kern="1200" cap="none" spc="2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006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773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364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364" b="1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767075" y="4806523"/>
            <a:ext cx="600075" cy="60007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045" y="364426"/>
            <a:ext cx="1208955" cy="979789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6D92FD5-08EA-6BC8-29BC-BCF5EEFE18A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509142" y="-71522"/>
            <a:ext cx="10768951" cy="761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6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364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03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and image with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2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DFC27-AE77-990E-E3A7-5DF7B8BEB8B0}"/>
              </a:ext>
            </a:extLst>
          </p:cNvPr>
          <p:cNvSpPr txBox="1"/>
          <p:nvPr userDrawn="1"/>
        </p:nvSpPr>
        <p:spPr>
          <a:xfrm>
            <a:off x="7202551" y="2249425"/>
            <a:ext cx="4428148" cy="12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89">
                <a:solidFill>
                  <a:schemeClr val="bg1"/>
                </a:solidFill>
              </a:rPr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124503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2"/>
                </a:solidFill>
              </a:rPr>
              <a:t>‹#›</a:t>
            </a:fld>
            <a:endParaRPr lang="en-GB" sz="1182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7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ing, content, basic text one col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6E0930-AFE2-471B-C517-6733CACD8ECB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1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Font typeface="Arial" panose="020B0604020202020204" pitchFamily="34" charset="0"/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BAC642-4133-F44A-9758-E12934C6C674}"/>
              </a:ext>
            </a:extLst>
          </p:cNvPr>
          <p:cNvCxnSpPr>
            <a:cxnSpLocks/>
          </p:cNvCxnSpPr>
          <p:nvPr userDrawn="1"/>
        </p:nvCxnSpPr>
        <p:spPr>
          <a:xfrm>
            <a:off x="432000" y="324000"/>
            <a:ext cx="4320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764C-3D0E-0315-9F4A-C4EE5BF25D96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&#10;&#10;Description automatically generated with medium confidence">
            <a:extLst>
              <a:ext uri="{FF2B5EF4-FFF2-40B4-BE49-F238E27FC236}">
                <a16:creationId xmlns:a16="http://schemas.microsoft.com/office/drawing/2014/main" id="{736C33A1-9F7E-056F-72E0-B34059662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0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adline 2 colums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71788" y="6346825"/>
            <a:ext cx="126424" cy="127000"/>
          </a:xfrm>
          <a:prstGeom prst="rect">
            <a:avLst/>
          </a:prstGeom>
        </p:spPr>
        <p:txBody>
          <a:bodyPr lIns="0" tIns="0" rIns="0" bIns="0"/>
          <a:lstStyle>
            <a:lvl1pPr algn="ctr" defTabSz="406539">
              <a:lnSpc>
                <a:spcPct val="110000"/>
              </a:lnSpc>
              <a:defRPr sz="837" spc="0">
                <a:solidFill>
                  <a:srgbClr val="B3B2B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96" name="Headline and 2 columns"/>
          <p:cNvSpPr txBox="1">
            <a:spLocks noGrp="1"/>
          </p:cNvSpPr>
          <p:nvPr>
            <p:ph type="body" sz="quarter" idx="21"/>
          </p:nvPr>
        </p:nvSpPr>
        <p:spPr>
          <a:xfrm>
            <a:off x="1270000" y="285750"/>
            <a:ext cx="10541000" cy="94676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406539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6993" spc="-21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Headline and 2 columns</a:t>
            </a:r>
          </a:p>
        </p:txBody>
      </p:sp>
      <p:sp>
        <p:nvSpPr>
          <p:cNvPr id="1397" name="Text…"/>
          <p:cNvSpPr txBox="1">
            <a:spLocks noGrp="1"/>
          </p:cNvSpPr>
          <p:nvPr>
            <p:ph type="body" idx="22"/>
          </p:nvPr>
        </p:nvSpPr>
        <p:spPr>
          <a:xfrm>
            <a:off x="1270000" y="2794000"/>
            <a:ext cx="10541000" cy="3746500"/>
          </a:xfrm>
          <a:prstGeom prst="rect">
            <a:avLst/>
          </a:prstGeom>
        </p:spPr>
        <p:txBody>
          <a:bodyPr numCol="2" spcCol="254000">
            <a:noAutofit/>
          </a:bodyPr>
          <a:lstStyle>
            <a:lvl1pPr marL="0" indent="0" defTabSz="767055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Use Insert → Column Break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  <a:br/>
            <a:r>
              <a:t>Text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74B679C-654A-FCE9-2EB6-751BB13761C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028203" y="257129"/>
            <a:ext cx="324000" cy="335058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5237AD66-E4A5-1660-A7D8-936C1F1FB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06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576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6334CA1-D733-94A7-0842-57021FABFD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06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576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F207DFA-C136-B4A2-9602-BF8F5EDB2F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006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576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3546F51D-E7B4-1BF8-644B-238020AF77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712" y="254586"/>
            <a:ext cx="484534" cy="37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45871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419C4-903C-4C4B-DC66-C4EBD829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444E-C948-B64B-8555-EB6C254FE09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8D011-DA13-5FB8-CABA-E7C918E0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BEA86-8DB7-1873-1C1E-4D9BBA1A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436FB-6A34-A742-83DC-13DB7549BA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34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262" y="542924"/>
            <a:ext cx="10278629" cy="5250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364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90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29FE9CC-24C2-9AAC-6340-A9E7BC32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7095" y="244040"/>
            <a:ext cx="3064672" cy="187960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86F3FEE-E7DE-523E-2919-439039F88E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1520" y="414286"/>
            <a:ext cx="956781" cy="77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9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95EF6A2-54E6-B56C-2EF7-B5820520D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539" y="2391861"/>
            <a:ext cx="5351463" cy="3267785"/>
          </a:xfrm>
          <a:prstGeom prst="rect">
            <a:avLst/>
          </a:prstGeom>
        </p:spPr>
        <p:txBody>
          <a:bodyPr lIns="0" tIns="0" rIns="0" bIns="0" numCol="1" spcCol="540000"/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laborum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anim.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16FFE8D-A652-0A03-40BD-65DDD2855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4538" y="1907957"/>
            <a:ext cx="5351463" cy="1788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1379">
                <a:solidFill>
                  <a:schemeClr val="tx2"/>
                </a:solidFill>
                <a:latin typeface="+mj-lt"/>
              </a:defRPr>
            </a:lvl1pPr>
            <a:lvl2pPr marL="450309" indent="0">
              <a:buFont typeface="Arial" panose="020B0604020202020204" pitchFamily="34" charset="0"/>
              <a:buNone/>
              <a:defRPr sz="1379">
                <a:solidFill>
                  <a:schemeClr val="tx2"/>
                </a:solidFill>
              </a:defRPr>
            </a:lvl2pPr>
            <a:lvl3pPr marL="900618" indent="0">
              <a:buFont typeface="Arial" panose="020B0604020202020204" pitchFamily="34" charset="0"/>
              <a:buNone/>
              <a:defRPr sz="1379">
                <a:solidFill>
                  <a:schemeClr val="tx2"/>
                </a:solidFill>
              </a:defRPr>
            </a:lvl3pPr>
            <a:lvl4pPr marL="1350927" indent="0">
              <a:buFont typeface="Arial" panose="020B0604020202020204" pitchFamily="34" charset="0"/>
              <a:buNone/>
              <a:defRPr sz="1379">
                <a:solidFill>
                  <a:schemeClr val="tx2"/>
                </a:solidFill>
              </a:defRPr>
            </a:lvl4pPr>
            <a:lvl5pPr marL="1801235" indent="0">
              <a:buFont typeface="Arial" panose="020B0604020202020204" pitchFamily="34" charset="0"/>
              <a:buNone/>
              <a:defRPr sz="1379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F8D7379-90B2-01CC-AB1F-F61D54F6EF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9402" y="1907604"/>
            <a:ext cx="4830763" cy="3751263"/>
          </a:xfrm>
          <a:prstGeom prst="roundRect">
            <a:avLst>
              <a:gd name="adj" fmla="val 1300"/>
            </a:avLst>
          </a:prstGeom>
          <a:blipFill dpi="0" rotWithShape="1">
            <a:blip r:embed="rId2"/>
            <a:srcRect/>
            <a:stretch>
              <a:fillRect l="-10000" r="-10000"/>
            </a:stretch>
          </a:blipFill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A0BAA6A-ED1D-FF6B-D05C-CDD5A57E7C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9" y="584201"/>
            <a:ext cx="8531432" cy="93025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Sub-section title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CC10D7-5986-6E51-BCCB-99926EF31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26163">
            <a:off x="5638553" y="-697862"/>
            <a:ext cx="11643221" cy="65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1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0">
        <p:fade/>
      </p:transition>
    </mc:Choice>
    <mc:Fallback xmlns="">
      <p:transition spd="med" advClick="0" advTm="3000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043462"/>
            <a:ext cx="10515600" cy="1175463"/>
          </a:xfrm>
        </p:spPr>
        <p:txBody>
          <a:bodyPr anchor="b">
            <a:noAutofit/>
          </a:bodyPr>
          <a:lstStyle>
            <a:lvl1pPr>
              <a:defRPr sz="591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DFC185-C359-45E1-9A90-188D5CF10C62}"/>
              </a:ext>
            </a:extLst>
          </p:cNvPr>
          <p:cNvSpPr/>
          <p:nvPr userDrawn="1"/>
        </p:nvSpPr>
        <p:spPr>
          <a:xfrm>
            <a:off x="590551" y="6124577"/>
            <a:ext cx="1352551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5CEA0-0681-4AB4-A814-BD0E68BDE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709" y="457201"/>
            <a:ext cx="1565312" cy="5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238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1" y="1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89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2167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167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167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7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7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8000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364" b="1">
                <a:solidFill>
                  <a:schemeClr val="accent6"/>
                </a:solidFill>
              </a:defRPr>
            </a:lvl1pPr>
            <a:lvl2pPr marL="351813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2pPr>
            <a:lvl3pPr marL="703626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3pPr>
            <a:lvl4pPr marL="1064819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4pPr>
            <a:lvl5pPr marL="1416632" indent="0">
              <a:buClr>
                <a:schemeClr val="tx1"/>
              </a:buClr>
              <a:buNone/>
              <a:defRPr sz="1773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5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5">
          <p15:clr>
            <a:srgbClr val="FBAE40"/>
          </p15:clr>
        </p15:guide>
        <p15:guide id="2" pos="407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124" y="691076"/>
            <a:ext cx="10900610" cy="42672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152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F8741-2537-17E2-3775-6BB4125FA841}"/>
              </a:ext>
            </a:extLst>
          </p:cNvPr>
          <p:cNvSpPr txBox="1"/>
          <p:nvPr userDrawn="1"/>
        </p:nvSpPr>
        <p:spPr>
          <a:xfrm>
            <a:off x="597124" y="1515533"/>
            <a:ext cx="10900610" cy="48937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sz="1889"/>
          </a:p>
        </p:txBody>
      </p:sp>
    </p:spTree>
    <p:extLst>
      <p:ext uri="{BB962C8B-B14F-4D97-AF65-F5344CB8AC3E}">
        <p14:creationId xmlns:p14="http://schemas.microsoft.com/office/powerpoint/2010/main" val="76263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Use this layout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088000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546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466456"/>
            <a:ext cx="11088000" cy="4590065"/>
          </a:xfrm>
          <a:prstGeom prst="rect">
            <a:avLst/>
          </a:prstGeom>
        </p:spPr>
        <p:txBody>
          <a:bodyPr lIns="0" tIns="0" rIns="0" bIns="0" numCol="1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91"/>
              </a:spcAft>
              <a:buClr>
                <a:schemeClr val="tx1"/>
              </a:buClr>
              <a:buNone/>
              <a:defRPr sz="1182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182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66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66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66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8791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8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97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182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7850" y="6404977"/>
            <a:ext cx="369012" cy="2742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182" smtClean="0">
                <a:solidFill>
                  <a:schemeClr val="accent6"/>
                </a:solidFill>
              </a:rPr>
              <a:pPr algn="r"/>
              <a:t>‹#›</a:t>
            </a:fld>
            <a:endParaRPr lang="en-GB" sz="1182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262" y="542924"/>
            <a:ext cx="10278629" cy="5250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364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7455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D315-C456-3B95-DA64-04712271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2C7F-8370-F1CC-1CAA-C6238E77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1989-B5FA-D7F9-F994-C5931593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4737-13AC-4584-82DE-4B8196B350BB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AEFEB-E7FC-E543-336F-D6357A62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9BF0C-2793-3EFA-1F6A-ED2644FE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202B-73B5-49E9-96A4-F8DDB6AB4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247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32DDCA5-A307-96EA-64A8-CCBA8E5F6393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413" y="3166643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3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1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DF01C83-A866-28AC-7B1F-38947CCF6D80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8637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5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9FE9CC-24C2-9AAC-6340-A9E7BC3249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87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A8029-A35C-F1D7-1760-F49B8EB2F938}"/>
              </a:ext>
            </a:extLst>
          </p:cNvPr>
          <p:cNvSpPr/>
          <p:nvPr userDrawn="1"/>
        </p:nvSpPr>
        <p:spPr>
          <a:xfrm>
            <a:off x="7645138" y="-6"/>
            <a:ext cx="4571651" cy="68726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97E467FA-4B6D-7419-1514-CAFB6358C7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7080" y="323685"/>
            <a:ext cx="705840" cy="57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8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5C4A9B1-8C9A-5B25-6E7A-B9589ECCAD8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9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09CFFC-C421-A97A-14A3-FE2852D11994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71999"/>
            <a:ext cx="11088000" cy="345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20880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267-CD3E-4484-1B20-32E90EB4ED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6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0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</p:spTree>
    <p:extLst>
      <p:ext uri="{BB962C8B-B14F-4D97-AF65-F5344CB8AC3E}">
        <p14:creationId xmlns:p14="http://schemas.microsoft.com/office/powerpoint/2010/main" val="229113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large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BFC8184-A52B-1D58-DCBB-64F070DB04A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4367" y="1180298"/>
            <a:ext cx="9811265" cy="29832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200" b="0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centred text over multiple</a:t>
            </a:r>
            <a:br>
              <a:rPr lang="en-GB"/>
            </a:br>
            <a:r>
              <a:rPr lang="en-GB"/>
              <a:t>lines, try to make a harmonious shape like a diamond or </a:t>
            </a:r>
            <a:r>
              <a:rPr lang="en-GB" err="1"/>
              <a:t>xmas</a:t>
            </a:r>
            <a:r>
              <a:rPr lang="en-GB"/>
              <a:t> tree or</a:t>
            </a:r>
            <a:br>
              <a:rPr lang="en-GB"/>
            </a:br>
            <a:r>
              <a:rPr lang="en-GB"/>
              <a:t>something similar”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0923" y="5096236"/>
            <a:ext cx="3890150" cy="8969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accent6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AA706-8AF6-8441-8070-06566C40A69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2D3EEB-DBD8-CD48-C723-5F35F1DADF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89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1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227772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4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6231884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1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2277721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4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6239447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344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9B26CA0-4967-284E-42B6-5686F8C6B07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1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8BBC9FB-69CA-ACB9-E6B9-6E2830215B6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9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2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F5444-DD33-9C60-EE5C-BAE130A1CBF5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8166480-FB4D-C34C-807C-7BA7DD328F6E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735014"/>
            <a:ext cx="3564001" cy="4319711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267E27-DA97-0D46-9740-BF9E88C52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F929AC-5E7A-1A4C-8427-F04E4C908E8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6D0C676-28C4-BF14-7D49-3169DC1AAA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3FC528-9065-C94F-99DF-349AA62E3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A2AC99-8B06-B44A-BCC3-DEDF573C1400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712B60-6C80-0125-1B04-001787232D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7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4UP with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1D89516-E743-9149-8E82-C8FD33FB9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046538-6FA9-4F4C-86B3-9F8268B46A71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62ACBA56-8EF4-494B-AB68-12ECC4D0812F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285014"/>
            <a:ext cx="3564001" cy="4769711"/>
          </a:xfrm>
        </p:spPr>
        <p:txBody>
          <a:bodyPr/>
          <a:lstStyle>
            <a:lvl1pPr marL="0" indent="0">
              <a:buNone/>
              <a:defRPr sz="2200">
                <a:solidFill>
                  <a:schemeClr val="accent6"/>
                </a:solidFill>
              </a:defRPr>
            </a:lvl1pPr>
          </a:lstStyle>
          <a:p>
            <a:r>
              <a:rPr lang="en-GB"/>
              <a:t>Intro summary text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5FB54-F5EA-C613-D5F4-F3C0063B3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8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8" y="1089953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4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4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7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0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81D218-E72F-F84F-B0C3-EC8A11107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481822-0DD9-B249-90C1-3B1FE0FD98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CCE6883-92E0-20E6-632B-52558F9DB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6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CON Grid Boxes 6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8FD52DB-CC55-304D-B862-680CEE7832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036740-51BF-404A-B94A-164C9330AE62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8D1774-8975-89D5-1EA8-A6855035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8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2UP +Intr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EEEA08-1C49-6944-6F79-AABE5D4651A9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290349"/>
            <a:ext cx="3564000" cy="3764374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290349"/>
            <a:ext cx="3564000" cy="3764372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282349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17D3740-0A11-F14D-A939-98CD3587271B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285014"/>
            <a:ext cx="3564001" cy="4769711"/>
          </a:xfrm>
        </p:spPr>
        <p:txBody>
          <a:bodyPr lIns="0" tIns="0" rIns="0" bIns="0"/>
          <a:lstStyle>
            <a:lvl1pPr marL="0" indent="0">
              <a:buNone/>
              <a:defRPr sz="2200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5347A23-4C56-A54D-96A3-4993B8606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21EFD07-C8A5-7845-9A8E-928B94195A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4871" y="142623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076541C-26A7-7147-BAC1-5A229E7C0E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67249" y="142623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FF391A-F0C8-2846-A025-06D92CB6CD43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626D58-3C16-8648-D845-A7F5213188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2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3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743014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735014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DBDDA74-8B33-8B4B-9B25-993D2BE7C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5D2B57-B97B-B347-9DEB-D5C1AC753A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708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3DD1D30-BF5F-3F4D-A1DE-F7778CA7ED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74871" y="1897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D443938-DE7C-934D-A74E-737FAD8DA3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7249" y="1891996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1E58B1A-02A3-B84A-8BB1-27D19814EDBF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C73BAF5-5900-0C46-ED91-BD67D9ED44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6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4UP +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EBD2400-C5F8-6FA7-2AD7-D6C6E9D59298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A897845-DFE8-7140-BE24-7AD33E02F2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0428" y="218501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E206611-9F04-2C46-95B1-573726492E29}"/>
              </a:ext>
            </a:extLst>
          </p:cNvPr>
          <p:cNvSpPr/>
          <p:nvPr userDrawn="1"/>
        </p:nvSpPr>
        <p:spPr>
          <a:xfrm>
            <a:off x="4310428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E4DF866-0267-6D4B-8CF4-FAFA97285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64591" y="2186048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737232C-EBE9-2647-917F-C7C76B087CA4}"/>
              </a:ext>
            </a:extLst>
          </p:cNvPr>
          <p:cNvSpPr/>
          <p:nvPr userDrawn="1"/>
        </p:nvSpPr>
        <p:spPr>
          <a:xfrm>
            <a:off x="8264591" y="1285014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8ADAB78-EE5F-B741-8763-DEC022B42E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0428" y="474628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E29E7FE3-94A7-274E-9C79-62D4A777C7A5}"/>
              </a:ext>
            </a:extLst>
          </p:cNvPr>
          <p:cNvSpPr/>
          <p:nvPr userDrawn="1"/>
        </p:nvSpPr>
        <p:spPr>
          <a:xfrm>
            <a:off x="4310428" y="384628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27DCFD9-112E-A945-955D-F67D14142C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64591" y="4747441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70713629-27C4-A749-B40D-6E3D13CBC59F}"/>
              </a:ext>
            </a:extLst>
          </p:cNvPr>
          <p:cNvSpPr/>
          <p:nvPr userDrawn="1"/>
        </p:nvSpPr>
        <p:spPr>
          <a:xfrm>
            <a:off x="8272154" y="3849215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EA0FBD3D-6E21-E549-967B-395F00EE1908}"/>
              </a:ext>
            </a:extLst>
          </p:cNvPr>
          <p:cNvSpPr>
            <a:spLocks noGrp="1"/>
          </p:cNvSpPr>
          <p:nvPr>
            <p:ph sz="quarter" idx="4294967295" hasCustomPrompt="1"/>
          </p:nvPr>
        </p:nvSpPr>
        <p:spPr>
          <a:xfrm>
            <a:off x="432000" y="1393014"/>
            <a:ext cx="3564001" cy="4865268"/>
          </a:xfrm>
        </p:spPr>
        <p:txBody>
          <a:bodyPr lIns="0" tIns="0" rIns="0" bIns="0"/>
          <a:lstStyle>
            <a:lvl1pPr marL="0" indent="0">
              <a:buNone/>
              <a:defRPr sz="2200"/>
            </a:lvl1pPr>
          </a:lstStyle>
          <a:p>
            <a:r>
              <a:rPr lang="en-GB"/>
              <a:t>Intro summary text goes here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8CEA5C8-040E-A042-A8BE-B661106C8E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63E93DE-B0A0-E448-839F-EC15B688DA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8428" y="1393014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728E9EF-F5FD-C54D-A0C4-E79B3934E3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2591" y="1394399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3CE4756-EA5A-644E-8E3C-7A88541176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8428" y="395428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023CEAC-43CB-D349-B655-0C148109A5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80154" y="395428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16781D-5A03-6141-8389-E5AB404ECD9E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6B9BB60-BD70-1857-B877-C41DEC1AF4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1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5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0978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2370978" y="1113399"/>
            <a:ext cx="3564000" cy="899876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7024" y="199098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6257024" y="1090988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32197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39760" y="375104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61316BA-3A2D-A349-8FD8-DEAD56529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3EC696E9-078C-3E45-8DCD-5A562EAEB2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8978" y="122850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7258850-67A6-DA45-BCA6-3A1843C3D9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0431" y="1228501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9D36508-91C9-D341-BD22-8B7D09BC1D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490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A46B0EB-2090-6B41-BC96-DD563B676C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0077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DEAB9F2-4319-8F40-BA4F-1ED7E30638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3BFC66-CD6B-7E4B-8089-7EA6B13C54A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5778E56-0E45-B720-1A87-18BF82CEDE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0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Grid boxes, Titles 6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2708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</a:extLst>
          </p:cNvPr>
          <p:cNvSpPr/>
          <p:nvPr userDrawn="1"/>
        </p:nvSpPr>
        <p:spPr>
          <a:xfrm>
            <a:off x="412708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66871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</a:extLst>
          </p:cNvPr>
          <p:cNvSpPr/>
          <p:nvPr userDrawn="1"/>
        </p:nvSpPr>
        <p:spPr>
          <a:xfrm>
            <a:off x="436687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59249" y="2087999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</a:extLst>
          </p:cNvPr>
          <p:cNvSpPr/>
          <p:nvPr userDrawn="1"/>
        </p:nvSpPr>
        <p:spPr>
          <a:xfrm>
            <a:off x="8259249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2708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</a:extLst>
          </p:cNvPr>
          <p:cNvSpPr/>
          <p:nvPr userDrawn="1"/>
        </p:nvSpPr>
        <p:spPr>
          <a:xfrm>
            <a:off x="412708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6871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</a:extLst>
          </p:cNvPr>
          <p:cNvSpPr/>
          <p:nvPr userDrawn="1"/>
        </p:nvSpPr>
        <p:spPr>
          <a:xfrm>
            <a:off x="4374434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D9A3BB3-7E48-6A41-BE78-2AD280277F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59249" y="4650425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FC04B02F-94D2-6E4A-ADC2-EE378D70C248}"/>
              </a:ext>
            </a:extLst>
          </p:cNvPr>
          <p:cNvSpPr/>
          <p:nvPr userDrawn="1"/>
        </p:nvSpPr>
        <p:spPr>
          <a:xfrm>
            <a:off x="8259249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FEA82EC-5F70-2C43-B773-938E8FCB9F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B9F8E112-B1EA-6542-A337-A038C269AD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708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C36E8D2E-4AD7-3342-855A-6E726FEDA3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82434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24380DA1-D506-154B-828B-630201A38F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67249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EF0A95D-85EC-7E4C-87ED-A15257D0B0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0708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B38F8DE-42A5-1243-AE49-5247BD8167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82434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4DB68FB-4DB7-1741-9BB7-E3E914ECFD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67249" y="3857267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C03302-9DA8-744E-AE94-FF1801AB2637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9B64CD-1CC9-E09E-D868-6F5395EB99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190978-5FC4-6858-371C-AF3DAD50E21F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2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FAD1B1-54FF-2FC6-D407-337D3737411D}"/>
              </a:ext>
            </a:extLst>
          </p:cNvPr>
          <p:cNvSpPr txBox="1"/>
          <p:nvPr userDrawn="1"/>
        </p:nvSpPr>
        <p:spPr>
          <a:xfrm>
            <a:off x="1245609" y="2349016"/>
            <a:ext cx="3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302465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8404-D948-7642-8BC6-F42E883389E5}"/>
              </a:ext>
            </a:extLst>
          </p:cNvPr>
          <p:cNvSpPr txBox="1"/>
          <p:nvPr userDrawn="1"/>
        </p:nvSpPr>
        <p:spPr>
          <a:xfrm>
            <a:off x="1245609" y="2349016"/>
            <a:ext cx="3552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73375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551A3-9BAE-400C-B485-0F4ED3DB7306}"/>
              </a:ext>
            </a:extLst>
          </p:cNvPr>
          <p:cNvSpPr txBox="1"/>
          <p:nvPr userDrawn="1"/>
        </p:nvSpPr>
        <p:spPr>
          <a:xfrm>
            <a:off x="1245609" y="2349016"/>
            <a:ext cx="3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/>
              <a:t>“Quote text here. Quote text here. Quote text here.”</a:t>
            </a:r>
          </a:p>
        </p:txBody>
      </p:sp>
    </p:spTree>
    <p:extLst>
      <p:ext uri="{BB962C8B-B14F-4D97-AF65-F5344CB8AC3E}">
        <p14:creationId xmlns:p14="http://schemas.microsoft.com/office/powerpoint/2010/main" val="124551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D8FDB-A40F-9C14-5A8C-BCBBA006B64D}"/>
              </a:ext>
            </a:extLst>
          </p:cNvPr>
          <p:cNvSpPr txBox="1"/>
          <p:nvPr userDrawn="1"/>
        </p:nvSpPr>
        <p:spPr>
          <a:xfrm>
            <a:off x="1245609" y="2349016"/>
            <a:ext cx="3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/>
              <a:t>“Quote text here. Quote text here. Quote text here.”</a:t>
            </a:r>
          </a:p>
        </p:txBody>
      </p:sp>
    </p:spTree>
    <p:extLst>
      <p:ext uri="{BB962C8B-B14F-4D97-AF65-F5344CB8AC3E}">
        <p14:creationId xmlns:p14="http://schemas.microsoft.com/office/powerpoint/2010/main" val="117127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C30C3909-1482-1013-E118-A2CE0A1DD3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2932" y="2520000"/>
            <a:ext cx="6948488" cy="96361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092F3-915E-341D-8AD1-B8E398E9BFA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:a16="http://schemas.microsoft.com/office/drawing/2014/main" id="{0AF6C2AD-0E53-2A94-6EDF-C2BC1C35E6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6747" y="-121920"/>
            <a:ext cx="12408747" cy="697992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2000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04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C9A4BA-CD7C-BF8C-6221-BCB58BC96EC4}"/>
              </a:ext>
            </a:extLst>
          </p:cNvPr>
          <p:cNvSpPr/>
          <p:nvPr userDrawn="1"/>
        </p:nvSpPr>
        <p:spPr>
          <a:xfrm>
            <a:off x="-14636" y="-34893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2D07C2D6-AB1B-B84B-BC13-7D79E8BCFC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265" y="-122410"/>
            <a:ext cx="12499929" cy="703121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6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22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268FFC32-6059-0DED-CEB1-02D4D3CCB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86C9C2-DC55-7944-8ED5-BCEF416D53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4598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69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3761D-E146-5B7A-CD68-6CC98EA19A5F}"/>
              </a:ext>
            </a:extLst>
          </p:cNvPr>
          <p:cNvSpPr/>
          <p:nvPr userDrawn="1"/>
        </p:nvSpPr>
        <p:spPr>
          <a:xfrm>
            <a:off x="0" y="0"/>
            <a:ext cx="6096000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B6F326D-0ECB-4952-2659-CD17291986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1916" y="1917290"/>
            <a:ext cx="5685561" cy="156632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Breaker heading</a:t>
            </a:r>
          </a:p>
        </p:txBody>
      </p:sp>
    </p:spTree>
    <p:extLst>
      <p:ext uri="{BB962C8B-B14F-4D97-AF65-F5344CB8AC3E}">
        <p14:creationId xmlns:p14="http://schemas.microsoft.com/office/powerpoint/2010/main" val="16641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</a:extLst>
          </p:cNvPr>
          <p:cNvCxnSpPr/>
          <p:nvPr userDrawn="1"/>
        </p:nvCxnSpPr>
        <p:spPr>
          <a:xfrm>
            <a:off x="5715926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0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</a:t>
            </a:r>
            <a:r>
              <a:rPr kumimoji="0" lang="en-GB" sz="2400" b="1" i="0" u="none" strike="noStrike" kern="1200" cap="none" spc="2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nhsengland</a:t>
            </a:r>
            <a:endParaRPr kumimoji="0" lang="en-GB" sz="2400" b="1" i="0" u="none" strike="noStrike" kern="1200" cap="none" spc="2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400" b="1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767074" y="4806522"/>
            <a:ext cx="600075" cy="60007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76D92FD5-08EA-6BC8-29BC-BCF5EEFE18A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509143" y="-71523"/>
            <a:ext cx="10768951" cy="761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8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5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4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3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and image with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87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DFC27-AE77-990E-E3A7-5DF7B8BEB8B0}"/>
              </a:ext>
            </a:extLst>
          </p:cNvPr>
          <p:cNvSpPr txBox="1"/>
          <p:nvPr userDrawn="1"/>
        </p:nvSpPr>
        <p:spPr>
          <a:xfrm>
            <a:off x="7202551" y="2249424"/>
            <a:ext cx="4428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bg1"/>
                </a:solidFill>
              </a:rPr>
              <a:t>Text content goes over single column. Text content here goes over single column. Text content here goes over single column.  </a:t>
            </a:r>
          </a:p>
        </p:txBody>
      </p:sp>
    </p:spTree>
    <p:extLst>
      <p:ext uri="{BB962C8B-B14F-4D97-AF65-F5344CB8AC3E}">
        <p14:creationId xmlns:p14="http://schemas.microsoft.com/office/powerpoint/2010/main" val="11614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image with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6C65A-583E-CC43-8A40-D9FE20EAC65C}"/>
              </a:ext>
            </a:extLst>
          </p:cNvPr>
          <p:cNvSpPr txBox="1"/>
          <p:nvPr userDrawn="1"/>
        </p:nvSpPr>
        <p:spPr>
          <a:xfrm>
            <a:off x="1963271" y="-121023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9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ing, content, basic text one col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6E0930-AFE2-471B-C517-6733CACD8ECB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12708" y="2106000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BAC642-4133-F44A-9758-E12934C6C674}"/>
              </a:ext>
            </a:extLst>
          </p:cNvPr>
          <p:cNvCxnSpPr>
            <a:cxnSpLocks/>
          </p:cNvCxnSpPr>
          <p:nvPr userDrawn="1"/>
        </p:nvCxnSpPr>
        <p:spPr>
          <a:xfrm>
            <a:off x="432000" y="324000"/>
            <a:ext cx="4320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04764C-3D0E-0315-9F4A-C4EE5BF25D96}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con&#10;&#10;Description automatically generated with medium confidence">
            <a:extLst>
              <a:ext uri="{FF2B5EF4-FFF2-40B4-BE49-F238E27FC236}">
                <a16:creationId xmlns:a16="http://schemas.microsoft.com/office/drawing/2014/main" id="{736C33A1-9F7E-056F-72E0-B34059662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413" y="6341795"/>
            <a:ext cx="376428" cy="37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24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ation (Blue)">
  <p:cSld name="Quotation (Blue)">
    <p:bg>
      <p:bgPr>
        <a:solidFill>
          <a:schemeClr val="accen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612001" y="1185865"/>
            <a:ext cx="5702807" cy="507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1600"/>
              <a:buFont typeface="Arial"/>
              <a:buNone/>
              <a:defRPr sz="2133" b="1">
                <a:solidFill>
                  <a:schemeClr val="accent6"/>
                </a:solidFill>
              </a:defRPr>
            </a:lvl2pPr>
            <a:lvl3pPr marL="1828754" lvl="2" indent="-42332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8585199" y="6432551"/>
            <a:ext cx="2292349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606800" y="6432551"/>
            <a:ext cx="49784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10877551" y="6432551"/>
            <a:ext cx="70608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470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adline 2 colums –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71788" y="6346825"/>
            <a:ext cx="126424" cy="127000"/>
          </a:xfrm>
          <a:prstGeom prst="rect">
            <a:avLst/>
          </a:prstGeom>
        </p:spPr>
        <p:txBody>
          <a:bodyPr lIns="0" tIns="0" rIns="0" bIns="0"/>
          <a:lstStyle>
            <a:lvl1pPr algn="ctr" defTabSz="412750">
              <a:lnSpc>
                <a:spcPct val="110000"/>
              </a:lnSpc>
              <a:defRPr sz="850" spc="0">
                <a:solidFill>
                  <a:srgbClr val="B3B2B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96" name="Headline and 2 columns"/>
          <p:cNvSpPr txBox="1">
            <a:spLocks noGrp="1"/>
          </p:cNvSpPr>
          <p:nvPr>
            <p:ph type="body" sz="quarter" idx="21"/>
          </p:nvPr>
        </p:nvSpPr>
        <p:spPr>
          <a:xfrm>
            <a:off x="1270000" y="285750"/>
            <a:ext cx="10541000" cy="87427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412750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7100" spc="-213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Headline and 2 columns</a:t>
            </a:r>
          </a:p>
        </p:txBody>
      </p:sp>
      <p:sp>
        <p:nvSpPr>
          <p:cNvPr id="1397" name="Text…"/>
          <p:cNvSpPr txBox="1">
            <a:spLocks noGrp="1"/>
          </p:cNvSpPr>
          <p:nvPr>
            <p:ph type="body" idx="22"/>
          </p:nvPr>
        </p:nvSpPr>
        <p:spPr>
          <a:xfrm>
            <a:off x="1270000" y="2794000"/>
            <a:ext cx="10541000" cy="3746500"/>
          </a:xfrm>
          <a:prstGeom prst="rect">
            <a:avLst/>
          </a:prstGeom>
        </p:spPr>
        <p:txBody>
          <a:bodyPr numCol="2" spcCol="254000">
            <a:noAutofit/>
          </a:bodyPr>
          <a:lstStyle>
            <a:lvl1pPr marL="0" indent="0" defTabSz="41275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Use Insert → Column Break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</a:p>
          <a:p>
            <a:pPr marL="0" indent="0" defTabSz="825500">
              <a:spcBef>
                <a:spcPts val="0"/>
              </a:spcBef>
              <a:buClrTx/>
              <a:buSzTx/>
              <a:buFontTx/>
              <a:buNone/>
              <a:defRPr sz="4800" spc="-48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Text</a:t>
            </a:r>
            <a:br/>
            <a:r>
              <a:t>Text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74B679C-654A-FCE9-2EB6-751BB13761C9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028203" y="257129"/>
            <a:ext cx="324000" cy="335058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5237AD66-E4A5-1660-A7D8-936C1F1FB74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D6334CA1-D733-94A7-0842-57021FABFDF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5F207DFA-C136-B4A2-9602-BF8F5EDB2F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 Light"/>
                <a:ea typeface="+mn-ea"/>
                <a:cs typeface="+mn-cs"/>
              </a:endParaRPr>
            </a:p>
          </p:txBody>
        </p:sp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3546F51D-E7B4-1BF8-644B-238020AF77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712" y="254585"/>
            <a:ext cx="484534" cy="37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411564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F419C4-903C-4C4B-DC66-C4EBD829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444E-C948-B64B-8555-EB6C254FE09D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98D011-DA13-5FB8-CABA-E7C918E0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BEA86-8DB7-1873-1C1E-4D9BBA1A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436FB-6A34-A742-83DC-13DB7549BA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4362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261" y="542924"/>
            <a:ext cx="10278629" cy="5250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29FE9CC-24C2-9AAC-6340-A9E7BC324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7095" y="244040"/>
            <a:ext cx="3064672" cy="187960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86F3FEE-E7DE-523E-2919-439039F88E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41519" y="414285"/>
            <a:ext cx="956781" cy="77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95EF6A2-54E6-B56C-2EF7-B5820520D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539" y="2391860"/>
            <a:ext cx="5351463" cy="3267785"/>
          </a:xfrm>
          <a:prstGeom prst="rect">
            <a:avLst/>
          </a:prstGeom>
        </p:spPr>
        <p:txBody>
          <a:bodyPr lIns="0" tIns="0" rIns="0" bIns="0" numCol="1" spcCol="540000"/>
          <a:lstStyle/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laborum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anim.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16FFE8D-A652-0A03-40BD-65DDD28557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4538" y="1907956"/>
            <a:ext cx="5351463" cy="1788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 marL="457189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2pPr>
            <a:lvl3pPr marL="914377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3pPr>
            <a:lvl4pPr marL="1371566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4pPr>
            <a:lvl5pPr marL="1828754" indent="0">
              <a:buFont typeface="Arial" panose="020B0604020202020204" pitchFamily="34" charset="0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F8D7379-90B2-01CC-AB1F-F61D54F6EF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9401" y="1907603"/>
            <a:ext cx="4830763" cy="3751263"/>
          </a:xfrm>
          <a:prstGeom prst="roundRect">
            <a:avLst>
              <a:gd name="adj" fmla="val 1300"/>
            </a:avLst>
          </a:prstGeom>
          <a:blipFill dpi="0" rotWithShape="1">
            <a:blip r:embed="rId2"/>
            <a:srcRect/>
            <a:stretch>
              <a:fillRect l="-10000" r="-10000"/>
            </a:stretch>
          </a:blipFill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/>
            </a:lvl1pPr>
          </a:lstStyle>
          <a:p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BA0BAA6A-ED1D-FF6B-D05C-CDD5A57E7C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9" y="584200"/>
            <a:ext cx="8531432" cy="93025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GB"/>
              <a:t>Sub-section title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5CC10D7-5986-6E51-BCCB-99926EF311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26163">
            <a:off x="5638552" y="-697863"/>
            <a:ext cx="11643221" cy="65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0">
        <p:fade/>
      </p:transition>
    </mc:Choice>
    <mc:Fallback xmlns="">
      <p:transition spd="med" advClick="0" advTm="30000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043461"/>
            <a:ext cx="10515600" cy="1175463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DFC185-C359-45E1-9A90-188D5CF10C62}"/>
              </a:ext>
            </a:extLst>
          </p:cNvPr>
          <p:cNvSpPr/>
          <p:nvPr userDrawn="1"/>
        </p:nvSpPr>
        <p:spPr>
          <a:xfrm>
            <a:off x="590550" y="6124576"/>
            <a:ext cx="1352551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5CEA0-0681-4AB4-A814-BD0E68BDE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709" y="457200"/>
            <a:ext cx="1565312" cy="54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3538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60DD58-05DE-E835-E697-CB9A9B0B94EE}"/>
              </a:ext>
            </a:extLst>
          </p:cNvPr>
          <p:cNvSpPr/>
          <p:nvPr userDrawn="1"/>
        </p:nvSpPr>
        <p:spPr>
          <a:xfrm>
            <a:off x="0" y="0"/>
            <a:ext cx="12206636" cy="6872615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accent6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accent6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123" y="691075"/>
            <a:ext cx="10900610" cy="42672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3200" b="1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F8741-2537-17E2-3775-6BB4125FA841}"/>
              </a:ext>
            </a:extLst>
          </p:cNvPr>
          <p:cNvSpPr txBox="1"/>
          <p:nvPr userDrawn="1"/>
        </p:nvSpPr>
        <p:spPr>
          <a:xfrm>
            <a:off x="597123" y="1515533"/>
            <a:ext cx="10900610" cy="489373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35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Use this layout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088000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466455"/>
            <a:ext cx="11088000" cy="4590065"/>
          </a:xfrm>
          <a:prstGeom prst="rect">
            <a:avLst/>
          </a:prstGeom>
        </p:spPr>
        <p:txBody>
          <a:bodyPr lIns="0" tIns="0" rIns="0" bIns="0" numCol="1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1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1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199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199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199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8790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8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62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, subhead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261" y="542924"/>
            <a:ext cx="10278629" cy="5250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7083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D315-C456-3B95-DA64-04712271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2C7F-8370-F1CC-1CAA-C6238E77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21989-B5FA-D7F9-F994-C5931593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4737-13AC-4584-82DE-4B8196B350BB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AEFEB-E7FC-E543-336F-D6357A627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9BF0C-2793-3EFA-1F6A-ED2644FE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202B-73B5-49E9-96A4-F8DDB6AB46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27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30.xml"/><Relationship Id="rId39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5.xml"/><Relationship Id="rId34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51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9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40.xml"/><Relationship Id="rId4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35.xml"/><Relationship Id="rId44" Type="http://schemas.openxmlformats.org/officeDocument/2006/relationships/slideLayout" Target="../slideLayouts/slideLayout48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52.xml"/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24.xml"/><Relationship Id="rId41" Type="http://schemas.openxmlformats.org/officeDocument/2006/relationships/slideLayout" Target="../slideLayouts/slideLayout45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9.xml"/><Relationship Id="rId39" Type="http://schemas.openxmlformats.org/officeDocument/2006/relationships/slideLayout" Target="../slideLayouts/slideLayout92.xml"/><Relationship Id="rId21" Type="http://schemas.openxmlformats.org/officeDocument/2006/relationships/slideLayout" Target="../slideLayouts/slideLayout74.xml"/><Relationship Id="rId34" Type="http://schemas.openxmlformats.org/officeDocument/2006/relationships/slideLayout" Target="../slideLayouts/slideLayout87.xml"/><Relationship Id="rId42" Type="http://schemas.openxmlformats.org/officeDocument/2006/relationships/slideLayout" Target="../slideLayouts/slideLayout95.xml"/><Relationship Id="rId47" Type="http://schemas.openxmlformats.org/officeDocument/2006/relationships/slideLayout" Target="../slideLayouts/slideLayout100.xml"/><Relationship Id="rId50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29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90.xml"/><Relationship Id="rId40" Type="http://schemas.openxmlformats.org/officeDocument/2006/relationships/slideLayout" Target="../slideLayouts/slideLayout93.xml"/><Relationship Id="rId45" Type="http://schemas.openxmlformats.org/officeDocument/2006/relationships/slideLayout" Target="../slideLayouts/slideLayout98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9.xml"/><Relationship Id="rId4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84.xml"/><Relationship Id="rId44" Type="http://schemas.openxmlformats.org/officeDocument/2006/relationships/slideLayout" Target="../slideLayouts/slideLayout97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75.xml"/><Relationship Id="rId27" Type="http://schemas.openxmlformats.org/officeDocument/2006/relationships/slideLayout" Target="../slideLayouts/slideLayout80.xml"/><Relationship Id="rId30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8.xml"/><Relationship Id="rId43" Type="http://schemas.openxmlformats.org/officeDocument/2006/relationships/slideLayout" Target="../slideLayouts/slideLayout96.xml"/><Relationship Id="rId48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61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86.xml"/><Relationship Id="rId38" Type="http://schemas.openxmlformats.org/officeDocument/2006/relationships/slideLayout" Target="../slideLayouts/slideLayout91.xml"/><Relationship Id="rId4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94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03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66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125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5" r:id="rId40"/>
    <p:sldLayoutId id="2147483706" r:id="rId41"/>
    <p:sldLayoutId id="2147483707" r:id="rId42"/>
    <p:sldLayoutId id="2147483708" r:id="rId43"/>
    <p:sldLayoutId id="2147483709" r:id="rId44"/>
    <p:sldLayoutId id="2147483710" r:id="rId45"/>
    <p:sldLayoutId id="2147483711" r:id="rId46"/>
    <p:sldLayoutId id="2147483712" r:id="rId47"/>
    <p:sldLayoutId id="2147483713" r:id="rId48"/>
    <p:sldLayoutId id="2147483714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00640" rtl="0" eaLnBrk="1" latinLnBrk="0" hangingPunct="1">
        <a:lnSpc>
          <a:spcPct val="90000"/>
        </a:lnSpc>
        <a:spcBef>
          <a:spcPct val="0"/>
        </a:spcBef>
        <a:buNone/>
        <a:defRPr sz="4334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5160" indent="-225160" algn="l" defTabSz="900640" rtl="0" eaLnBrk="1" latinLnBrk="0" hangingPunct="1">
        <a:lnSpc>
          <a:spcPct val="90000"/>
        </a:lnSpc>
        <a:spcBef>
          <a:spcPts val="985"/>
        </a:spcBef>
        <a:buFont typeface="Arial" panose="020B0604020202020204" pitchFamily="34" charset="0"/>
        <a:buChar char="•"/>
        <a:defRPr sz="2758" kern="1200">
          <a:solidFill>
            <a:schemeClr val="accent6"/>
          </a:solidFill>
          <a:latin typeface="+mn-lt"/>
          <a:ea typeface="+mn-ea"/>
          <a:cs typeface="+mn-cs"/>
        </a:defRPr>
      </a:lvl1pPr>
      <a:lvl2pPr marL="67548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4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2580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7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7612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2644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accent6"/>
          </a:solidFill>
          <a:latin typeface="+mn-lt"/>
          <a:ea typeface="+mn-ea"/>
          <a:cs typeface="+mn-cs"/>
        </a:defRPr>
      </a:lvl5pPr>
      <a:lvl6pPr marL="247676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tx1"/>
          </a:solidFill>
          <a:latin typeface="+mn-lt"/>
          <a:ea typeface="+mn-ea"/>
          <a:cs typeface="+mn-cs"/>
        </a:defRPr>
      </a:lvl6pPr>
      <a:lvl7pPr marL="292708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tx1"/>
          </a:solidFill>
          <a:latin typeface="+mn-lt"/>
          <a:ea typeface="+mn-ea"/>
          <a:cs typeface="+mn-cs"/>
        </a:defRPr>
      </a:lvl7pPr>
      <a:lvl8pPr marL="337740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tx1"/>
          </a:solidFill>
          <a:latin typeface="+mn-lt"/>
          <a:ea typeface="+mn-ea"/>
          <a:cs typeface="+mn-cs"/>
        </a:defRPr>
      </a:lvl8pPr>
      <a:lvl9pPr marL="3827720" indent="-225160" algn="l" defTabSz="900640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1pPr>
      <a:lvl2pPr marL="45032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2pPr>
      <a:lvl3pPr marL="90064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3pPr>
      <a:lvl4pPr marL="135096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4pPr>
      <a:lvl5pPr marL="180128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5pPr>
      <a:lvl6pPr marL="225160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6pPr>
      <a:lvl7pPr marL="270192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7pPr>
      <a:lvl8pPr marL="315224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8pPr>
      <a:lvl9pPr marL="3602560" algn="l" defTabSz="900640" rtl="0" eaLnBrk="1" latinLnBrk="0" hangingPunct="1">
        <a:defRPr sz="17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95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  <p:sldLayoutId id="2147483761" r:id="rId46"/>
    <p:sldLayoutId id="2147483762" r:id="rId47"/>
    <p:sldLayoutId id="2147483763" r:id="rId48"/>
    <p:sldLayoutId id="2147483764" r:id="rId49"/>
    <p:sldLayoutId id="2147483765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microsoft.com/office/2007/relationships/hdphoto" Target="../media/hdphoto6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88.xml"/><Relationship Id="rId6" Type="http://schemas.microsoft.com/office/2007/relationships/hdphoto" Target="../media/hdphoto3.wdp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5" Type="http://schemas.openxmlformats.org/officeDocument/2006/relationships/image" Target="../media/image57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53.png"/><Relationship Id="rId14" Type="http://schemas.openxmlformats.org/officeDocument/2006/relationships/image" Target="../media/image56.sv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microsoft.com/office/2007/relationships/hdphoto" Target="../media/hdphoto6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8.svg"/><Relationship Id="rId1" Type="http://schemas.openxmlformats.org/officeDocument/2006/relationships/slideLayout" Target="../slideLayouts/slideLayout39.xml"/><Relationship Id="rId6" Type="http://schemas.microsoft.com/office/2007/relationships/hdphoto" Target="../media/hdphoto3.wdp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5" Type="http://schemas.openxmlformats.org/officeDocument/2006/relationships/image" Target="../media/image57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53.png"/><Relationship Id="rId14" Type="http://schemas.openxmlformats.org/officeDocument/2006/relationships/image" Target="../media/image5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sv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7353-4047-799D-0043-51A056FC6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B0297-07C6-179A-B74A-39EB427E0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286" t="44804" r="30796" b="44865"/>
          <a:stretch/>
        </p:blipFill>
        <p:spPr>
          <a:xfrm>
            <a:off x="8809463" y="312526"/>
            <a:ext cx="3078933" cy="11562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705D81E-C47B-EB6E-D475-F89D44C2B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3243363" y="4984683"/>
            <a:ext cx="16174415" cy="44435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7A5F0-F58C-21E5-DC1A-EF9CA006011E}"/>
              </a:ext>
            </a:extLst>
          </p:cNvPr>
          <p:cNvSpPr txBox="1"/>
          <p:nvPr/>
        </p:nvSpPr>
        <p:spPr>
          <a:xfrm>
            <a:off x="1279313" y="2336219"/>
            <a:ext cx="8924290" cy="25237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6000"/>
              </a:lnSpc>
              <a:defRPr/>
            </a:pPr>
            <a:r>
              <a:rPr lang="en-US" sz="2400" b="1" spc="800" dirty="0">
                <a:solidFill>
                  <a:prstClr val="black"/>
                </a:solidFill>
                <a:highlight>
                  <a:srgbClr val="FFFFFF"/>
                </a:highlight>
                <a:latin typeface="Aptos"/>
              </a:rPr>
              <a:t>Digital and the 10 Year Health Plan: Making Wearables Work for People</a:t>
            </a:r>
            <a:endParaRPr lang="en-US" sz="2400" dirty="0">
              <a:solidFill>
                <a:prstClr val="black"/>
              </a:solidFill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300" normalizeH="0" baseline="0" noProof="0" dirty="0">
              <a:ln w="6350">
                <a:noFill/>
              </a:ln>
              <a:solidFill>
                <a:prstClr val="black"/>
              </a:solidFill>
              <a:effectLst/>
              <a:uLnTx/>
              <a:uFillTx/>
              <a:latin typeface="Effra Medium" panose="020B0603020203020204" pitchFamily="34" charset="77"/>
              <a:ea typeface="+mn-ea"/>
              <a:cs typeface="+mn-cs"/>
            </a:endParaRPr>
          </a:p>
          <a:p>
            <a:pPr algn="ctr">
              <a:defRPr/>
            </a:pPr>
            <a:r>
              <a:rPr lang="en-US" sz="3000" dirty="0">
                <a:ln w="6350">
                  <a:noFill/>
                </a:ln>
                <a:solidFill>
                  <a:srgbClr val="2C82C6"/>
                </a:solidFill>
                <a:latin typeface="Effra Medium"/>
              </a:rPr>
              <a:t>Will Warburton</a:t>
            </a:r>
            <a:endParaRPr lang="en-US" dirty="0">
              <a:ea typeface="+mn-ea"/>
              <a:cs typeface="+mn-cs"/>
            </a:endParaRPr>
          </a:p>
          <a:p>
            <a:pPr algn="ctr">
              <a:defRPr/>
            </a:pPr>
            <a:r>
              <a:rPr lang="en-US" sz="1600" b="1" spc="200" dirty="0">
                <a:solidFill>
                  <a:srgbClr val="59ADB8"/>
                </a:solidFill>
                <a:latin typeface="Effra Medium"/>
              </a:rPr>
              <a:t>DIRECTOR OF LIFE SCIENCES POLICY &amp; STRATEGY, NHS ENGLAND</a:t>
            </a:r>
            <a:endParaRPr lang="en-US" sz="1600" b="1" i="0" u="none" strike="noStrike" kern="1200" cap="none" spc="200" normalizeH="0" baseline="0" noProof="0" dirty="0">
              <a:ln>
                <a:noFill/>
              </a:ln>
              <a:solidFill>
                <a:srgbClr val="59ADB8"/>
              </a:solidFill>
              <a:effectLst/>
              <a:uLnTx/>
              <a:uFillTx/>
              <a:latin typeface="Effra Medium" panose="020B0603020203020204" pitchFamily="34" charset="77"/>
            </a:endParaRPr>
          </a:p>
        </p:txBody>
      </p:sp>
      <p:pic>
        <p:nvPicPr>
          <p:cNvPr id="4" name="Picture 3" descr="NHS England logo - Shropshire Council Newsroom">
            <a:extLst>
              <a:ext uri="{FF2B5EF4-FFF2-40B4-BE49-F238E27FC236}">
                <a16:creationId xmlns:a16="http://schemas.microsoft.com/office/drawing/2014/main" id="{4E2E1E41-3D22-E7D3-E4E1-1E353D95A1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234" y="432985"/>
            <a:ext cx="1430868" cy="103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17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E4C7-DB9B-F3F9-A166-96DEC9BD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2C40FF8-ADC8-DDE3-7CDD-E87A2A820630}"/>
              </a:ext>
            </a:extLst>
          </p:cNvPr>
          <p:cNvSpPr txBox="1"/>
          <p:nvPr/>
        </p:nvSpPr>
        <p:spPr>
          <a:xfrm>
            <a:off x="4793" y="5542213"/>
            <a:ext cx="1198329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300" b="1" dirty="0">
                <a:solidFill>
                  <a:srgbClr val="231F20"/>
                </a:solidFill>
                <a:latin typeface="Arial" panose="020B0604020202020204"/>
              </a:rPr>
              <a:t>To continue to provide healthcare free at the point of need, we must find new approaches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9EFB5B-38C6-A784-925E-8C4F12F34DBA}"/>
              </a:ext>
            </a:extLst>
          </p:cNvPr>
          <p:cNvGrpSpPr/>
          <p:nvPr/>
        </p:nvGrpSpPr>
        <p:grpSpPr>
          <a:xfrm>
            <a:off x="2131192" y="3400485"/>
            <a:ext cx="3561129" cy="1877150"/>
            <a:chOff x="2165562" y="3402450"/>
            <a:chExt cx="3561129" cy="187715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73BE89-0C7F-F6D7-24AF-49A10FA8AF4E}"/>
                </a:ext>
              </a:extLst>
            </p:cNvPr>
            <p:cNvSpPr/>
            <p:nvPr/>
          </p:nvSpPr>
          <p:spPr>
            <a:xfrm>
              <a:off x="2168330" y="3402450"/>
              <a:ext cx="3558361" cy="1817678"/>
            </a:xfrm>
            <a:prstGeom prst="roundRect">
              <a:avLst>
                <a:gd name="adj" fmla="val 8363"/>
              </a:avLst>
            </a:prstGeom>
            <a:solidFill>
              <a:srgbClr val="FFFFFF">
                <a:alpha val="60000"/>
              </a:srgbClr>
            </a:solidFill>
            <a:ln>
              <a:solidFill>
                <a:srgbClr val="4C15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 dirty="0">
                  <a:solidFill>
                    <a:srgbClr val="4C155B"/>
                  </a:solidFill>
                  <a:latin typeface="Arial" panose="020B0604020202020204"/>
                </a:rPr>
                <a:t>Public satisfaction is low </a:t>
              </a:r>
              <a:endPara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C15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C155B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59% </a:t>
              </a:r>
              <a:r>
                <a:rPr kumimoji="0" lang="en-GB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of people were dissatisfied with the NHS in 2024. Time to access appointments or care is the leading reason for dissatisfaction.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5C2C021-D592-D4AB-B76F-9AA02DE9C1D5}"/>
                </a:ext>
              </a:extLst>
            </p:cNvPr>
            <p:cNvSpPr/>
            <p:nvPr/>
          </p:nvSpPr>
          <p:spPr>
            <a:xfrm rot="5400000">
              <a:off x="3788152" y="3301315"/>
              <a:ext cx="305474" cy="3550654"/>
            </a:xfrm>
            <a:prstGeom prst="roundRect">
              <a:avLst>
                <a:gd name="adj" fmla="val 0"/>
              </a:avLst>
            </a:prstGeom>
            <a:solidFill>
              <a:srgbClr val="4C155B"/>
            </a:solidFill>
            <a:ln>
              <a:solidFill>
                <a:srgbClr val="4C155B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8" name="Graphic 17" descr="Heart with pulse with solid fill">
              <a:extLst>
                <a:ext uri="{FF2B5EF4-FFF2-40B4-BE49-F238E27FC236}">
                  <a16:creationId xmlns:a16="http://schemas.microsoft.com/office/drawing/2014/main" id="{4218658A-B31C-F116-0D4E-E3F078F23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8028" y="4869930"/>
              <a:ext cx="409670" cy="40967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357C6AA-ECA9-4AB5-B4E4-D9EEB4ED05FD}"/>
              </a:ext>
            </a:extLst>
          </p:cNvPr>
          <p:cNvGrpSpPr/>
          <p:nvPr/>
        </p:nvGrpSpPr>
        <p:grpSpPr>
          <a:xfrm>
            <a:off x="5869532" y="1274163"/>
            <a:ext cx="3559025" cy="1869632"/>
            <a:chOff x="5869532" y="1277149"/>
            <a:chExt cx="3559025" cy="186963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9D2E9C0-E848-95F9-1667-DC4777C0FEFA}"/>
                </a:ext>
              </a:extLst>
            </p:cNvPr>
            <p:cNvSpPr/>
            <p:nvPr/>
          </p:nvSpPr>
          <p:spPr>
            <a:xfrm>
              <a:off x="5869532" y="1277149"/>
              <a:ext cx="3558361" cy="1817678"/>
            </a:xfrm>
            <a:prstGeom prst="roundRect">
              <a:avLst>
                <a:gd name="adj" fmla="val 9506"/>
              </a:avLst>
            </a:prstGeom>
            <a:solidFill>
              <a:srgbClr val="FFFFFF">
                <a:alpha val="60000"/>
              </a:srgbClr>
            </a:solidFill>
            <a:ln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99DDEB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Workforce issues are equally acute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NHS FTE staff has increased by ~30% since 2009</a:t>
              </a:r>
              <a:r>
                <a:rPr kumimoji="0" lang="en-GB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. </a:t>
              </a:r>
              <a:r>
                <a:rPr kumimoji="0" lang="en-GB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Staff sickness rate is at </a:t>
              </a:r>
              <a:r>
                <a:rPr kumimoji="0" lang="en-GB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5.6%</a:t>
              </a:r>
              <a:r>
                <a:rPr kumimoji="0" lang="en-GB" sz="1200" b="0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and </a:t>
              </a:r>
              <a:r>
                <a:rPr kumimoji="0" lang="en-GB" sz="1200" b="1" i="1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 in 10 left the NHS in 2024. 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05596DE-0793-1ECA-0299-A61EE2F6DEA4}"/>
                </a:ext>
              </a:extLst>
            </p:cNvPr>
            <p:cNvSpPr/>
            <p:nvPr/>
          </p:nvSpPr>
          <p:spPr>
            <a:xfrm rot="5400000">
              <a:off x="7496791" y="1165887"/>
              <a:ext cx="305474" cy="3558059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9" name="Graphic 18" descr="Employee badge with solid fill">
              <a:extLst>
                <a:ext uri="{FF2B5EF4-FFF2-40B4-BE49-F238E27FC236}">
                  <a16:creationId xmlns:a16="http://schemas.microsoft.com/office/drawing/2014/main" id="{7A80D2F3-346A-2A1C-C1E7-D1A5260C5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-1440" r="-1"/>
            <a:stretch/>
          </p:blipFill>
          <p:spPr>
            <a:xfrm>
              <a:off x="5890165" y="2717818"/>
              <a:ext cx="435147" cy="428963"/>
            </a:xfrm>
            <a:prstGeom prst="rect">
              <a:avLst/>
            </a:prstGeom>
          </p:spPr>
        </p:pic>
      </p:grpSp>
      <p:pic>
        <p:nvPicPr>
          <p:cNvPr id="20" name="Graphic 19" descr="Rating 1 Star with solid fill">
            <a:extLst>
              <a:ext uri="{FF2B5EF4-FFF2-40B4-BE49-F238E27FC236}">
                <a16:creationId xmlns:a16="http://schemas.microsoft.com/office/drawing/2014/main" id="{9E172809-7816-FA52-1EC0-D9AC25DC99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00106" y="2613011"/>
            <a:ext cx="633788" cy="63378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A8552D8-B00F-44C0-387E-980F8F78D68E}"/>
              </a:ext>
            </a:extLst>
          </p:cNvPr>
          <p:cNvGrpSpPr/>
          <p:nvPr/>
        </p:nvGrpSpPr>
        <p:grpSpPr>
          <a:xfrm>
            <a:off x="2131192" y="1298727"/>
            <a:ext cx="3560172" cy="1820504"/>
            <a:chOff x="2133435" y="1277149"/>
            <a:chExt cx="3560172" cy="182050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EF494A2-A7D6-84DC-9BA7-AB2CC382DFFA}"/>
                </a:ext>
              </a:extLst>
            </p:cNvPr>
            <p:cNvSpPr/>
            <p:nvPr/>
          </p:nvSpPr>
          <p:spPr>
            <a:xfrm>
              <a:off x="2133960" y="1277149"/>
              <a:ext cx="3558361" cy="1817678"/>
            </a:xfrm>
            <a:prstGeom prst="roundRect">
              <a:avLst>
                <a:gd name="adj" fmla="val 8363"/>
              </a:avLst>
            </a:prstGeom>
            <a:solidFill>
              <a:srgbClr val="FFFFFF">
                <a:alpha val="60000"/>
              </a:srgbClr>
            </a:solidFill>
            <a:ln>
              <a:solidFill>
                <a:schemeClr val="accent5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80D2CC">
                      <a:lumMod val="50000"/>
                    </a:srgbClr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 future of NHS finances is unsustainable</a:t>
              </a:r>
              <a:endParaRPr lang="en-US" sz="1200"/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UK health spend is </a:t>
              </a:r>
              <a:r>
                <a:rPr kumimoji="0" lang="en-GB" sz="1200" b="1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~11% of GDP </a:t>
              </a:r>
              <a:r>
                <a:rPr kumimoji="0" lang="en-GB" sz="1200" b="0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and accounts for 38% of public expenditure. In cash terms this equates to </a:t>
              </a:r>
              <a:r>
                <a:rPr kumimoji="0" lang="en-GB" sz="1200" b="1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£188.5bn </a:t>
              </a:r>
              <a:r>
                <a:rPr kumimoji="0" lang="en-GB" sz="1200" b="0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(2023/24). Of this, </a:t>
              </a:r>
              <a:r>
                <a:rPr kumimoji="0" lang="en-GB" sz="1200" b="1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£81.7bn </a:t>
              </a:r>
              <a:r>
                <a:rPr kumimoji="0" lang="en-GB" sz="1200" b="0" i="1" u="none" strike="noStrike" kern="1200" cap="none" spc="0" normalizeH="0" baseline="0" noProof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is spent on staff – excluding GPs (38% is projected to rise to 40% by 2035)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ACDE930-4FB5-9C25-014F-2417F54B881E}"/>
                </a:ext>
              </a:extLst>
            </p:cNvPr>
            <p:cNvSpPr/>
            <p:nvPr/>
          </p:nvSpPr>
          <p:spPr>
            <a:xfrm rot="5400000">
              <a:off x="3762372" y="1166418"/>
              <a:ext cx="305474" cy="355699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21" name="Graphic 20" descr="Pound with solid fill">
              <a:extLst>
                <a:ext uri="{FF2B5EF4-FFF2-40B4-BE49-F238E27FC236}">
                  <a16:creationId xmlns:a16="http://schemas.microsoft.com/office/drawing/2014/main" id="{BE48AC07-7B71-E219-BB20-23ADCA173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 l="-2725" r="-1"/>
            <a:stretch/>
          </p:blipFill>
          <p:spPr>
            <a:xfrm>
              <a:off x="2133435" y="2805703"/>
              <a:ext cx="294131" cy="25636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93FB08-91B1-AD5B-462A-EB5C326ACE11}"/>
              </a:ext>
            </a:extLst>
          </p:cNvPr>
          <p:cNvGrpSpPr/>
          <p:nvPr/>
        </p:nvGrpSpPr>
        <p:grpSpPr>
          <a:xfrm>
            <a:off x="5869532" y="3412000"/>
            <a:ext cx="3564605" cy="1854121"/>
            <a:chOff x="5893570" y="3410382"/>
            <a:chExt cx="3564605" cy="185412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A6841C7-B3EF-79C3-7E5F-42E7D11B5989}"/>
                </a:ext>
              </a:extLst>
            </p:cNvPr>
            <p:cNvSpPr/>
            <p:nvPr/>
          </p:nvSpPr>
          <p:spPr>
            <a:xfrm>
              <a:off x="5893570" y="3410382"/>
              <a:ext cx="3558361" cy="1817678"/>
            </a:xfrm>
            <a:prstGeom prst="roundRect">
              <a:avLst>
                <a:gd name="adj" fmla="val 12936"/>
              </a:avLst>
            </a:prstGeom>
            <a:solidFill>
              <a:srgbClr val="FFFFFF">
                <a:alpha val="6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5EB8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Widening Health Inequalities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Healthy life expectancy is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18+ years lower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for the most deprived. People in the most deprived areas are </a:t>
              </a:r>
              <a:r>
                <a:rPr kumimoji="0" lang="en-GB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2x as likely to wait over a year </a:t>
              </a:r>
              <a:r>
                <a: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31F2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for elective procedures. </a:t>
              </a:r>
              <a:endPara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005EB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DBA7D81-127F-5737-0651-7CAFD2AB7128}"/>
                </a:ext>
              </a:extLst>
            </p:cNvPr>
            <p:cNvSpPr/>
            <p:nvPr/>
          </p:nvSpPr>
          <p:spPr>
            <a:xfrm rot="5400000">
              <a:off x="7524070" y="3315699"/>
              <a:ext cx="305474" cy="3562736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80D2CC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23" name="Graphic 22" descr="Scales of justice with solid fill">
              <a:extLst>
                <a:ext uri="{FF2B5EF4-FFF2-40B4-BE49-F238E27FC236}">
                  <a16:creationId xmlns:a16="http://schemas.microsoft.com/office/drawing/2014/main" id="{00892658-0DE0-5991-EA91-5D5F77642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63171" y="4895085"/>
              <a:ext cx="369418" cy="369418"/>
            </a:xfrm>
            <a:prstGeom prst="rect">
              <a:avLst/>
            </a:prstGeom>
          </p:spPr>
        </p:pic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A92AAEFE-1B6C-3B99-9FDC-298F2420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>
                <a:solidFill>
                  <a:srgbClr val="003087"/>
                </a:solidFill>
              </a:rPr>
              <a:t>Context: An NHS under pressure</a:t>
            </a:r>
            <a:endParaRPr lang="en-GB" sz="3000"/>
          </a:p>
        </p:txBody>
      </p:sp>
    </p:spTree>
    <p:extLst>
      <p:ext uri="{BB962C8B-B14F-4D97-AF65-F5344CB8AC3E}">
        <p14:creationId xmlns:p14="http://schemas.microsoft.com/office/powerpoint/2010/main" val="33932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488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14E4B-33CB-3C05-8386-21745E4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E3F5218D-BB4D-DE2C-61D8-130A71E1DB27}"/>
              </a:ext>
            </a:extLst>
          </p:cNvPr>
          <p:cNvSpPr txBox="1">
            <a:spLocks/>
          </p:cNvSpPr>
          <p:nvPr/>
        </p:nvSpPr>
        <p:spPr>
          <a:xfrm>
            <a:off x="493790" y="291042"/>
            <a:ext cx="11490073" cy="892405"/>
          </a:xfr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200" b="1" dirty="0">
                <a:solidFill>
                  <a:schemeClr val="bg1"/>
                </a:solidFill>
                <a:latin typeface="Aptos"/>
              </a:rPr>
              <a:t>The 10 Year Health Plan: Wearable &amp; Smartphone Ambitions</a:t>
            </a:r>
            <a:endParaRPr lang="en-US" sz="1800" dirty="0">
              <a:solidFill>
                <a:schemeClr val="bg1"/>
              </a:solidFill>
              <a:cs typeface="Arial"/>
            </a:endParaRPr>
          </a:p>
        </p:txBody>
      </p:sp>
      <p:pic>
        <p:nvPicPr>
          <p:cNvPr id="8" name="Picture 7" descr="A blue dna structure with white text&#10;&#10;AI-generated content may be incorrect.">
            <a:extLst>
              <a:ext uri="{FF2B5EF4-FFF2-40B4-BE49-F238E27FC236}">
                <a16:creationId xmlns:a16="http://schemas.microsoft.com/office/drawing/2014/main" id="{92CD1861-F604-CA1E-DC63-B99B4708F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29" y="1140099"/>
            <a:ext cx="1889395" cy="2668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3FD01DA-BD0D-3779-4FB0-F42CE570F04A}"/>
              </a:ext>
            </a:extLst>
          </p:cNvPr>
          <p:cNvGrpSpPr/>
          <p:nvPr/>
        </p:nvGrpSpPr>
        <p:grpSpPr>
          <a:xfrm>
            <a:off x="-103793" y="1466539"/>
            <a:ext cx="12297833" cy="5504434"/>
            <a:chOff x="-103793" y="1466539"/>
            <a:chExt cx="12297833" cy="55044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DAFA23-5674-6520-F021-5EED0D96F7AB}"/>
                </a:ext>
              </a:extLst>
            </p:cNvPr>
            <p:cNvSpPr/>
            <p:nvPr/>
          </p:nvSpPr>
          <p:spPr>
            <a:xfrm>
              <a:off x="-103793" y="4124057"/>
              <a:ext cx="12297833" cy="28469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A4651C-7A37-382C-2C02-70B3ACDB7136}"/>
                </a:ext>
              </a:extLst>
            </p:cNvPr>
            <p:cNvGrpSpPr/>
            <p:nvPr/>
          </p:nvGrpSpPr>
          <p:grpSpPr>
            <a:xfrm>
              <a:off x="3154980" y="1466539"/>
              <a:ext cx="8437492" cy="2343040"/>
              <a:chOff x="2962185" y="1328828"/>
              <a:chExt cx="8437492" cy="234304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638F03-5CF1-4408-ACA9-02F66DF3E70F}"/>
                  </a:ext>
                </a:extLst>
              </p:cNvPr>
              <p:cNvSpPr txBox="1"/>
              <p:nvPr/>
            </p:nvSpPr>
            <p:spPr>
              <a:xfrm>
                <a:off x="2962185" y="2153908"/>
                <a:ext cx="8435793" cy="58477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1600" b="1" i="1">
                    <a:solidFill>
                      <a:srgbClr val="FBD5B4"/>
                    </a:solidFill>
                    <a:cs typeface="Arial"/>
                  </a:rPr>
                  <a:t>'</a:t>
                </a:r>
                <a:r>
                  <a:rPr lang="en-GB" sz="1600" b="1" i="1" u="sng">
                    <a:solidFill>
                      <a:srgbClr val="FBD5B4"/>
                    </a:solidFill>
                    <a:cs typeface="Arial"/>
                  </a:rPr>
                  <a:t>Make wearables standard </a:t>
                </a:r>
                <a:r>
                  <a:rPr lang="en-GB" sz="1600" b="1" i="1">
                    <a:solidFill>
                      <a:srgbClr val="FBD5B4"/>
                    </a:solidFill>
                    <a:cs typeface="Arial"/>
                  </a:rPr>
                  <a:t>in preventative, chronic and post-acute NHS treatment by 2035'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3C861EC-C848-2216-4B28-2926B4707307}"/>
                  </a:ext>
                </a:extLst>
              </p:cNvPr>
              <p:cNvSpPr txBox="1"/>
              <p:nvPr/>
            </p:nvSpPr>
            <p:spPr>
              <a:xfrm>
                <a:off x="2963198" y="2840871"/>
                <a:ext cx="8430517" cy="83099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600" b="1" i="1">
                    <a:solidFill>
                      <a:srgbClr val="CCC0D9"/>
                    </a:solidFill>
                  </a:rPr>
                  <a:t>'Wearables bring the insights from </a:t>
                </a:r>
                <a:r>
                  <a:rPr lang="en-US" sz="1600" b="1" i="1" u="sng">
                    <a:solidFill>
                      <a:srgbClr val="CCC0D9"/>
                    </a:solidFill>
                  </a:rPr>
                  <a:t>data, AI, and genomics</a:t>
                </a:r>
                <a:r>
                  <a:rPr lang="en-US" sz="1600" b="1" i="1">
                    <a:solidFill>
                      <a:srgbClr val="CCC0D9"/>
                    </a:solidFill>
                  </a:rPr>
                  <a:t> directly to the patient or clinician, enabling continuous monitoring, pre-emptive interventions, and </a:t>
                </a:r>
                <a:r>
                  <a:rPr lang="en-US" sz="1600" b="1" i="1" u="sng">
                    <a:solidFill>
                      <a:srgbClr val="CCC0D9"/>
                    </a:solidFill>
                  </a:rPr>
                  <a:t>more personal care</a:t>
                </a:r>
                <a:r>
                  <a:rPr lang="en-US" sz="1600" b="1" i="1">
                    <a:solidFill>
                      <a:srgbClr val="CCC0D9"/>
                    </a:solidFill>
                  </a:rPr>
                  <a:t> delivery'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9CD8D5F-05DA-CADF-215E-AE87E0E63C78}"/>
                  </a:ext>
                </a:extLst>
              </p:cNvPr>
              <p:cNvSpPr txBox="1"/>
              <p:nvPr/>
            </p:nvSpPr>
            <p:spPr>
              <a:xfrm>
                <a:off x="2962646" y="1328828"/>
                <a:ext cx="8437031" cy="58477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GB" sz="1600" b="1" i="1">
                    <a:solidFill>
                      <a:srgbClr val="D6E3BC"/>
                    </a:solidFill>
                    <a:ea typeface="+mn-lt"/>
                    <a:cs typeface="+mn-lt"/>
                  </a:rPr>
                  <a:t>'Make remote monitoring for </a:t>
                </a:r>
                <a:r>
                  <a:rPr lang="en-GB" sz="1600" b="1" i="1" u="sng">
                    <a:solidFill>
                      <a:srgbClr val="D6E3BC"/>
                    </a:solidFill>
                    <a:ea typeface="+mn-lt"/>
                    <a:cs typeface="+mn-lt"/>
                  </a:rPr>
                  <a:t>cardiovascular disease</a:t>
                </a:r>
                <a:r>
                  <a:rPr lang="en-GB" sz="1600" b="1" i="1">
                    <a:solidFill>
                      <a:srgbClr val="D6E3BC"/>
                    </a:solidFill>
                    <a:ea typeface="+mn-lt"/>
                    <a:cs typeface="+mn-lt"/>
                  </a:rPr>
                  <a:t>, using wearables and similar devices integrated into the NHS App, a s</a:t>
                </a:r>
                <a:r>
                  <a:rPr lang="en-GB" sz="1600" b="1" i="1" u="sng">
                    <a:solidFill>
                      <a:srgbClr val="D6E3BC"/>
                    </a:solidFill>
                    <a:ea typeface="+mn-lt"/>
                    <a:cs typeface="+mn-lt"/>
                  </a:rPr>
                  <a:t>tandard part of NHS care</a:t>
                </a:r>
                <a:r>
                  <a:rPr lang="en-GB" sz="1600" b="1" i="1">
                    <a:solidFill>
                      <a:srgbClr val="D6E3BC"/>
                    </a:solidFill>
                    <a:ea typeface="+mn-lt"/>
                    <a:cs typeface="+mn-lt"/>
                  </a:rPr>
                  <a:t> by 2028</a:t>
                </a:r>
                <a:r>
                  <a:rPr lang="en-US" sz="1600" b="1" i="1">
                    <a:solidFill>
                      <a:srgbClr val="D6E3BC"/>
                    </a:solidFill>
                    <a:ea typeface="+mn-lt"/>
                    <a:cs typeface="+mn-lt"/>
                  </a:rPr>
                  <a:t>'</a:t>
                </a:r>
                <a:endParaRPr lang="en-US" sz="1600" b="1" i="1">
                  <a:solidFill>
                    <a:srgbClr val="D6E3BC"/>
                  </a:solidFill>
                </a:endParaRPr>
              </a:p>
            </p:txBody>
          </p:sp>
        </p:grpSp>
        <p:pic>
          <p:nvPicPr>
            <p:cNvPr id="21" name="Picture 20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A77160E5-15FF-60A1-BDC7-13413318F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1275" y="4383408"/>
              <a:ext cx="4605406" cy="233025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ECF434C-FDBE-13C0-D774-2EC2DB802D23}"/>
                </a:ext>
              </a:extLst>
            </p:cNvPr>
            <p:cNvSpPr txBox="1"/>
            <p:nvPr/>
          </p:nvSpPr>
          <p:spPr>
            <a:xfrm>
              <a:off x="53297" y="4436458"/>
              <a:ext cx="7447605" cy="58477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600" b="1" i="1" dirty="0">
                  <a:solidFill>
                    <a:srgbClr val="114889"/>
                  </a:solidFill>
                  <a:latin typeface="Arial"/>
                  <a:cs typeface="Arial"/>
                </a:rPr>
                <a:t>The NHS App has an ambitious vision to go beyond being “the NHS front door” and become a healthcare companion. 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BFE2F9D-D3DD-8372-99B1-0751E6A3860C}"/>
                </a:ext>
              </a:extLst>
            </p:cNvPr>
            <p:cNvSpPr txBox="1"/>
            <p:nvPr/>
          </p:nvSpPr>
          <p:spPr>
            <a:xfrm>
              <a:off x="55085" y="5228422"/>
              <a:ext cx="7234408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600" b="1" i="1" baseline="0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At the core of </a:t>
              </a:r>
              <a:r>
                <a:rPr lang="en-GB" sz="1600" b="1" i="1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new home-based pathways will be </a:t>
              </a:r>
              <a:r>
                <a:rPr lang="en-GB" sz="1600" b="1" i="1" baseline="0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health and wellness services, spanning digital diagnostics,</a:t>
              </a:r>
              <a:r>
                <a:rPr lang="en-GB" sz="1600" b="1" i="1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 </a:t>
              </a:r>
              <a:r>
                <a:rPr lang="en-GB" sz="1600" b="1" i="1" baseline="0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home blood testing, digital therapeutics, bio-marker monitoring, 3</a:t>
              </a:r>
              <a:r>
                <a:rPr lang="en-GB" sz="1600" b="1" i="1" baseline="30000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rd</a:t>
              </a:r>
              <a:r>
                <a:rPr lang="en-GB" sz="1600" b="1" i="1" baseline="0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 party-Apps and AI coaches</a:t>
              </a:r>
              <a:r>
                <a:rPr lang="en-GB" sz="1600" b="1" i="1" dirty="0">
                  <a:solidFill>
                    <a:srgbClr val="114889"/>
                  </a:solidFill>
                  <a:latin typeface="Arial"/>
                  <a:ea typeface="Segoe UI"/>
                  <a:cs typeface="Arial"/>
                </a:rPr>
                <a:t>....</a:t>
              </a:r>
              <a:endParaRPr lang="en-US" sz="1600" b="1" i="1">
                <a:solidFill>
                  <a:srgbClr val="114889"/>
                </a:solidFill>
                <a:latin typeface="Arial"/>
                <a:cs typeface="Arial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32EE5C-32B0-D3BA-780F-CFA191CB05A8}"/>
                </a:ext>
              </a:extLst>
            </p:cNvPr>
            <p:cNvSpPr txBox="1"/>
            <p:nvPr/>
          </p:nvSpPr>
          <p:spPr>
            <a:xfrm>
              <a:off x="1193494" y="6192397"/>
              <a:ext cx="6096000" cy="61555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sz="1600" b="1" i="1" dirty="0">
                  <a:solidFill>
                    <a:srgbClr val="114889"/>
                  </a:solidFill>
                  <a:latin typeface="Arial"/>
                  <a:ea typeface="Segoe UI"/>
                  <a:cs typeface="Segoe UI"/>
                </a:rPr>
                <a:t>All made</a:t>
              </a:r>
              <a:r>
                <a:rPr lang="en-GB" sz="1600" b="1" i="1" baseline="0" dirty="0">
                  <a:solidFill>
                    <a:srgbClr val="114889"/>
                  </a:solidFill>
                  <a:latin typeface="Arial"/>
                  <a:ea typeface="Segoe UI"/>
                  <a:cs typeface="Segoe UI"/>
                </a:rPr>
                <a:t> possible by a Personal Health Record​</a:t>
              </a:r>
              <a:r>
                <a:rPr sz="1600" dirty="0">
                  <a:solidFill>
                    <a:srgbClr val="114889"/>
                  </a:solidFill>
                  <a:latin typeface="Arial"/>
                  <a:ea typeface="Arial"/>
                  <a:cs typeface="Arial"/>
                </a:rPr>
                <a:t>​</a:t>
              </a:r>
              <a:endParaRPr lang="en-GB" dirty="0">
                <a:solidFill>
                  <a:srgbClr val="114889"/>
                </a:solidFill>
                <a:cs typeface="Arial"/>
              </a:endParaRPr>
            </a:p>
            <a:p>
              <a:pPr algn="ctr"/>
              <a:endParaRPr lang="en-GB" dirty="0">
                <a:solidFill>
                  <a:srgbClr val="114889"/>
                </a:solidFill>
                <a:cs typeface="Arial"/>
              </a:endParaRPr>
            </a:p>
          </p:txBody>
        </p:sp>
        <p:pic>
          <p:nvPicPr>
            <p:cNvPr id="4" name="Picture 3" descr="A close up of a watch&#10;&#10;AI-generated content may be incorrect.">
              <a:extLst>
                <a:ext uri="{FF2B5EF4-FFF2-40B4-BE49-F238E27FC236}">
                  <a16:creationId xmlns:a16="http://schemas.microsoft.com/office/drawing/2014/main" id="{E4962CB7-5EC5-FA61-823D-9828BBD6C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56281" y="5644766"/>
              <a:ext cx="1178232" cy="11687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29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4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8CF9D0-671A-1CEA-AB75-96431962B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8408" y="1013455"/>
            <a:ext cx="5309406" cy="2172988"/>
          </a:xfrm>
        </p:spPr>
        <p:txBody>
          <a:bodyPr lIns="91440" tIns="45720" rIns="91440" bIns="45720" anchor="t"/>
          <a:lstStyle/>
          <a:p>
            <a:pPr algn="l"/>
            <a:r>
              <a:rPr lang="en-GB" b="1" dirty="0">
                <a:solidFill>
                  <a:schemeClr val="bg1"/>
                </a:solidFill>
                <a:latin typeface="Aptos"/>
              </a:rPr>
              <a:t>Sickness to Prevention </a:t>
            </a:r>
          </a:p>
          <a:p>
            <a:pPr marL="342900" indent="-342900" algn="l"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Early warning signals</a:t>
            </a:r>
          </a:p>
          <a:p>
            <a:pPr marL="342900" indent="-342900" algn="l"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Risk detection at scale</a:t>
            </a:r>
            <a:endParaRPr lang="en-GB" sz="1800" dirty="0">
              <a:solidFill>
                <a:srgbClr val="00B0F0"/>
              </a:solidFill>
              <a:latin typeface="Aptos" panose="020B0004020202020204" pitchFamily="34" charset="0"/>
            </a:endParaRPr>
          </a:p>
          <a:p>
            <a:pPr marL="342900" indent="-342900" algn="l"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Behavioural nudges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2EE606-8AB7-DD0E-2989-C15AD30B0B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0" t="25888" r="55884" b="45978"/>
          <a:stretch>
            <a:fillRect/>
          </a:stretch>
        </p:blipFill>
        <p:spPr bwMode="auto">
          <a:xfrm>
            <a:off x="3916551" y="3184962"/>
            <a:ext cx="1715264" cy="1335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948651-AB10-152B-AD81-BE6C8FB2F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59" t="23127" r="25642" b="47260"/>
          <a:stretch>
            <a:fillRect/>
          </a:stretch>
        </p:blipFill>
        <p:spPr bwMode="auto">
          <a:xfrm>
            <a:off x="7034509" y="5108820"/>
            <a:ext cx="1352583" cy="1343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87FA077-FC00-18DA-1AC7-85F0DFA1F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6" t="47643" r="41093" b="28469"/>
          <a:stretch>
            <a:fillRect/>
          </a:stretch>
        </p:blipFill>
        <p:spPr bwMode="auto">
          <a:xfrm>
            <a:off x="816875" y="1455842"/>
            <a:ext cx="1647092" cy="1335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58E706A-A73D-1D44-8815-25E066E3F1C9}"/>
              </a:ext>
            </a:extLst>
          </p:cNvPr>
          <p:cNvSpPr txBox="1">
            <a:spLocks/>
          </p:cNvSpPr>
          <p:nvPr/>
        </p:nvSpPr>
        <p:spPr>
          <a:xfrm>
            <a:off x="5761872" y="2846296"/>
            <a:ext cx="5965572" cy="1675571"/>
          </a:xfr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>
                <a:solidFill>
                  <a:schemeClr val="bg1"/>
                </a:solidFill>
                <a:latin typeface="Aptos"/>
              </a:rPr>
              <a:t>Hospital to Community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>
                <a:solidFill>
                  <a:schemeClr val="bg1"/>
                </a:solidFill>
                <a:latin typeface="Aptos"/>
              </a:rPr>
              <a:t>Remote monitoring &amp; management</a:t>
            </a:r>
            <a:endParaRPr lang="en-GB" sz="180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>
                <a:solidFill>
                  <a:schemeClr val="bg1"/>
                </a:solidFill>
                <a:latin typeface="Aptos"/>
              </a:rPr>
              <a:t>Care at home and in neighbourhood settings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>
                <a:solidFill>
                  <a:schemeClr val="bg1"/>
                </a:solidFill>
                <a:latin typeface="Aptos"/>
              </a:rPr>
              <a:t>Lower burden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9560A2-6796-DBD9-3F4D-C0D09F5DA618}"/>
              </a:ext>
            </a:extLst>
          </p:cNvPr>
          <p:cNvSpPr txBox="1">
            <a:spLocks/>
          </p:cNvSpPr>
          <p:nvPr/>
        </p:nvSpPr>
        <p:spPr>
          <a:xfrm>
            <a:off x="8657573" y="4917109"/>
            <a:ext cx="4216601" cy="1343206"/>
          </a:xfr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800" b="1" dirty="0">
                <a:solidFill>
                  <a:schemeClr val="bg1"/>
                </a:solidFill>
                <a:latin typeface="Aptos"/>
              </a:rPr>
              <a:t>Analogue to Digital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Automated data capture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Real time health insights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sz="1800" dirty="0">
                <a:solidFill>
                  <a:schemeClr val="bg1"/>
                </a:solidFill>
                <a:latin typeface="Aptos"/>
              </a:rPr>
              <a:t>Personalised digital guidance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CF88075-164B-5315-36F3-8688BD7D7406}"/>
              </a:ext>
            </a:extLst>
          </p:cNvPr>
          <p:cNvSpPr txBox="1">
            <a:spLocks/>
          </p:cNvSpPr>
          <p:nvPr/>
        </p:nvSpPr>
        <p:spPr>
          <a:xfrm>
            <a:off x="218624" y="100542"/>
            <a:ext cx="6304240" cy="818322"/>
          </a:xfr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4000" b="1">
                <a:solidFill>
                  <a:srgbClr val="00B0F0"/>
                </a:solidFill>
                <a:latin typeface="Aptos"/>
              </a:rPr>
              <a:t>The Three Big Shifts</a:t>
            </a:r>
            <a:endParaRPr lang="en-GB" sz="4000">
              <a:solidFill>
                <a:srgbClr val="00B0F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9258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618C-3A9B-83DD-7E34-98DDCE7D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can we measure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AC455A-AC09-DC4B-3F47-382C3CD32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425" y="648411"/>
            <a:ext cx="8916680" cy="60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7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1E1A5-280C-E108-299A-9622145C7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DE599D-44AC-51E2-166C-6CBCA61BF4CD}"/>
              </a:ext>
            </a:extLst>
          </p:cNvPr>
          <p:cNvSpPr/>
          <p:nvPr/>
        </p:nvSpPr>
        <p:spPr>
          <a:xfrm>
            <a:off x="488165" y="2687904"/>
            <a:ext cx="11288993" cy="170447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97E5C7D-9EF8-0FF1-A07F-6F9DDF3BAC77}"/>
              </a:ext>
            </a:extLst>
          </p:cNvPr>
          <p:cNvGraphicFramePr>
            <a:graphicFrameLocks noGrp="1"/>
          </p:cNvGraphicFramePr>
          <p:nvPr/>
        </p:nvGraphicFramePr>
        <p:xfrm>
          <a:off x="880554" y="4461491"/>
          <a:ext cx="10579877" cy="94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411">
                  <a:extLst>
                    <a:ext uri="{9D8B030D-6E8A-4147-A177-3AD203B41FA5}">
                      <a16:colId xmlns:a16="http://schemas.microsoft.com/office/drawing/2014/main" val="1690419145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4067641738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2224397990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2597231732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3324147469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2835448980"/>
                    </a:ext>
                  </a:extLst>
                </a:gridCol>
                <a:gridCol w="1511411">
                  <a:extLst>
                    <a:ext uri="{9D8B030D-6E8A-4147-A177-3AD203B41FA5}">
                      <a16:colId xmlns:a16="http://schemas.microsoft.com/office/drawing/2014/main" val="402215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Visualisation &amp;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Insight &amp; 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Action planning </a:t>
                      </a:r>
                    </a:p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&amp;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Individual impact &amp; 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Health, NHS productivity &amp; economic outcomes</a:t>
                      </a:r>
                    </a:p>
                  </a:txBody>
                  <a:tcPr marL="36000" marR="36000"/>
                </a:tc>
                <a:extLst>
                  <a:ext uri="{0D108BD9-81ED-4DB2-BD59-A6C34878D82A}">
                    <a16:rowId xmlns:a16="http://schemas.microsoft.com/office/drawing/2014/main" val="2592674428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88B40A97-B613-1DD8-985D-D91CF6768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1628" y="3254931"/>
            <a:ext cx="642189" cy="64218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B8E1219-93D0-6DA3-521F-52BD0E0C8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83572" y="3312466"/>
            <a:ext cx="601932" cy="6019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2D5ACB-44A9-AA60-B6A1-B7EFFF1DE3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9941" y="3265475"/>
            <a:ext cx="621105" cy="62110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0EBC22D-FFF4-7C6D-35FC-1E35F901F2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52266" y="3240051"/>
            <a:ext cx="621105" cy="62110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2E6F7D3-B61D-1AE9-1FCD-DA7BA14FB7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7280" y="3176815"/>
            <a:ext cx="798423" cy="798423"/>
          </a:xfrm>
          <a:prstGeom prst="rect">
            <a:avLst/>
          </a:prstGeom>
        </p:spPr>
      </p:pic>
      <p:pic>
        <p:nvPicPr>
          <p:cNvPr id="3" name="Graphic 2" descr="Watch with solid fill">
            <a:extLst>
              <a:ext uri="{FF2B5EF4-FFF2-40B4-BE49-F238E27FC236}">
                <a16:creationId xmlns:a16="http://schemas.microsoft.com/office/drawing/2014/main" id="{7BC36D19-74B7-E447-426D-1C8A399D62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06182" y="3265475"/>
            <a:ext cx="643869" cy="643869"/>
          </a:xfrm>
          <a:prstGeom prst="rect">
            <a:avLst/>
          </a:prstGeom>
        </p:spPr>
      </p:pic>
      <p:pic>
        <p:nvPicPr>
          <p:cNvPr id="7" name="Graphic 6" descr="Heart with pulse with solid fill">
            <a:extLst>
              <a:ext uri="{FF2B5EF4-FFF2-40B4-BE49-F238E27FC236}">
                <a16:creationId xmlns:a16="http://schemas.microsoft.com/office/drawing/2014/main" id="{BD8E8ED8-932A-805E-81C0-4E457471E97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214665" y="3196944"/>
            <a:ext cx="798424" cy="7984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6BEA56-89AF-B666-FB55-C01442A9A9DD}"/>
              </a:ext>
            </a:extLst>
          </p:cNvPr>
          <p:cNvSpPr txBox="1"/>
          <p:nvPr/>
        </p:nvSpPr>
        <p:spPr>
          <a:xfrm>
            <a:off x="488165" y="416688"/>
            <a:ext cx="8344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The “wearables” value chain (An NHS perspective)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1BD2E87-619B-EE87-9727-BBDD44BFA9F1}"/>
              </a:ext>
            </a:extLst>
          </p:cNvPr>
          <p:cNvCxnSpPr>
            <a:cxnSpLocks/>
          </p:cNvCxnSpPr>
          <p:nvPr/>
        </p:nvCxnSpPr>
        <p:spPr>
          <a:xfrm>
            <a:off x="1495514" y="2445314"/>
            <a:ext cx="9391828" cy="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914E27F-BC45-E30A-CA41-47D837090AB6}"/>
              </a:ext>
            </a:extLst>
          </p:cNvPr>
          <p:cNvSpPr txBox="1"/>
          <p:nvPr/>
        </p:nvSpPr>
        <p:spPr>
          <a:xfrm>
            <a:off x="522076" y="1017318"/>
            <a:ext cx="11066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+mn-cs"/>
              </a:rPr>
              <a:t>The logic model below provides a high-level summary of the flow of value from devices, all the way through to the NHS’ ultimate objective of improving healthcare outcomes. </a:t>
            </a:r>
          </a:p>
        </p:txBody>
      </p:sp>
    </p:spTree>
    <p:extLst>
      <p:ext uri="{BB962C8B-B14F-4D97-AF65-F5344CB8AC3E}">
        <p14:creationId xmlns:p14="http://schemas.microsoft.com/office/powerpoint/2010/main" val="176388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E781C-1C69-3D5C-A339-F08CE5CC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AC238A-A4B5-9D26-4F53-688EF19651E1}"/>
              </a:ext>
            </a:extLst>
          </p:cNvPr>
          <p:cNvSpPr/>
          <p:nvPr/>
        </p:nvSpPr>
        <p:spPr>
          <a:xfrm>
            <a:off x="572226" y="2699013"/>
            <a:ext cx="11119774" cy="167892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00640">
              <a:defRPr/>
            </a:pPr>
            <a:endParaRPr lang="en-US" sz="1773">
              <a:solidFill>
                <a:srgbClr val="231F20"/>
              </a:solidFill>
              <a:latin typeface="Arial" panose="020B0604020202020204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B34054A-DBBD-7C3A-F227-9AE62FE17281}"/>
              </a:ext>
            </a:extLst>
          </p:cNvPr>
          <p:cNvGraphicFramePr>
            <a:graphicFrameLocks noGrp="1"/>
          </p:cNvGraphicFramePr>
          <p:nvPr/>
        </p:nvGraphicFramePr>
        <p:xfrm>
          <a:off x="958733" y="4446015"/>
          <a:ext cx="10421285" cy="9435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8755">
                  <a:extLst>
                    <a:ext uri="{9D8B030D-6E8A-4147-A177-3AD203B41FA5}">
                      <a16:colId xmlns:a16="http://schemas.microsoft.com/office/drawing/2014/main" val="1690419145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4067641738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2224397990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2597231732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3324147469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2835448980"/>
                    </a:ext>
                  </a:extLst>
                </a:gridCol>
                <a:gridCol w="1488755">
                  <a:extLst>
                    <a:ext uri="{9D8B030D-6E8A-4147-A177-3AD203B41FA5}">
                      <a16:colId xmlns:a16="http://schemas.microsoft.com/office/drawing/2014/main" val="402215551"/>
                    </a:ext>
                  </a:extLst>
                </a:gridCol>
              </a:tblGrid>
              <a:tr h="939758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Device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Data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Visualisation &amp; understanding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Insight &amp; education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Action planning </a:t>
                      </a:r>
                    </a:p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&amp; tracking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Individual impact &amp; reward</a:t>
                      </a:r>
                    </a:p>
                  </a:txBody>
                  <a:tcPr marL="90070" marR="90070" marT="45034" marB="450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>
                          <a:solidFill>
                            <a:schemeClr val="bg1"/>
                          </a:solidFill>
                          <a:latin typeface="Aptos Light" panose="020B0004020202020204" pitchFamily="34" charset="0"/>
                        </a:rPr>
                        <a:t>Health, NHS productivity &amp; economic outcomes</a:t>
                      </a:r>
                    </a:p>
                  </a:txBody>
                  <a:tcPr marL="35460" marR="35460" marT="45034" marB="45034"/>
                </a:tc>
                <a:extLst>
                  <a:ext uri="{0D108BD9-81ED-4DB2-BD59-A6C34878D82A}">
                    <a16:rowId xmlns:a16="http://schemas.microsoft.com/office/drawing/2014/main" val="2592674428"/>
                  </a:ext>
                </a:extLst>
              </a:tr>
            </a:tbl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BB8D8F31-FFC8-FD9D-9C8C-76C721455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28527" y="3257541"/>
            <a:ext cx="632563" cy="63256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4070812-B69B-9426-FB08-71E99130F9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3224" y="3314213"/>
            <a:ext cx="592910" cy="5929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01837E0-697D-E6D5-0AE2-A109451D87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3481" y="3267928"/>
            <a:ext cx="611794" cy="61179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59131D1-5091-062C-DCEB-BC579338E4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33436" y="3242885"/>
            <a:ext cx="611794" cy="61179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E02A0C-56B9-E448-2234-F8686C0743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17389" y="3180596"/>
            <a:ext cx="786455" cy="786455"/>
          </a:xfrm>
          <a:prstGeom prst="rect">
            <a:avLst/>
          </a:prstGeom>
        </p:spPr>
      </p:pic>
      <p:pic>
        <p:nvPicPr>
          <p:cNvPr id="3" name="Graphic 2" descr="Watch with solid fill">
            <a:extLst>
              <a:ext uri="{FF2B5EF4-FFF2-40B4-BE49-F238E27FC236}">
                <a16:creationId xmlns:a16="http://schemas.microsoft.com/office/drawing/2014/main" id="{7907F9C2-EE0B-1375-2DC0-C3F67CDAA1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77981" y="3267927"/>
            <a:ext cx="634218" cy="634218"/>
          </a:xfrm>
          <a:prstGeom prst="rect">
            <a:avLst/>
          </a:prstGeom>
        </p:spPr>
      </p:pic>
      <p:pic>
        <p:nvPicPr>
          <p:cNvPr id="7" name="Graphic 6" descr="Heart with pulse with solid fill">
            <a:extLst>
              <a:ext uri="{FF2B5EF4-FFF2-40B4-BE49-F238E27FC236}">
                <a16:creationId xmlns:a16="http://schemas.microsoft.com/office/drawing/2014/main" id="{E0DB1880-A59D-D080-5AFF-D16C8C205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52927" y="3200423"/>
            <a:ext cx="786456" cy="786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AE98E8-3DFB-406B-F41E-BF2156B04AD1}"/>
              </a:ext>
            </a:extLst>
          </p:cNvPr>
          <p:cNvSpPr txBox="1"/>
          <p:nvPr/>
        </p:nvSpPr>
        <p:spPr>
          <a:xfrm>
            <a:off x="572226" y="461843"/>
            <a:ext cx="9731447" cy="5167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00640"/>
            <a:r>
              <a:rPr lang="en-US" sz="2758" b="1">
                <a:solidFill>
                  <a:srgbClr val="FFFFFF"/>
                </a:solidFill>
                <a:latin typeface="Aptos" panose="020B0004020202020204" pitchFamily="34" charset="0"/>
              </a:rPr>
              <a:t>What challenges might we need to address to unlock value?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6FE7C-D895-E19F-3AA1-24DD8936335B}"/>
              </a:ext>
            </a:extLst>
          </p:cNvPr>
          <p:cNvSpPr txBox="1"/>
          <p:nvPr/>
        </p:nvSpPr>
        <p:spPr>
          <a:xfrm>
            <a:off x="1462137" y="1341100"/>
            <a:ext cx="1052212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Proprietary Algorithms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37B89-A7F8-1078-9829-8E27913F2973}"/>
              </a:ext>
            </a:extLst>
          </p:cNvPr>
          <p:cNvSpPr txBox="1"/>
          <p:nvPr/>
        </p:nvSpPr>
        <p:spPr>
          <a:xfrm>
            <a:off x="624659" y="1776878"/>
            <a:ext cx="1052211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Device Usability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49F4C-8A4C-41AC-3309-501EDC4CB085}"/>
              </a:ext>
            </a:extLst>
          </p:cNvPr>
          <p:cNvSpPr txBox="1"/>
          <p:nvPr/>
        </p:nvSpPr>
        <p:spPr>
          <a:xfrm>
            <a:off x="3696732" y="1983794"/>
            <a:ext cx="1470110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Mobile Health Data Aggregator APIs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45380B-2D75-EAE2-F4A8-F8B8FC96F521}"/>
              </a:ext>
            </a:extLst>
          </p:cNvPr>
          <p:cNvSpPr txBox="1"/>
          <p:nvPr/>
        </p:nvSpPr>
        <p:spPr>
          <a:xfrm>
            <a:off x="4139418" y="1031277"/>
            <a:ext cx="1344638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Proprietary Smartphone Visualisations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D1A13A-9F52-B422-2926-095176B30DA2}"/>
              </a:ext>
            </a:extLst>
          </p:cNvPr>
          <p:cNvSpPr txBox="1"/>
          <p:nvPr/>
        </p:nvSpPr>
        <p:spPr>
          <a:xfrm>
            <a:off x="5346848" y="1293972"/>
            <a:ext cx="1113805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Misleading information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49958-DD77-F223-A495-A0B3937A2D16}"/>
              </a:ext>
            </a:extLst>
          </p:cNvPr>
          <p:cNvSpPr txBox="1"/>
          <p:nvPr/>
        </p:nvSpPr>
        <p:spPr>
          <a:xfrm>
            <a:off x="8978008" y="1406252"/>
            <a:ext cx="1344636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Built-in vs assuring 3P  behavioral science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25096-0799-63DC-BC5A-DB2887D102AE}"/>
              </a:ext>
            </a:extLst>
          </p:cNvPr>
          <p:cNvSpPr txBox="1"/>
          <p:nvPr/>
        </p:nvSpPr>
        <p:spPr>
          <a:xfrm>
            <a:off x="6276876" y="1329982"/>
            <a:ext cx="1344636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00640"/>
            <a:r>
              <a:rPr lang="en-US" sz="1576" dirty="0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HCP support required to build/maintain plan?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7A9B0-9687-F43B-7FD1-6A21D8084788}"/>
              </a:ext>
            </a:extLst>
          </p:cNvPr>
          <p:cNvSpPr txBox="1"/>
          <p:nvPr/>
        </p:nvSpPr>
        <p:spPr>
          <a:xfrm>
            <a:off x="8004393" y="1697017"/>
            <a:ext cx="1208217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Funding incentive schemes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A80D0D-61D3-7B38-05D4-3146C4641E97}"/>
              </a:ext>
            </a:extLst>
          </p:cNvPr>
          <p:cNvSpPr txBox="1"/>
          <p:nvPr/>
        </p:nvSpPr>
        <p:spPr>
          <a:xfrm>
            <a:off x="7764662" y="1045299"/>
            <a:ext cx="1208217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Pathway transformation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87C532-AEB5-2459-3B09-1099F22C84D7}"/>
              </a:ext>
            </a:extLst>
          </p:cNvPr>
          <p:cNvSpPr txBox="1"/>
          <p:nvPr/>
        </p:nvSpPr>
        <p:spPr>
          <a:xfrm>
            <a:off x="10404606" y="1420329"/>
            <a:ext cx="1344636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Who will evaluate the clinical and economic outcomes?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A60CDD-A1B2-819C-5202-652F71236BB0}"/>
              </a:ext>
            </a:extLst>
          </p:cNvPr>
          <p:cNvSpPr txBox="1"/>
          <p:nvPr/>
        </p:nvSpPr>
        <p:spPr>
          <a:xfrm>
            <a:off x="2568868" y="1205823"/>
            <a:ext cx="1350562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Source &amp; Device Metadata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F74A60-F4A4-C141-E90E-CE3872A6A77C}"/>
              </a:ext>
            </a:extLst>
          </p:cNvPr>
          <p:cNvSpPr txBox="1"/>
          <p:nvPr/>
        </p:nvSpPr>
        <p:spPr>
          <a:xfrm>
            <a:off x="551212" y="1260363"/>
            <a:ext cx="900694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Accuracy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AF0D47-5EC7-40E6-57D8-A48961F85184}"/>
              </a:ext>
            </a:extLst>
          </p:cNvPr>
          <p:cNvSpPr txBox="1"/>
          <p:nvPr/>
        </p:nvSpPr>
        <p:spPr>
          <a:xfrm>
            <a:off x="374990" y="5619554"/>
            <a:ext cx="639844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Cost &amp; Access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071D7B-E8AC-9E0E-470B-C54C1E517A33}"/>
              </a:ext>
            </a:extLst>
          </p:cNvPr>
          <p:cNvSpPr txBox="1"/>
          <p:nvPr/>
        </p:nvSpPr>
        <p:spPr>
          <a:xfrm>
            <a:off x="2166444" y="5584399"/>
            <a:ext cx="998664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Direct integrations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26B4F2-CCA6-D6CD-42B4-C52801F8B4F8}"/>
              </a:ext>
            </a:extLst>
          </p:cNvPr>
          <p:cNvSpPr txBox="1"/>
          <p:nvPr/>
        </p:nvSpPr>
        <p:spPr>
          <a:xfrm>
            <a:off x="1172950" y="5816947"/>
            <a:ext cx="1052212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Health Inequalities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B4579B-079D-1F77-2631-C9700091F9B9}"/>
              </a:ext>
            </a:extLst>
          </p:cNvPr>
          <p:cNvSpPr txBox="1"/>
          <p:nvPr/>
        </p:nvSpPr>
        <p:spPr>
          <a:xfrm>
            <a:off x="6276876" y="5765566"/>
            <a:ext cx="1113805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AI Coach regulation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192737-3033-6ACE-E3D2-CE3812CD1E58}"/>
              </a:ext>
            </a:extLst>
          </p:cNvPr>
          <p:cNvSpPr txBox="1"/>
          <p:nvPr/>
        </p:nvSpPr>
        <p:spPr>
          <a:xfrm>
            <a:off x="7299892" y="5373991"/>
            <a:ext cx="1237724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Build/buy/ integrate AI Coach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586074-5481-5493-26C4-26C36B1E0CED}"/>
              </a:ext>
            </a:extLst>
          </p:cNvPr>
          <p:cNvSpPr txBox="1"/>
          <p:nvPr/>
        </p:nvSpPr>
        <p:spPr>
          <a:xfrm>
            <a:off x="3090707" y="5223986"/>
            <a:ext cx="843373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Public and Clinical trust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99CE2-1FE9-AF7E-5411-3395C3B333AA}"/>
              </a:ext>
            </a:extLst>
          </p:cNvPr>
          <p:cNvSpPr txBox="1"/>
          <p:nvPr/>
        </p:nvSpPr>
        <p:spPr>
          <a:xfrm>
            <a:off x="5305835" y="5295115"/>
            <a:ext cx="1472080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Making information contextual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06D9-C27A-E20B-6138-29F920DD6C1F}"/>
              </a:ext>
            </a:extLst>
          </p:cNvPr>
          <p:cNvSpPr txBox="1"/>
          <p:nvPr/>
        </p:nvSpPr>
        <p:spPr>
          <a:xfrm>
            <a:off x="3850269" y="5925182"/>
            <a:ext cx="1472080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NHS Visualisations vs 3P – why NHS?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E7F99B-E35E-EC10-2A1E-C05568C2362D}"/>
              </a:ext>
            </a:extLst>
          </p:cNvPr>
          <p:cNvSpPr txBox="1"/>
          <p:nvPr/>
        </p:nvSpPr>
        <p:spPr>
          <a:xfrm>
            <a:off x="10298429" y="5619554"/>
            <a:ext cx="1640794" cy="1062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Do wearables make a demonstrable, material, marginal difference?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694E48-F05A-3332-0E97-BE2130F1D2E7}"/>
              </a:ext>
            </a:extLst>
          </p:cNvPr>
          <p:cNvSpPr txBox="1"/>
          <p:nvPr/>
        </p:nvSpPr>
        <p:spPr>
          <a:xfrm>
            <a:off x="8606506" y="5555127"/>
            <a:ext cx="1344636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How are benefits sustained over time?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F73CC-8FC5-548B-1F0B-38E335AE93F1}"/>
              </a:ext>
            </a:extLst>
          </p:cNvPr>
          <p:cNvSpPr txBox="1"/>
          <p:nvPr/>
        </p:nvSpPr>
        <p:spPr>
          <a:xfrm>
            <a:off x="491506" y="4891938"/>
            <a:ext cx="1449514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Defining &amp; categorising devices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D156B1-8CFF-C082-38A7-536A089FEB0C}"/>
              </a:ext>
            </a:extLst>
          </p:cNvPr>
          <p:cNvSpPr txBox="1"/>
          <p:nvPr/>
        </p:nvSpPr>
        <p:spPr>
          <a:xfrm>
            <a:off x="2153186" y="4748635"/>
            <a:ext cx="1041085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Device regulation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FD47F-E82C-A802-7078-FD2F3CDE05A2}"/>
              </a:ext>
            </a:extLst>
          </p:cNvPr>
          <p:cNvSpPr txBox="1"/>
          <p:nvPr/>
        </p:nvSpPr>
        <p:spPr>
          <a:xfrm>
            <a:off x="4182221" y="5013068"/>
            <a:ext cx="843373" cy="81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>
                <a:solidFill>
                  <a:srgbClr val="005EB8">
                    <a:lumMod val="20000"/>
                    <a:lumOff val="80000"/>
                  </a:srgbClr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Clinical system switching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3FA8EC-CCFA-3D28-C932-B67586DDBEB3}"/>
              </a:ext>
            </a:extLst>
          </p:cNvPr>
          <p:cNvSpPr txBox="1"/>
          <p:nvPr/>
        </p:nvSpPr>
        <p:spPr>
          <a:xfrm>
            <a:off x="1606524" y="2020056"/>
            <a:ext cx="2001172" cy="57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Mismatch between product and NHS use case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E869EF-227C-351F-4E08-542370BDE719}"/>
              </a:ext>
            </a:extLst>
          </p:cNvPr>
          <p:cNvSpPr txBox="1"/>
          <p:nvPr/>
        </p:nvSpPr>
        <p:spPr>
          <a:xfrm>
            <a:off x="5424249" y="2143735"/>
            <a:ext cx="1470110" cy="334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00640"/>
            <a:r>
              <a:rPr lang="en-US" sz="1576" dirty="0">
                <a:solidFill>
                  <a:srgbClr val="FFFF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</a:rPr>
              <a:t>Siloed data </a:t>
            </a:r>
          </a:p>
        </p:txBody>
      </p:sp>
    </p:spTree>
    <p:extLst>
      <p:ext uri="{BB962C8B-B14F-4D97-AF65-F5344CB8AC3E}">
        <p14:creationId xmlns:p14="http://schemas.microsoft.com/office/powerpoint/2010/main" val="352180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E2884-7577-A8A2-640F-9BCE39A8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32086-16DF-7C5F-DA71-4047B6266BF9}"/>
              </a:ext>
            </a:extLst>
          </p:cNvPr>
          <p:cNvSpPr txBox="1"/>
          <p:nvPr/>
        </p:nvSpPr>
        <p:spPr>
          <a:xfrm>
            <a:off x="349976" y="306163"/>
            <a:ext cx="5960414" cy="51552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defTabSz="900640">
              <a:defRPr/>
            </a:pPr>
            <a:r>
              <a:rPr lang="en-US" sz="2750" b="1" dirty="0">
                <a:solidFill>
                  <a:srgbClr val="FFFFFF"/>
                </a:solidFill>
                <a:latin typeface="Aptos"/>
              </a:rPr>
              <a:t>Unlocking better outcomes together</a:t>
            </a:r>
            <a:endParaRPr lang="en-US" dirty="0">
              <a:ea typeface="+mn-ea"/>
              <a:cs typeface="+mn-cs"/>
            </a:endParaRPr>
          </a:p>
        </p:txBody>
      </p:sp>
      <p:pic>
        <p:nvPicPr>
          <p:cNvPr id="5" name="Picture 4" descr="An older person measuring blood pressure&#10;&#10;AI-generated content may be incorrect.">
            <a:extLst>
              <a:ext uri="{FF2B5EF4-FFF2-40B4-BE49-F238E27FC236}">
                <a16:creationId xmlns:a16="http://schemas.microsoft.com/office/drawing/2014/main" id="{4F867FF7-FA84-3C61-A145-E6ECF401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50" y="963083"/>
            <a:ext cx="7373901" cy="5672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441BEE-7BEF-E2AE-0C7E-B4916E186969}"/>
              </a:ext>
            </a:extLst>
          </p:cNvPr>
          <p:cNvSpPr txBox="1"/>
          <p:nvPr/>
        </p:nvSpPr>
        <p:spPr>
          <a:xfrm>
            <a:off x="349250" y="1449917"/>
            <a:ext cx="4868333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Wearables can support people </a:t>
            </a:r>
            <a:r>
              <a:rPr lang="en-US" b="1" dirty="0">
                <a:solidFill>
                  <a:srgbClr val="FFC000"/>
                </a:solidFill>
                <a:latin typeface="Arial"/>
                <a:ea typeface="Segoe UI"/>
                <a:cs typeface="Arial"/>
              </a:rPr>
              <a:t>across every stage of care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, from staying healthy to managing high‑acuity conditions</a:t>
            </a:r>
          </a:p>
          <a:p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cs typeface="Arial"/>
            </a:endParaRP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The opportunity spans </a:t>
            </a:r>
            <a:r>
              <a:rPr lang="en-US" b="1" dirty="0">
                <a:solidFill>
                  <a:srgbClr val="FFC000"/>
                </a:solidFill>
                <a:latin typeface="Arial"/>
                <a:ea typeface="Segoe UI"/>
                <a:cs typeface="Arial"/>
              </a:rPr>
              <a:t>prevention, community care, and acute pathways, 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a whole‑system impact.</a:t>
            </a:r>
          </a:p>
          <a:p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ea typeface="Segoe UI"/>
              <a:cs typeface="Arial"/>
            </a:endParaRP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Success relies on </a:t>
            </a:r>
            <a:r>
              <a:rPr lang="en-US" b="1" dirty="0">
                <a:solidFill>
                  <a:srgbClr val="FFC000"/>
                </a:solidFill>
                <a:latin typeface="Arial"/>
                <a:ea typeface="Segoe UI"/>
                <a:cs typeface="Arial"/>
              </a:rPr>
              <a:t>collaboration </a:t>
            </a:r>
            <a:r>
              <a:rPr lang="en-US" dirty="0">
                <a:solidFill>
                  <a:schemeClr val="bg1"/>
                </a:solidFill>
                <a:latin typeface="Arial"/>
                <a:ea typeface="Segoe UI"/>
                <a:cs typeface="Arial"/>
              </a:rPr>
              <a:t>across patients and public, clinicians, industry, academic, NHS teams and many more</a:t>
            </a:r>
          </a:p>
          <a:p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/>
              <a:ea typeface="Segoe UI"/>
              <a:cs typeface="Arial"/>
            </a:endParaRPr>
          </a:p>
          <a:p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The goal:</a:t>
            </a:r>
            <a:r>
              <a:rPr lang="en-US" dirty="0">
                <a:solidFill>
                  <a:schemeClr val="accent5"/>
                </a:solidFill>
                <a:latin typeface="Arial"/>
                <a:ea typeface="Segoe UI"/>
                <a:cs typeface="Arial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Arial"/>
                <a:ea typeface="Segoe UI"/>
                <a:cs typeface="Arial"/>
              </a:rPr>
              <a:t>earlier detection, smarter monitoring, and better outcomes</a:t>
            </a: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/>
                <a:ea typeface="Segoe UI"/>
                <a:cs typeface="Arial"/>
              </a:rPr>
              <a:t> for millions</a:t>
            </a: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cs typeface="Arial"/>
            </a:endParaRPr>
          </a:p>
          <a:p>
            <a:endParaRPr lang="en-US" dirty="0">
              <a:solidFill>
                <a:srgbClr val="99DDEB"/>
              </a:solidFill>
              <a:latin typeface="Arial"/>
              <a:ea typeface="Segoe UI"/>
              <a:cs typeface="Arial"/>
            </a:endParaRPr>
          </a:p>
          <a:p>
            <a:pPr algn="ctr"/>
            <a:endParaRPr lang="en-GB" dirty="0">
              <a:solidFill>
                <a:srgbClr val="99DDEB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3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ECD8D-4005-8E50-38FF-CB1620708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miling while holding a phone&#10;&#10;AI-generated content may be incorrect.">
            <a:extLst>
              <a:ext uri="{FF2B5EF4-FFF2-40B4-BE49-F238E27FC236}">
                <a16:creationId xmlns:a16="http://schemas.microsoft.com/office/drawing/2014/main" id="{DD9ADE35-7D1F-6B38-1DE8-0B5F0FC4F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644" y="-1086669"/>
            <a:ext cx="4171950" cy="52101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6C9667-AEF5-F633-C42A-B880A4DCF429}"/>
              </a:ext>
            </a:extLst>
          </p:cNvPr>
          <p:cNvSpPr txBox="1"/>
          <p:nvPr/>
        </p:nvSpPr>
        <p:spPr>
          <a:xfrm>
            <a:off x="572226" y="461843"/>
            <a:ext cx="7698400" cy="5155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00640">
              <a:defRPr/>
            </a:pPr>
            <a:r>
              <a:rPr kumimoji="0" lang="en-US" sz="2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</a:rPr>
              <a:t>A call to action</a:t>
            </a:r>
            <a:r>
              <a:rPr lang="en-US" sz="2750" b="1" dirty="0">
                <a:solidFill>
                  <a:srgbClr val="FFFFFF"/>
                </a:solidFill>
                <a:latin typeface="Aptos"/>
              </a:rPr>
              <a:t> - complete our survey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D32E92C-C0DE-6A43-B80E-C3A579DBA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6853" y="2880976"/>
            <a:ext cx="2770910" cy="28540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134E2-36CD-700E-6D7D-9B89CBB48716}"/>
              </a:ext>
            </a:extLst>
          </p:cNvPr>
          <p:cNvSpPr txBox="1"/>
          <p:nvPr/>
        </p:nvSpPr>
        <p:spPr>
          <a:xfrm>
            <a:off x="8270011" y="5935902"/>
            <a:ext cx="37745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FFFFFF"/>
                </a:solidFill>
                <a:latin typeface="Arial"/>
                <a:cs typeface="Arial"/>
              </a:rPr>
              <a:t>Your insights will help shape future national policy</a:t>
            </a:r>
          </a:p>
          <a:p>
            <a:pPr algn="ctr"/>
            <a:endParaRPr lang="en-GB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33E9F-6ED7-2AD3-4F2A-DED8E81E14ED}"/>
              </a:ext>
            </a:extLst>
          </p:cNvPr>
          <p:cNvSpPr txBox="1"/>
          <p:nvPr/>
        </p:nvSpPr>
        <p:spPr>
          <a:xfrm>
            <a:off x="1107786" y="3087373"/>
            <a:ext cx="613833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dirty="0">
                <a:solidFill>
                  <a:srgbClr val="FFFFFF"/>
                </a:solidFill>
                <a:latin typeface="Arial"/>
                <a:cs typeface="Arial"/>
              </a:rPr>
              <a:t>The Department of Health and Social Care and NHS England are collaborating with the British Heart Foundation to </a:t>
            </a: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understand: </a:t>
            </a:r>
          </a:p>
          <a:p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the extent to which wearables and connected devices are already in use in cardiovascular clinical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the purposes for which they are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barriers and enablers to national adoption</a:t>
            </a:r>
          </a:p>
          <a:p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 sz="1600" dirty="0">
              <a:solidFill>
                <a:srgbClr val="FFFFFF"/>
              </a:solidFill>
              <a:latin typeface="Arial"/>
              <a:cs typeface="Arial"/>
            </a:endParaRPr>
          </a:p>
          <a:p>
            <a:r>
              <a:rPr lang="en-US" sz="1600" dirty="0">
                <a:solidFill>
                  <a:srgbClr val="FFFFFF"/>
                </a:solidFill>
                <a:latin typeface="Arial"/>
                <a:cs typeface="Arial"/>
              </a:rPr>
              <a:t>Open to February 20th </a:t>
            </a:r>
          </a:p>
        </p:txBody>
      </p:sp>
      <p:pic>
        <p:nvPicPr>
          <p:cNvPr id="8" name="Picture 7" descr="A blue device with a red drop on it&#10;&#10;AI-generated content may be incorrect.">
            <a:extLst>
              <a:ext uri="{FF2B5EF4-FFF2-40B4-BE49-F238E27FC236}">
                <a16:creationId xmlns:a16="http://schemas.microsoft.com/office/drawing/2014/main" id="{54603F47-3279-27B9-A8FC-CCC053FCB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542" y="2035478"/>
            <a:ext cx="768350" cy="757767"/>
          </a:xfrm>
          <a:prstGeom prst="rect">
            <a:avLst/>
          </a:prstGeom>
        </p:spPr>
      </p:pic>
      <p:pic>
        <p:nvPicPr>
          <p:cNvPr id="9" name="Picture 8" descr="A bed with pillows on it&#10;&#10;AI-generated content may be incorrect.">
            <a:extLst>
              <a:ext uri="{FF2B5EF4-FFF2-40B4-BE49-F238E27FC236}">
                <a16:creationId xmlns:a16="http://schemas.microsoft.com/office/drawing/2014/main" id="{95DD805C-1CC5-234A-CD02-17874708A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082" y="2167770"/>
            <a:ext cx="499534" cy="481542"/>
          </a:xfrm>
          <a:prstGeom prst="rect">
            <a:avLst/>
          </a:prstGeom>
        </p:spPr>
      </p:pic>
      <p:pic>
        <p:nvPicPr>
          <p:cNvPr id="10" name="Picture 9" descr="A red drop of blood with a gauge&#10;&#10;AI-generated content may be incorrect.">
            <a:extLst>
              <a:ext uri="{FF2B5EF4-FFF2-40B4-BE49-F238E27FC236}">
                <a16:creationId xmlns:a16="http://schemas.microsoft.com/office/drawing/2014/main" id="{785B5461-19B1-1B6A-8C02-8DEEC1271B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3124" y="2120145"/>
            <a:ext cx="518584" cy="518584"/>
          </a:xfrm>
          <a:prstGeom prst="rect">
            <a:avLst/>
          </a:prstGeom>
        </p:spPr>
      </p:pic>
      <p:pic>
        <p:nvPicPr>
          <p:cNvPr id="11" name="Picture 10" descr="A heart with a pulse line&#10;&#10;AI-generated content may be incorrect.">
            <a:extLst>
              <a:ext uri="{FF2B5EF4-FFF2-40B4-BE49-F238E27FC236}">
                <a16:creationId xmlns:a16="http://schemas.microsoft.com/office/drawing/2014/main" id="{124A92C2-A313-40E8-4BB0-7E922BA470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4083" y="2125437"/>
            <a:ext cx="561975" cy="561975"/>
          </a:xfrm>
          <a:prstGeom prst="rect">
            <a:avLst/>
          </a:prstGeom>
        </p:spPr>
      </p:pic>
      <p:pic>
        <p:nvPicPr>
          <p:cNvPr id="12" name="Picture 11" descr="A red and purple passport with a globe on it&#10;&#10;AI-generated content may be incorrect.">
            <a:extLst>
              <a:ext uri="{FF2B5EF4-FFF2-40B4-BE49-F238E27FC236}">
                <a16:creationId xmlns:a16="http://schemas.microsoft.com/office/drawing/2014/main" id="{A3279831-7C86-1FC7-CF15-51201F5B6B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1876" y="2077811"/>
            <a:ext cx="660400" cy="660400"/>
          </a:xfrm>
          <a:prstGeom prst="rect">
            <a:avLst/>
          </a:prstGeom>
        </p:spPr>
      </p:pic>
      <p:pic>
        <p:nvPicPr>
          <p:cNvPr id="13" name="Picture 12" descr="A profile of a person&amp;#39;s head with a heart and brain&#10;&#10;AI-generated content may be incorrect.">
            <a:extLst>
              <a:ext uri="{FF2B5EF4-FFF2-40B4-BE49-F238E27FC236}">
                <a16:creationId xmlns:a16="http://schemas.microsoft.com/office/drawing/2014/main" id="{A223E12C-9CD0-B304-5F44-5801A8906D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0916" y="2114854"/>
            <a:ext cx="490009" cy="4900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FD2B40-51E8-C714-48D4-FF5AA7E4BCB6}"/>
              </a:ext>
            </a:extLst>
          </p:cNvPr>
          <p:cNvSpPr txBox="1"/>
          <p:nvPr/>
        </p:nvSpPr>
        <p:spPr>
          <a:xfrm>
            <a:off x="1111250" y="1526694"/>
            <a:ext cx="6656916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baseline="0" dirty="0">
                <a:solidFill>
                  <a:srgbClr val="FFFFFF"/>
                </a:solidFill>
                <a:latin typeface="Arial"/>
                <a:ea typeface="Segoe UI"/>
                <a:cs typeface="Arial"/>
              </a:rPr>
              <a:t>Wearables and connected devices in </a:t>
            </a:r>
            <a:r>
              <a:rPr lang="en-US" sz="2000" b="1" dirty="0">
                <a:solidFill>
                  <a:srgbClr val="FFFFFF"/>
                </a:solidFill>
                <a:latin typeface="Arial"/>
                <a:ea typeface="Segoe UI"/>
                <a:cs typeface="Arial"/>
              </a:rPr>
              <a:t>CVD pathways</a:t>
            </a:r>
            <a:endParaRPr lang="en-GB" sz="2000" b="1" dirty="0">
              <a:latin typeface="Arial"/>
              <a:cs typeface="Arial"/>
            </a:endParaRPr>
          </a:p>
          <a:p>
            <a:pPr algn="ctr"/>
            <a:endParaRPr lang="en-GB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972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 England" id="{9A24BB35-EB32-E74A-A58B-B7E67033A9FC}" vid="{37785E14-BDCA-964F-8FB8-17187E8E7FF3}"/>
    </a:ext>
  </a:extLst>
</a:theme>
</file>

<file path=ppt/theme/theme3.xml><?xml version="1.0" encoding="utf-8"?>
<a:theme xmlns:a="http://schemas.openxmlformats.org/drawingml/2006/main" name="5_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 England" id="{9A24BB35-EB32-E74A-A58B-B7E67033A9FC}" vid="{37785E14-BDCA-964F-8FB8-17187E8E7FF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0c77d1-93ed-4f71-8f4c-7998a9530f63">
      <Terms xmlns="http://schemas.microsoft.com/office/infopath/2007/PartnerControls"/>
    </lcf76f155ced4ddcb4097134ff3c332f>
    <TaxCatchAll xmlns="e126fe4f-ea1a-43f6-ac45-2d71a1d6365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0962CCB8CA64AB4DAF2C8B7389621" ma:contentTypeVersion="14" ma:contentTypeDescription="Create a new document." ma:contentTypeScope="" ma:versionID="7e81367a4717fa04ef67bc42e1863c9a">
  <xsd:schema xmlns:xsd="http://www.w3.org/2001/XMLSchema" xmlns:xs="http://www.w3.org/2001/XMLSchema" xmlns:p="http://schemas.microsoft.com/office/2006/metadata/properties" xmlns:ns2="f90c77d1-93ed-4f71-8f4c-7998a9530f63" xmlns:ns3="e126fe4f-ea1a-43f6-ac45-2d71a1d6365f" targetNamespace="http://schemas.microsoft.com/office/2006/metadata/properties" ma:root="true" ma:fieldsID="a5366e670cefc32800cc9fb71569c301" ns2:_="" ns3:_="">
    <xsd:import namespace="f90c77d1-93ed-4f71-8f4c-7998a9530f63"/>
    <xsd:import namespace="e126fe4f-ea1a-43f6-ac45-2d71a1d63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c77d1-93ed-4f71-8f4c-7998a9530f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e4f-ea1a-43f6-ac45-2d71a1d6365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469578-d4c4-43e6-9f3e-6d981ab352b3}" ma:internalName="TaxCatchAll" ma:showField="CatchAllData" ma:web="e126fe4f-ea1a-43f6-ac45-2d71a1d63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6D337B-EF54-4C55-9A55-CE79B3A7CF16}">
  <ds:schemaRefs>
    <ds:schemaRef ds:uri="5e40b0a0-db1f-4d7d-b532-e0947c86d8e8"/>
    <ds:schemaRef ds:uri="86370ee4-5320-4cb5-9ea6-37dc1aa475a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679247F-2FFC-420D-A171-3932E247BB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7CD709-6DF9-41C2-A674-8B1DCFB1C1B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Widescreen</PresentationFormat>
  <Paragraphs>122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Nanum Brush Script</vt:lpstr>
      <vt:lpstr>Aptos</vt:lpstr>
      <vt:lpstr>Aptos Light</vt:lpstr>
      <vt:lpstr>Arial</vt:lpstr>
      <vt:lpstr>Calibri</vt:lpstr>
      <vt:lpstr>Effra Medium</vt:lpstr>
      <vt:lpstr>EYInterstate Light</vt:lpstr>
      <vt:lpstr>Roboto</vt:lpstr>
      <vt:lpstr>1_Office Theme</vt:lpstr>
      <vt:lpstr>4_NHSD-Refresh-Theme-NOV1120B</vt:lpstr>
      <vt:lpstr>5_NHSD-Refresh-Theme-NOV1120B</vt:lpstr>
      <vt:lpstr>PowerPoint Presentation</vt:lpstr>
      <vt:lpstr>Context: An NHS under pressure</vt:lpstr>
      <vt:lpstr>PowerPoint Presentation</vt:lpstr>
      <vt:lpstr>PowerPoint Presentation</vt:lpstr>
      <vt:lpstr>What can we measure</vt:lpstr>
      <vt:lpstr>PowerPoint Presentation</vt:lpstr>
      <vt:lpstr>PowerPoint Presentation</vt:lpstr>
      <vt:lpstr>PowerPoint Presentation</vt:lpstr>
      <vt:lpstr>PowerPoint Presentation</vt:lpstr>
    </vt:vector>
  </TitlesOfParts>
  <Company>Department of Health and Social 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Brunner, Emily</dc:creator>
  <cp:lastModifiedBy>WARBURTON, Will (NHS ENGLAND)</cp:lastModifiedBy>
  <cp:revision>86</cp:revision>
  <dcterms:created xsi:type="dcterms:W3CDTF">2026-02-05T11:31:53Z</dcterms:created>
  <dcterms:modified xsi:type="dcterms:W3CDTF">2026-02-09T11:16:48Z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0x0101002240962CCB8CA64AB4DAF2C8B7389621</vt:lpwstr>
  </property>
  <property fmtid="{D5CDD505-2E9C-101B-9397-08002B2CF9AE}" pid="3" name="MediaServiceImageTags">
    <vt:lpwstr/>
  </property>
</Properties>
</file>