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9"/>
  </p:notesMasterIdLst>
  <p:sldIdLst>
    <p:sldId id="2561" r:id="rId5"/>
    <p:sldId id="2609" r:id="rId6"/>
    <p:sldId id="2621" r:id="rId7"/>
    <p:sldId id="2627" r:id="rId8"/>
    <p:sldId id="2620" r:id="rId9"/>
    <p:sldId id="2562" r:id="rId10"/>
    <p:sldId id="2622" r:id="rId11"/>
    <p:sldId id="2623" r:id="rId12"/>
    <p:sldId id="2647" r:id="rId13"/>
    <p:sldId id="2648" r:id="rId14"/>
    <p:sldId id="2646" r:id="rId15"/>
    <p:sldId id="2643" r:id="rId16"/>
    <p:sldId id="2644" r:id="rId17"/>
    <p:sldId id="2645" r:id="rId18"/>
    <p:sldId id="2694" r:id="rId19"/>
    <p:sldId id="2650" r:id="rId20"/>
    <p:sldId id="2630" r:id="rId21"/>
    <p:sldId id="2639" r:id="rId22"/>
    <p:sldId id="2640" r:id="rId23"/>
    <p:sldId id="2652" r:id="rId24"/>
    <p:sldId id="2693" r:id="rId25"/>
    <p:sldId id="2655" r:id="rId26"/>
    <p:sldId id="2656" r:id="rId27"/>
    <p:sldId id="2657" r:id="rId28"/>
    <p:sldId id="2680" r:id="rId29"/>
    <p:sldId id="2678" r:id="rId30"/>
    <p:sldId id="2682" r:id="rId31"/>
    <p:sldId id="2686" r:id="rId32"/>
    <p:sldId id="2684" r:id="rId33"/>
    <p:sldId id="2687" r:id="rId34"/>
    <p:sldId id="2681" r:id="rId35"/>
    <p:sldId id="2691" r:id="rId36"/>
    <p:sldId id="2689" r:id="rId37"/>
    <p:sldId id="2616" r:id="rId38"/>
    <p:sldId id="2658" r:id="rId39"/>
    <p:sldId id="2660" r:id="rId40"/>
    <p:sldId id="2661" r:id="rId41"/>
    <p:sldId id="2662" r:id="rId42"/>
    <p:sldId id="2663" r:id="rId43"/>
    <p:sldId id="2667" r:id="rId44"/>
    <p:sldId id="2665" r:id="rId45"/>
    <p:sldId id="2668" r:id="rId46"/>
    <p:sldId id="2669" r:id="rId47"/>
    <p:sldId id="2659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RIOT: Predicting Cardiovascular Risk Under Intervention" id="{897D135F-3651-4565-A9E4-5C57690EF38B}">
          <p14:sldIdLst>
            <p14:sldId id="2561"/>
            <p14:sldId id="2609"/>
            <p14:sldId id="2621"/>
            <p14:sldId id="2627"/>
            <p14:sldId id="2620"/>
            <p14:sldId id="2562"/>
            <p14:sldId id="2622"/>
            <p14:sldId id="2623"/>
            <p14:sldId id="2647"/>
            <p14:sldId id="2648"/>
            <p14:sldId id="2646"/>
            <p14:sldId id="2643"/>
            <p14:sldId id="2644"/>
            <p14:sldId id="2645"/>
            <p14:sldId id="2694"/>
            <p14:sldId id="2650"/>
            <p14:sldId id="2630"/>
            <p14:sldId id="2639"/>
            <p14:sldId id="2640"/>
            <p14:sldId id="2652"/>
            <p14:sldId id="2693"/>
            <p14:sldId id="2655"/>
            <p14:sldId id="2656"/>
            <p14:sldId id="2657"/>
            <p14:sldId id="2680"/>
            <p14:sldId id="2678"/>
            <p14:sldId id="2682"/>
            <p14:sldId id="2686"/>
            <p14:sldId id="2684"/>
            <p14:sldId id="2687"/>
            <p14:sldId id="2681"/>
            <p14:sldId id="2691"/>
            <p14:sldId id="2689"/>
          </p14:sldIdLst>
        </p14:section>
        <p14:section name="Model Development and Data Foundations" id="{6E4D008D-81C8-4E9B-89E5-183DA4BCE3E0}">
          <p14:sldIdLst>
            <p14:sldId id="2616"/>
            <p14:sldId id="2658"/>
            <p14:sldId id="2660"/>
            <p14:sldId id="2661"/>
            <p14:sldId id="2662"/>
            <p14:sldId id="2663"/>
            <p14:sldId id="2667"/>
            <p14:sldId id="2665"/>
            <p14:sldId id="2668"/>
            <p14:sldId id="2669"/>
            <p14:sldId id="26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5A81AD-94C1-441A-815C-ECB947057CC8}" v="3" dt="2026-05-13T09:33:46.941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567" autoAdjust="0"/>
  </p:normalViewPr>
  <p:slideViewPr>
    <p:cSldViewPr snapToGrid="0">
      <p:cViewPr varScale="1">
        <p:scale>
          <a:sx n="89" d="100"/>
          <a:sy n="89" d="100"/>
        </p:scale>
        <p:origin x="6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Pate" userId="a4219539-9e1d-4ec0-a696-812946f3116f" providerId="ADAL" clId="{731CC79A-433F-4A57-BA02-71BC4BF30DDE}"/>
    <pc:docChg chg="custSel modSld">
      <pc:chgData name="Alexander Pate" userId="a4219539-9e1d-4ec0-a696-812946f3116f" providerId="ADAL" clId="{731CC79A-433F-4A57-BA02-71BC4BF30DDE}" dt="2026-05-13T09:33:16.862" v="111" actId="20577"/>
      <pc:docMkLst>
        <pc:docMk/>
      </pc:docMkLst>
      <pc:sldChg chg="modSp mod">
        <pc:chgData name="Alexander Pate" userId="a4219539-9e1d-4ec0-a696-812946f3116f" providerId="ADAL" clId="{731CC79A-433F-4A57-BA02-71BC4BF30DDE}" dt="2026-05-13T09:33:16.862" v="111" actId="20577"/>
        <pc:sldMkLst>
          <pc:docMk/>
          <pc:sldMk cId="1133236487" sldId="2678"/>
        </pc:sldMkLst>
        <pc:spChg chg="mod">
          <ac:chgData name="Alexander Pate" userId="a4219539-9e1d-4ec0-a696-812946f3116f" providerId="ADAL" clId="{731CC79A-433F-4A57-BA02-71BC4BF30DDE}" dt="2026-05-13T09:33:16.862" v="111" actId="20577"/>
          <ac:spMkLst>
            <pc:docMk/>
            <pc:sldMk cId="1133236487" sldId="2678"/>
            <ac:spMk id="8" creationId="{2FA2E963-4301-929C-AEE7-08F7284E3A7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463F2F-0658-462C-AC52-A747BC9200F6}" type="datetimeFigureOut"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559D1E-5C4C-4058-86B1-F639059987F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4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Hope enjoying the event so far
-    5 min intro</a:t>
            </a:r>
          </a:p>
          <a:p>
            <a:pPr marL="171450" indent="-171450">
              <a:buFontTx/>
              <a:buChar char="-"/>
            </a:pPr>
            <a:r>
              <a:rPr lang="en-US" dirty="0"/>
              <a:t>10 min </a:t>
            </a:r>
            <a:r>
              <a:rPr lang="en-US" dirty="0" err="1"/>
              <a:t>ademp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15 mins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92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C92D1-76A3-ABAB-C972-3141A057A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AEC9C-0713-BF27-D76D-B5F1B9B7C5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10DA44-3EF2-D7E2-EB75-9A42BB0E1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 My research background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A key tool but not the focus. No-one says their research interest is simulation studies themselves.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00ABA-1F3A-1981-C13D-B4FACF760F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10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F5E2D-D8F1-28CA-0238-1DBF20713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1AFBC-9FB4-2ABB-932E-495DC4B13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EE368-7068-C27A-CED9-109B6B05A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None/>
            </a:pPr>
            <a:r>
              <a:rPr lang="en-GB" sz="1200" b="1" dirty="0"/>
              <a:t>- System dynamics – infectious disease modelling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9E95B-74BA-2EC2-5F59-32132BF57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740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57463-5597-B10F-D705-CE1FFB13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A941E8-FCB9-A9E7-8DF9-B28940BDB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EE0EE8-61AC-A9DA-3C96-A3760411E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1EED3-1D6E-4985-05CC-48BF09E48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80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E5E75-1625-DCFC-F28E-8D165796D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415C91-39B6-2B70-3763-CDBBA2790C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C9262-A331-418A-395C-E9115CE9F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1200" b="1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 Tried to keep talk general, those interested in the detail, apologies.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A94FC-D508-1306-8364-500F02880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209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633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D7AB5-06B7-487B-CCA2-330CE6CBB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98F43-DAC6-9B6F-60C8-573C9B09A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A0F2D-3BD6-B623-C9DF-3E7FB2554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 Reporting and designing…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 We will use a toy-example running 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81987-F49D-C212-EF14-A48CD6CFC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439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54793-6D4F-CBE8-4A85-8ED22DF94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3B5AEA-52DB-42A2-22C2-4D162D9BE6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CE482F-7E64-8BB4-7DEB-F3D7D4117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None/>
            </a:pPr>
            <a:endParaRPr lang="en-GB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F41DC-DF90-DDE9-9A25-9839FBE940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211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67802-582E-24E2-A59B-3C8B788E5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160415-9236-3EFB-905E-3B8F7EE0C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10E54-BFD6-299B-85AC-1C7C01F30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None/>
            </a:pPr>
            <a:endParaRPr lang="en-GB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F0E4A-9B81-136E-CB8D-ACE023E38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117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7E845-8989-F697-3524-4D4135D37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9C11A-6806-11F2-1E82-1C1B9AEE6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1D458-93F2-89E6-C9BE-677DCDF9B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Ideally, we would model every source of variability and complexity present in the real world -&gt; generalisable.</a:t>
            </a:r>
          </a:p>
          <a:p>
            <a:endParaRPr lang="en-GB" dirty="0"/>
          </a:p>
          <a:p>
            <a:r>
              <a:rPr lang="en-GB" dirty="0"/>
              <a:t>However, quickly becomes unmanageable. </a:t>
            </a:r>
          </a:p>
          <a:p>
            <a:pPr marL="171450" indent="-171450">
              <a:buFontTx/>
              <a:buChar char="-"/>
            </a:pPr>
            <a:r>
              <a:rPr lang="en-GB" dirty="0"/>
              <a:t>Computation time grows</a:t>
            </a:r>
          </a:p>
          <a:p>
            <a:pPr marL="171450" indent="-171450">
              <a:buFontTx/>
              <a:buChar char="-"/>
            </a:pPr>
            <a:r>
              <a:rPr lang="en-GB" dirty="0"/>
              <a:t>Results difficult to interpret</a:t>
            </a:r>
          </a:p>
          <a:p>
            <a:pPr marL="171450" indent="-171450">
              <a:buFontTx/>
              <a:buChar char="-"/>
            </a:pPr>
            <a:r>
              <a:rPr lang="en-GB" dirty="0"/>
              <a:t>number of moving parts can obscure the patterns. </a:t>
            </a:r>
          </a:p>
          <a:p>
            <a:pPr marL="171450" indent="-171450">
              <a:buFontTx/>
              <a:buChar char="-"/>
            </a:pPr>
            <a:endParaRPr lang="en-GB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A8B08-D75E-A124-81E7-415073412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40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0430D-4588-DCF0-4215-E7B05794B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45F84E-AC8D-322E-C95F-ACAA65E79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BB3361-DC2B-230D-9FFE-A1D05F2F0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None/>
            </a:pPr>
            <a:endParaRPr lang="en-GB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C4832-E813-173F-83A5-A63054E18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2613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56013-C030-F718-6A80-B9EEBC45C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4B9DE3-34A7-9761-2878-295E26291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E3508-65E4-E7C4-E2EE-D57E82EE5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None/>
            </a:pPr>
            <a:endParaRPr lang="en-GB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CE0DD-0640-4CA5-4361-AA032A12A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2883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9997A-395B-60FF-E2C5-EA0FF8CEB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5E722-04D4-A987-8D7E-0C236F479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2AC48F-7BB7-D47D-009E-4D2DEBEC9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84FF0-B08A-CCA3-9631-48174BDE6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295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06B49-0790-F965-BA53-8E2D7EEDA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465A6-6A72-DBCB-3DB2-D24984581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54897-6DD8-E5F5-59C2-2D29B48DE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Out of bag for forest, something based on the likelihood function for logistic regression.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Link back to aims. Was it calibration? Discrimination? Or just general performance?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5ECD2-393D-FD00-966D-A7B5EFF155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653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B3A2F-EA8C-A461-5FD9-B11D17EFA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3B453-37CC-CF9D-FF06-6B47B3F75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A44FFC-246B-F548-DBAE-38F95E61B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None/>
            </a:pPr>
            <a:endParaRPr lang="en-GB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78FC7-DB63-CB5B-849E-43CBED3CD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377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EFDF0-AABE-F4EA-96C0-DC67B4F1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294467-1A74-E6BB-54DA-8369A7EB4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D32C03-7620-AFFB-1D22-A18B67D66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B2E6E-F10D-1489-1381-2A77EC3BFC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6075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4BD02-701E-0981-E39E-DE7D306BF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E630F6-FFC4-6A93-5197-754811C59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5038E4-1C2C-CF71-3D8D-213386863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67D28-38D6-C8CB-13A0-404296B88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635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B0AE8-900B-97D5-C97F-38BC0801E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A5669-F98C-B291-2C2C-638237A88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6958C1-8C56-083D-96DE-F06831217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44313-275A-5A48-17BA-00EC1EE57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8999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B0632-C403-1AAD-16E3-E5A2D6B7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AE605C-B131-A80D-16C2-32AE5B58A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6563F-5DDA-B5A6-A1D3-52FA142A3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 If you can simulate methods agnostic to the methods being applied, that is great.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330FD-C7E8-EB02-D68A-2BD5AD002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832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EFE08-E884-D917-30CF-F4EA5F37F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CD9C3-BD76-8F80-C8ED-AA0605FBA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390788-6DE5-61CD-09D1-EBB314939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 When choosing what to vary</a:t>
            </a:r>
          </a:p>
          <a:p>
            <a:pPr lvl="1"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Is there a reason to vary this input parameter? </a:t>
            </a:r>
          </a:p>
          <a:p>
            <a:pPr lvl="1"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Do we expect it to impact conclusions? </a:t>
            </a:r>
          </a:p>
          <a:p>
            <a:pPr lvl="1"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Do we expect it to interact with the other input parameters?</a:t>
            </a:r>
          </a:p>
          <a:p>
            <a:pPr lvl="1"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1200" b="1" dirty="0"/>
          </a:p>
          <a:p>
            <a:pPr lvl="0"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Choose 1 key scenario (base this on real data), and then vary things one by 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15C41-2748-A85F-53C6-98F5FDC4C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3117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F61B4-7691-7CBF-7637-6870BC808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CF2D2-B75C-4073-EC18-4DF73A7AA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1B2B7-9B22-F1B6-29AD-3AF1F3C48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Not going to focus on all results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Focus on calibration curves 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Would need 864 of these plots.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Shortcuts possible….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BBBD8-D104-E321-936F-1F57342A6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194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B51EE-B091-7D8D-6792-3A7AE1CF1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3DDA7F-7F96-54AF-9C41-A7EA815E6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F84C2D-DA1D-744B-7B79-B42BDE044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 108 of these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690DC-96D7-5B06-C9CA-39B339857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650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7714E-5814-793F-E044-216D86400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F328F-87CD-7A5C-7CDD-E8BCB828B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AD87EE-0974-6B46-FAD3-62DB7129C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 108 of these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Important to consider when choosing performance metrics and parsing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B9AEF-7F8A-CFAC-9AFE-4CBCC19BE7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2243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68DD5-B5F4-2168-5FE5-2947709C6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392E85-7D84-37FF-4F95-E43D5A92F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1911C-D040-AD47-1ADE-B09DAF05F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None/>
            </a:pPr>
            <a:endParaRPr lang="en-GB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C3826-21FD-B13D-DDEF-B013EA2827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3573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393B-0AA8-D846-F65F-0E08F932E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52AF22-F010-3D79-501B-D205982F0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CDA9ED-E1ED-D327-B93C-98B47AEC2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40BF-DC45-608B-AFD9-BBBD8C97C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3207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9E52A-300B-41EA-C486-8A3DD3DD5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D0C652-7B8B-9861-BA49-8A091050E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F61A53-5CE6-36A1-CA33-372294F2D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 Overfitting is the modelling of random noise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21A39-176B-61E5-322A-A0C8DFD71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909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DE27E-0281-8F82-6D5E-AE51C06CA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289A1-5B0C-9D61-CE83-444C96502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46F87B-8C4A-A805-7B08-73AF8E018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None/>
            </a:pPr>
            <a:endParaRPr lang="en-GB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007D6-4627-41F4-5747-1C134CCA2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9952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D9975-5BB4-658D-75FD-0F1D4F157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278B5-1B42-DD3B-9FFB-8890DF789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E58874-80D3-9B7A-1CAE-8B3258186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None/>
            </a:pPr>
            <a:endParaRPr lang="en-GB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38BC2-7002-AB57-BEA1-5965984E7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301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37D94-62C5-F5FE-CD7D-5F40FCA35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2251C-4FBD-410B-ECD6-098DEF6B8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027478-BFA4-8F95-1731-6F698CB1F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None/>
            </a:pPr>
            <a:endParaRPr lang="en-GB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7DF73-C6A7-E067-0B0B-2A19D79994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1096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A86E9-721D-FBD4-D376-77CEF0E10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99E1DD-AD34-5E3A-6C71-8CE709C84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AB396-DADF-7AAF-A928-1F5F320C3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None/>
            </a:pPr>
            <a:endParaRPr lang="en-GB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9569E-6417-F823-FE19-F07512384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8603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840E2-6D0D-EDAF-0AE9-3E87B125D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DA539-F646-473C-6EFA-57EC9EBBB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13A0F7-0A0A-CA89-499B-99E86966F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7CB45-1796-FF3B-1656-999C533E3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640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43208-9B7E-A75E-DECD-8E3AC337D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E5D618-BA67-AF80-F102-A6D155BE4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857CA-8E62-3A45-7E38-0C8DFAAC0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5B2BD-8C0D-C8C9-B4FA-C51BD5C54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6490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0EB77-68DC-6895-1390-6EE25F338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90519-E4CA-4427-8B9D-9FBA73CD3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C9A2B-9883-38B7-4B4A-D41B20ADA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 Don’t want to force ADEMP, use your intuition, but it’s a great base for starting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FB1F1-9B5C-D268-741D-38B6CDF04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6306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59D1E-5C4C-4058-86B1-F639059987F7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3982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F7484-01CD-D040-C524-995C5EAE9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2433ED-051F-D008-10AE-EE52EDC0B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361F62-7C46-B00D-0178-F08A673DB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6FE53-A428-4690-1254-350708793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5909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A0DCB-A528-5426-9CEE-1AD2FB310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94B28B-DB4C-247A-BEFC-D77F0CF4F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CF6F46-79F9-3D25-EB76-AF973CA80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 I think a running example would be useful…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F6E7B-1DE1-1FFD-948F-7D8226EA6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7079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19AEB-3C98-EFE4-FB70-12E4205C8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D6241-CE55-1D26-F16F-62A9E3038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CA19AD-4DE7-B066-4FF9-C74D881AC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 I think a running example would be useful…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985E0-8C64-B7FC-707D-F0BD16923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70232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257C0-3B8D-FA9C-5BE4-729314B5E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305F28-1D29-C8F4-E814-2F4A6C8EA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2B44FC-8D60-4FDC-8C87-6C77AEED1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 I think a running example would be useful…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DB03D-2ED6-127F-421A-7E6F85085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4346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30B65-44B8-A966-8A16-1DA795EDC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90DD0F-DD03-6764-906A-E6EDDAED7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860955-B261-0782-4CA2-0B7A65545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 I think a running example would be useful…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6E91B-59C1-6198-C904-EFEC50994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928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5DB90-1AA3-9699-B1C2-31CE88251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F57178-BDDA-080D-D691-D68C6FCCE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EAEB61-57BA-4CB8-66C3-4E4B560E2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 Create a visual representation of how we didn’t fit the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4AA1E-A248-B8A6-11B2-5DF2BEA2EA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874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9458D-4670-6E97-559D-C4D49FE46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5759F-844B-5429-01AC-485F3FA39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57C794-EF38-7865-209A-9E23D8737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 I think a running example would be useful…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277DC-38F2-9B05-37BC-786920E32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877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430C3-DED0-0FEF-5D8C-57120446C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EEF930-AEAC-978F-94E0-4DD671BA56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93DA6-BF1F-A670-53C4-A40D459C7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 Would need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904B7-9DE9-8AC3-00BE-B9CBB7FC2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9259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4CA37-57D6-BC8F-B9A4-78F8947FA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C487FB-6F18-C0EB-A00B-EC9C104D9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439B0-3A03-9BF1-580E-B0B3C4FA0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 Would need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240E4-6584-80AA-3607-9A283CA19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9893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46766-BCE0-4E59-E3CF-D30AE106F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F2484B-76A7-1428-DBC8-11D145D52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EC6472-8B51-3EAC-DB74-DE1A03CFF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1200" b="1" dirty="0"/>
              <a:t> I think a running example would be useful…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DA7C3-7467-8CDF-982D-86328D276F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95B02-B1EF-4BEB-BAE5-B67B3A3F9796}" type="slidenum"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672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/>
          <a:lstStyle/>
          <a:p>
            <a:fld id="{395357C0-6E0D-46EB-9F8F-43803F348F24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533400" y="6324773"/>
            <a:ext cx="64804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646050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533400" y="512722"/>
            <a:ext cx="6456409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30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700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89C35-F31B-4EAB-A4E6-687A63844314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343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AAFFBF3-C898-85FC-D25A-592E29515C2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510023 w 12192000"/>
              <a:gd name="connsiteY0" fmla="*/ 505353 h 6858000"/>
              <a:gd name="connsiteX1" fmla="*/ 510023 w 12192000"/>
              <a:gd name="connsiteY1" fmla="*/ 6352647 h 6858000"/>
              <a:gd name="connsiteX2" fmla="*/ 5415398 w 12192000"/>
              <a:gd name="connsiteY2" fmla="*/ 6352647 h 6858000"/>
              <a:gd name="connsiteX3" fmla="*/ 5415398 w 12192000"/>
              <a:gd name="connsiteY3" fmla="*/ 505353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510023" y="505353"/>
                </a:moveTo>
                <a:lnTo>
                  <a:pt x="510023" y="6352647"/>
                </a:lnTo>
                <a:lnTo>
                  <a:pt x="5415398" y="6352647"/>
                </a:lnTo>
                <a:lnTo>
                  <a:pt x="5415398" y="50535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  <a:effectLst>
            <a:innerShdw blurRad="215900" dist="25400" dir="13500000">
              <a:prstClr val="black">
                <a:alpha val="15000"/>
              </a:prstClr>
            </a:innerShdw>
          </a:effectLst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297" y="1136691"/>
            <a:ext cx="4135970" cy="3038878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2093" y="5282217"/>
            <a:ext cx="4136599" cy="947146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3877552" cy="365125"/>
          </a:xfrm>
        </p:spPr>
        <p:txBody>
          <a:bodyPr/>
          <a:lstStyle>
            <a:lvl1pPr>
              <a:defRPr>
                <a:solidFill>
                  <a:schemeClr val="bg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AAD51419-3F0D-4A1E-BC8B-A018756B4625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944438" y="5162641"/>
            <a:ext cx="403082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2BEF2C1-7030-5074-0586-5EBAF7D59A33}"/>
              </a:ext>
            </a:extLst>
          </p:cNvPr>
          <p:cNvCxnSpPr>
            <a:cxnSpLocks/>
          </p:cNvCxnSpPr>
          <p:nvPr/>
        </p:nvCxnSpPr>
        <p:spPr>
          <a:xfrm>
            <a:off x="944438" y="904533"/>
            <a:ext cx="4036971" cy="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570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8173214" y="530425"/>
            <a:ext cx="3485386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8173214" y="5498461"/>
            <a:ext cx="348538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968" y="768351"/>
            <a:ext cx="3685656" cy="2843527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05681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5681133"/>
            <a:ext cx="3655646" cy="664191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73978" y="6426091"/>
            <a:ext cx="2295058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98013" y="6426091"/>
            <a:ext cx="875825" cy="365125"/>
          </a:xfrm>
        </p:spPr>
        <p:txBody>
          <a:bodyPr/>
          <a:lstStyle/>
          <a:p>
            <a:fld id="{DB416C6F-BD23-48A3-9D04-6B6FEC3702B5}" type="datetime1">
              <a:rPr lang="en-US" smtClean="0"/>
              <a:t>5/13/2026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98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01" y="5056743"/>
            <a:ext cx="11339400" cy="966902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93091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902" y="5979576"/>
            <a:ext cx="11339400" cy="365126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256503-7989-932D-DE04-B424AC0B97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3E99C9-C336-E83E-56A6-D68659547CA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135F28A-0986-4E7B-B35D-341D39FBD191}" type="datetime1">
              <a:rPr lang="en-US" smtClean="0"/>
              <a:t>5/13/2026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57A77FC-B384-BD30-0961-237F594F20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83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238" y="398050"/>
            <a:ext cx="9635668" cy="367139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322" y="5669280"/>
            <a:ext cx="9620300" cy="75680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86BE-81E0-4285-A95D-6934CDF6209E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6EBC7DB-A84C-6AE6-0446-4E466A133069}"/>
              </a:ext>
            </a:extLst>
          </p:cNvPr>
          <p:cNvCxnSpPr>
            <a:cxnSpLocks/>
          </p:cNvCxnSpPr>
          <p:nvPr/>
        </p:nvCxnSpPr>
        <p:spPr>
          <a:xfrm>
            <a:off x="530352" y="5498461"/>
            <a:ext cx="1112444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32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64E07-DAE2-4D6D-BDD9-1CE7637F446D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752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528339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857" y="5184425"/>
            <a:ext cx="10575756" cy="115322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1D259D-9AB9-44BA-8FCD-FE201F91B5A0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17982C-A325-8307-2486-3AD646261E04}"/>
              </a:ext>
            </a:extLst>
          </p:cNvPr>
          <p:cNvCxnSpPr>
            <a:cxnSpLocks/>
          </p:cNvCxnSpPr>
          <p:nvPr/>
        </p:nvCxnSpPr>
        <p:spPr>
          <a:xfrm>
            <a:off x="533400" y="533538"/>
            <a:ext cx="11127005" cy="0"/>
          </a:xfrm>
          <a:prstGeom prst="line">
            <a:avLst/>
          </a:prstGeom>
          <a:ln w="603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02859D-9F11-5594-CFD3-C5FDE18CACB3}"/>
              </a:ext>
            </a:extLst>
          </p:cNvPr>
          <p:cNvCxnSpPr>
            <a:cxnSpLocks/>
          </p:cNvCxnSpPr>
          <p:nvPr/>
        </p:nvCxnSpPr>
        <p:spPr>
          <a:xfrm>
            <a:off x="533400" y="5169248"/>
            <a:ext cx="11127005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0AD802-2887-3310-1453-789DB76F58DF}"/>
              </a:ext>
            </a:extLst>
          </p:cNvPr>
          <p:cNvCxnSpPr>
            <a:cxnSpLocks/>
          </p:cNvCxnSpPr>
          <p:nvPr/>
        </p:nvCxnSpPr>
        <p:spPr>
          <a:xfrm>
            <a:off x="533400" y="6330811"/>
            <a:ext cx="11119945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370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3018408"/>
            <a:ext cx="8961120" cy="3247475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EB0658-C877-4D58-A83B-07BEE0E4C7B4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530646" y="531958"/>
            <a:ext cx="1112795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5431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7525512" cy="1882595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856" y="2502245"/>
            <a:ext cx="7492991" cy="3669956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056F1-F5E2-4ED8-9ED2-B4DCC32FE4B1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373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87333073-65C1-4CC7-BBE7-8F5A3AFB183B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530352" y="2670800"/>
            <a:ext cx="6402856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034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380188"/>
            <a:ext cx="4688732" cy="2313195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E6BFF2B7-0DC8-E068-0F08-D1CF291F8EA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304136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38800" y="3363190"/>
            <a:ext cx="6029721" cy="2759316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72102-C255-4B2E-9A7E-2603C5FAD6D4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981961-B802-677C-4957-E24CA14D5E6D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673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07B931-214A-9578-5A7A-FDEB9ADB5080}"/>
              </a:ext>
            </a:extLst>
          </p:cNvPr>
          <p:cNvCxnSpPr>
            <a:cxnSpLocks/>
          </p:cNvCxnSpPr>
          <p:nvPr/>
        </p:nvCxnSpPr>
        <p:spPr>
          <a:xfrm>
            <a:off x="3751277" y="2791386"/>
            <a:ext cx="468944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0862" y="1429789"/>
            <a:ext cx="5090277" cy="119671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6880" y="2999629"/>
            <a:ext cx="4838241" cy="219582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0A7D6-92E1-4CDF-BD2F-79F298197135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966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089" y="1673352"/>
            <a:ext cx="3360352" cy="2324365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673352"/>
            <a:ext cx="5785132" cy="29187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EE3B3-6EA8-4914-BDAC-89234BD2AD09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45987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4971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1399734"/>
            <a:ext cx="4136461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398419"/>
            <a:ext cx="625002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B48EB-6AF5-4207-A153-D1AA963F0AC1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2906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7719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694944"/>
            <a:ext cx="3334120" cy="273405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9100" y="694943"/>
            <a:ext cx="7439421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16614-595C-443F-AE20-86D2AC6A0013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67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886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52" y="743106"/>
            <a:ext cx="6277070" cy="531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C8A85-8FD1-45F0-99DE-E338DC5235BC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5486400" y="528489"/>
            <a:ext cx="6172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34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433576"/>
            <a:ext cx="3263496" cy="282143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9946" y="694944"/>
            <a:ext cx="7358769" cy="5486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DEB38-22AD-484B-BEB1-12B18D8CEE64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0E8417-C758-AC09-72D4-D07CE8D5D1EB}"/>
              </a:ext>
            </a:extLst>
          </p:cNvPr>
          <p:cNvCxnSpPr>
            <a:cxnSpLocks/>
          </p:cNvCxnSpPr>
          <p:nvPr/>
        </p:nvCxnSpPr>
        <p:spPr>
          <a:xfrm>
            <a:off x="4347151" y="528489"/>
            <a:ext cx="7326605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588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867" y="691867"/>
            <a:ext cx="5664732" cy="12126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1" y="533400"/>
            <a:ext cx="4953000" cy="581192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65" y="2007652"/>
            <a:ext cx="5664732" cy="4315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C2DDA-91DD-4B15-B0D6-0E3634C6CC2A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6058518" y="530352"/>
            <a:ext cx="56000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48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2" y="691868"/>
            <a:ext cx="5593338" cy="11573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928" y="2010699"/>
            <a:ext cx="5577972" cy="433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53200" y="533400"/>
            <a:ext cx="5105400" cy="57912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7B7B5-5BBE-40BC-B471-E2BA9D71AA0E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8028" y="530352"/>
            <a:ext cx="549487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815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71" y="691866"/>
            <a:ext cx="6680630" cy="12173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3886200" cy="581192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71" y="2010699"/>
            <a:ext cx="6680630" cy="43139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7E7C-B760-45A7-AB98-EEAB39EBFFA9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84096" y="533400"/>
            <a:ext cx="668063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817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691867"/>
            <a:ext cx="6664559" cy="12173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17" y="2010699"/>
            <a:ext cx="6661902" cy="4330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533400"/>
            <a:ext cx="4038600" cy="57912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0" y="6426091"/>
            <a:ext cx="3553839" cy="365125"/>
          </a:xfrm>
        </p:spPr>
        <p:txBody>
          <a:bodyPr/>
          <a:lstStyle/>
          <a:p>
            <a:fld id="{C4680711-5BFA-4199-BAD0-B0C15B04A070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65677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193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497" y="691868"/>
            <a:ext cx="4660247" cy="14392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6029286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497" y="2211184"/>
            <a:ext cx="4660247" cy="41134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9332B-92F1-4946-B218-9926114AAEA1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7095744" y="530921"/>
            <a:ext cx="456285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781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533399"/>
            <a:ext cx="6172200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630AA-266B-4EED-8F37-1EEA7BB36798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44365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730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814" y="512011"/>
            <a:ext cx="3628786" cy="125992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7086600" cy="57911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3065" y="2170611"/>
            <a:ext cx="3628786" cy="416237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29813" y="6426091"/>
            <a:ext cx="3144025" cy="365125"/>
          </a:xfrm>
        </p:spPr>
        <p:txBody>
          <a:bodyPr/>
          <a:lstStyle/>
          <a:p>
            <a:fld id="{A2E4BA8A-8D99-4942-A6AE-3429BB81C9B0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8153400" y="1892587"/>
            <a:ext cx="350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635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3886200" cy="57912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13714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555" y="2148840"/>
            <a:ext cx="6792069" cy="4162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B8B90-98AD-44EA-88CB-87E0482D47C5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4953000" y="1892587"/>
            <a:ext cx="67056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695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35" y="691867"/>
            <a:ext cx="3052570" cy="20116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7667626" cy="578875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935" y="2889848"/>
            <a:ext cx="3052570" cy="343475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72E3CE-9562-4779-875D-570AC5656D0F}" type="datetime1">
              <a:rPr lang="en-US" smtClean="0"/>
              <a:t>5/13/2026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8727541" y="533400"/>
            <a:ext cx="293106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401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1" y="691866"/>
            <a:ext cx="3448141" cy="22472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19600" y="530353"/>
            <a:ext cx="7239000" cy="401911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5470" y="4735286"/>
            <a:ext cx="7239000" cy="1424879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D8B86-78FA-4747-9401-2399B1893341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0C081E-1CAD-8E64-5453-4CC21A0A90FD}"/>
              </a:ext>
            </a:extLst>
          </p:cNvPr>
          <p:cNvCxnSpPr>
            <a:cxnSpLocks/>
          </p:cNvCxnSpPr>
          <p:nvPr/>
        </p:nvCxnSpPr>
        <p:spPr>
          <a:xfrm>
            <a:off x="530274" y="530352"/>
            <a:ext cx="3354124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400" y="6326367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3958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6" y="691866"/>
            <a:ext cx="3540062" cy="22472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19600" y="533400"/>
            <a:ext cx="7239000" cy="315745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0" y="3933645"/>
            <a:ext cx="7261323" cy="238211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CC63D-CDB3-4317-A945-BF72F7BF98EB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0C081E-1CAD-8E64-5453-4CC21A0A90FD}"/>
              </a:ext>
            </a:extLst>
          </p:cNvPr>
          <p:cNvCxnSpPr>
            <a:cxnSpLocks/>
          </p:cNvCxnSpPr>
          <p:nvPr/>
        </p:nvCxnSpPr>
        <p:spPr>
          <a:xfrm>
            <a:off x="533400" y="530352"/>
            <a:ext cx="33528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400" y="6324542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F4D8D45-8224-ED36-94DF-FAE863F412D1}"/>
              </a:ext>
            </a:extLst>
          </p:cNvPr>
          <p:cNvCxnSpPr>
            <a:cxnSpLocks/>
          </p:cNvCxnSpPr>
          <p:nvPr/>
        </p:nvCxnSpPr>
        <p:spPr>
          <a:xfrm>
            <a:off x="5013762" y="1892587"/>
            <a:ext cx="65440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44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9" y="4829695"/>
            <a:ext cx="4289051" cy="1413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11125200" cy="4013885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28905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79" y="4829695"/>
            <a:ext cx="6554822" cy="152954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6FEA0-B839-4598-B2DD-445068A8396C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853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910560"/>
            <a:ext cx="3472256" cy="20176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11125201" cy="310908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0" y="3912655"/>
            <a:ext cx="7239000" cy="2407394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24032-45C2-4C36-A7D1-3A3BD65AF0CF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60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700185"/>
            <a:ext cx="3473587" cy="18153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1" y="702280"/>
            <a:ext cx="7239000" cy="22409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3205927"/>
            <a:ext cx="11125200" cy="311867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7000" sy="97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67178-055F-49DC-969F-AB374B7A5758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9BF7A8-7F92-8C69-89EE-92496D80C1C2}"/>
              </a:ext>
            </a:extLst>
          </p:cNvPr>
          <p:cNvCxnSpPr>
            <a:cxnSpLocks/>
          </p:cNvCxnSpPr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4565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43982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0352" y="1720219"/>
            <a:ext cx="6022848" cy="4604382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1260" y="1623629"/>
            <a:ext cx="4557340" cy="47062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BAA5E08-9FB8-6BC2-0794-A92E1336B9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7819C0A-5C58-B9A1-EDD9-43A971A8DE1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436D6D-18C4-497A-81D8-87B6E0BF7395}" type="datetime1">
              <a:rPr lang="en-US" smtClean="0"/>
              <a:t>5/13/2026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C8A4CD6-C6D7-317B-80FA-CA83089B05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530352" y="1353312"/>
            <a:ext cx="11141874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033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5" y="691867"/>
            <a:ext cx="4067721" cy="15595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2521819"/>
            <a:ext cx="3886200" cy="380278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685" y="694944"/>
            <a:ext cx="6705600" cy="5629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398474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585B-D50B-46C7-90D5-F8C248FB96B3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752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5957"/>
            <a:ext cx="4000501" cy="18895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1891"/>
            <a:ext cx="3886202" cy="360359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1" y="694944"/>
            <a:ext cx="6705599" cy="5506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FA9687D-6191-4AD9-82A2-1B737232915B}" type="datetime1">
              <a:rPr lang="en-US" smtClean="0"/>
              <a:t>5/13/2026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53001" y="531891"/>
            <a:ext cx="67055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399" y="6324600"/>
            <a:ext cx="111252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0639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495833"/>
            <a:ext cx="11159163" cy="42459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F2E741A-92DD-45DF-8212-2D8EB227508B}" type="datetime1">
              <a:rPr lang="en-US" smtClean="0"/>
              <a:t>5/13/2026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7293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684675"/>
            <a:ext cx="11159163" cy="422967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tx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97B8847-6473-457E-E96C-6389E70595B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97385FA-3FF0-FCCA-55E3-8E053BA2CA4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13F8E84-C221-42E2-A88F-FC6CBC7F05E7}" type="datetime1">
              <a:rPr lang="en-US" smtClean="0"/>
              <a:t>5/13/2026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72B5E7B-6D54-E7B9-4307-C655E0BCABB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8597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5320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1577" y="1673353"/>
            <a:ext cx="3287023" cy="351089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10000"/>
              </a:lnSpc>
              <a:defRPr lang="en-US" sz="2800" cap="none" baseline="0" dirty="0">
                <a:latin typeface="+mn-lt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59" y="1328272"/>
            <a:ext cx="7445950" cy="416965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237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l">
              <a:lnSpc>
                <a:spcPct val="110000"/>
              </a:lnSpc>
              <a:buNone/>
              <a:defRPr sz="2400" cap="none" baseline="0">
                <a:solidFill>
                  <a:schemeClr val="bg1"/>
                </a:solidFill>
              </a:defRPr>
            </a:lvl2pPr>
            <a:lvl3pPr marL="457200" indent="0" algn="l">
              <a:lnSpc>
                <a:spcPct val="110000"/>
              </a:lnSpc>
              <a:buNone/>
              <a:defRPr sz="2000" cap="none" baseline="0">
                <a:solidFill>
                  <a:schemeClr val="bg1"/>
                </a:solidFill>
              </a:defRPr>
            </a:lvl3pPr>
            <a:lvl4pPr marL="685800" indent="0" algn="l">
              <a:lnSpc>
                <a:spcPct val="110000"/>
              </a:lnSpc>
              <a:buNone/>
              <a:defRPr sz="1800" cap="none" baseline="0">
                <a:solidFill>
                  <a:schemeClr val="bg1"/>
                </a:solidFill>
              </a:defRPr>
            </a:lvl4pPr>
            <a:lvl5pPr marL="914400" indent="0" algn="l">
              <a:lnSpc>
                <a:spcPct val="110000"/>
              </a:lnSpc>
              <a:buNone/>
              <a:defRPr sz="160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459C9-E9DA-926C-F0C0-5EEDE696077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1D02E87-8057-8AC7-6F57-2066BA1BC9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4DFD6AF-0F92-4F71-9576-F6847C4CFE31}" type="datetime1">
              <a:rPr lang="en-US" smtClean="0"/>
              <a:t>5/13/2026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2EFA3D8-21DC-0E04-B4E7-4C502496DF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26DA2D-1FAE-447C-839B-22F6F0CB343E}"/>
              </a:ext>
            </a:extLst>
          </p:cNvPr>
          <p:cNvCxnSpPr>
            <a:cxnSpLocks/>
          </p:cNvCxnSpPr>
          <p:nvPr/>
        </p:nvCxnSpPr>
        <p:spPr>
          <a:xfrm>
            <a:off x="516418" y="1198471"/>
            <a:ext cx="111421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FD6543-37F0-7721-32E4-3B3C905CC66D}"/>
              </a:ext>
            </a:extLst>
          </p:cNvPr>
          <p:cNvCxnSpPr>
            <a:cxnSpLocks/>
          </p:cNvCxnSpPr>
          <p:nvPr/>
        </p:nvCxnSpPr>
        <p:spPr>
          <a:xfrm>
            <a:off x="530352" y="5638290"/>
            <a:ext cx="1114924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803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480" y="722376"/>
            <a:ext cx="10762488" cy="54589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cap="all" baseline="0" dirty="0">
                <a:latin typeface="+mj-lt"/>
              </a:defRPr>
            </a:lvl1pPr>
            <a:lvl2pPr marL="457200" indent="0">
              <a:lnSpc>
                <a:spcPct val="90000"/>
              </a:lnSpc>
              <a:buNone/>
              <a:defRPr lang="en-US" sz="6600" cap="all" baseline="0" dirty="0">
                <a:latin typeface="+mj-lt"/>
              </a:defRPr>
            </a:lvl2pPr>
            <a:lvl3pPr marL="9144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3pPr>
            <a:lvl4pPr marL="13716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4pPr>
            <a:lvl5pPr marL="18288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8211E3-7798-4C1B-A8B7-1D4CC8744C3E}" type="datetime1">
              <a:rPr lang="en-US" smtClean="0"/>
              <a:t>5/13/2026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84031F-D6BF-4677-B12E-7D8B88BA70F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496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0415" y="717754"/>
            <a:ext cx="10758791" cy="545815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lang="en-US" sz="7200" b="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lnSpc>
                <a:spcPct val="90000"/>
              </a:lnSpc>
              <a:spcBef>
                <a:spcPts val="1000"/>
              </a:spcBef>
              <a:buNone/>
              <a:defRPr lang="en-US" sz="6600" b="0" cap="all" baseline="0" dirty="0">
                <a:solidFill>
                  <a:schemeClr val="accent1"/>
                </a:solidFill>
                <a:latin typeface="+mj-lt"/>
              </a:defRPr>
            </a:lvl2pPr>
            <a:lvl3pPr marL="914400" indent="0">
              <a:lnSpc>
                <a:spcPct val="90000"/>
              </a:lnSpc>
              <a:spcBef>
                <a:spcPts val="1000"/>
              </a:spcBef>
              <a:buNone/>
              <a:defRPr lang="en-US" sz="6000" b="0" cap="all" baseline="0" dirty="0">
                <a:solidFill>
                  <a:schemeClr val="accent1"/>
                </a:solidFill>
                <a:latin typeface="+mj-lt"/>
              </a:defRPr>
            </a:lvl3pPr>
            <a:lvl4pPr marL="1371600" indent="0">
              <a:lnSpc>
                <a:spcPct val="90000"/>
              </a:lnSpc>
              <a:spcBef>
                <a:spcPts val="1000"/>
              </a:spcBef>
              <a:buNone/>
              <a:defRPr lang="en-US" sz="6000" b="0" cap="all" baseline="0" dirty="0">
                <a:solidFill>
                  <a:schemeClr val="accent1"/>
                </a:solidFill>
                <a:latin typeface="+mj-lt"/>
              </a:defRPr>
            </a:lvl4pPr>
            <a:lvl5pPr marL="1828800" indent="0">
              <a:lnSpc>
                <a:spcPct val="90000"/>
              </a:lnSpc>
              <a:spcBef>
                <a:spcPts val="1000"/>
              </a:spcBef>
              <a:buNone/>
              <a:defRPr lang="en-US" sz="6000" b="0" cap="all" baseline="0" dirty="0">
                <a:solidFill>
                  <a:schemeClr val="accent1"/>
                </a:solidFill>
                <a:latin typeface="+mj-lt"/>
              </a:defRPr>
            </a:lvl5pPr>
          </a:lstStyle>
          <a:p>
            <a:pPr marL="228600" lvl="0" indent="-228600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9B1FA-A3A2-4EEE-AC52-74345FF796E0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21C58F-32A5-353B-47A2-C43DAAB8F254}"/>
              </a:ext>
            </a:extLst>
          </p:cNvPr>
          <p:cNvCxnSpPr>
            <a:cxnSpLocks/>
          </p:cNvCxnSpPr>
          <p:nvPr/>
        </p:nvCxnSpPr>
        <p:spPr>
          <a:xfrm>
            <a:off x="530352" y="530352"/>
            <a:ext cx="1112824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070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50490" y="1828806"/>
            <a:ext cx="9291020" cy="313256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5400" b="0">
                <a:solidFill>
                  <a:schemeClr val="accent1"/>
                </a:solidFill>
              </a:defRPr>
            </a:lvl1pPr>
            <a:lvl2pPr marL="228600" indent="0" algn="ctr">
              <a:lnSpc>
                <a:spcPct val="100000"/>
              </a:lnSpc>
              <a:buNone/>
              <a:defRPr sz="4800" b="0">
                <a:solidFill>
                  <a:schemeClr val="accent1"/>
                </a:solidFill>
              </a:defRPr>
            </a:lvl2pPr>
            <a:lvl3pPr marL="457200" indent="0" algn="ctr">
              <a:lnSpc>
                <a:spcPct val="100000"/>
              </a:lnSpc>
              <a:buNone/>
              <a:defRPr sz="4400" b="0">
                <a:solidFill>
                  <a:schemeClr val="accent1"/>
                </a:solidFill>
              </a:defRPr>
            </a:lvl3pPr>
            <a:lvl4pPr marL="685800" indent="0" algn="ctr">
              <a:lnSpc>
                <a:spcPct val="100000"/>
              </a:lnSpc>
              <a:buNone/>
              <a:defRPr sz="4000" b="0">
                <a:solidFill>
                  <a:schemeClr val="accent1"/>
                </a:solidFill>
              </a:defRPr>
            </a:lvl4pPr>
            <a:lvl5pPr marL="914400" indent="0" algn="ctr">
              <a:lnSpc>
                <a:spcPct val="100000"/>
              </a:lnSpc>
              <a:buNone/>
              <a:defRPr sz="36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0E27F-4DA4-4250-AB3F-755F95A702F0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661B65-925C-C474-4671-6B5CBEB80093}"/>
              </a:ext>
            </a:extLst>
          </p:cNvPr>
          <p:cNvCxnSpPr>
            <a:cxnSpLocks/>
          </p:cNvCxnSpPr>
          <p:nvPr/>
        </p:nvCxnSpPr>
        <p:spPr>
          <a:xfrm>
            <a:off x="1405629" y="1164266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AEB70E-85D7-3389-E0B5-B0953E3D035D}"/>
              </a:ext>
            </a:extLst>
          </p:cNvPr>
          <p:cNvCxnSpPr>
            <a:cxnSpLocks/>
          </p:cNvCxnSpPr>
          <p:nvPr/>
        </p:nvCxnSpPr>
        <p:spPr>
          <a:xfrm>
            <a:off x="1399690" y="569373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622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86400"/>
            <a:ext cx="9472473" cy="93969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667511"/>
            <a:ext cx="9413534" cy="401099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81718C3-C21D-4CB2-9429-434651DA51E0}" type="datetime1">
              <a:rPr lang="en-US" smtClean="0"/>
              <a:t>5/13/2026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399690" y="517869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441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1" y="5422793"/>
            <a:ext cx="8849802" cy="763321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defRPr sz="20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5047" y="364321"/>
            <a:ext cx="8983395" cy="4379976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buNone/>
              <a:defRPr sz="5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 sz="1600" b="0" cap="all" spc="50" baseline="0">
                <a:solidFill>
                  <a:schemeClr val="tx1"/>
                </a:solidFill>
                <a:latin typeface="+mj-lt"/>
              </a:defRPr>
            </a:lvl2pPr>
            <a:lvl3pPr marL="457200" indent="0">
              <a:buNone/>
              <a:defRPr sz="1400" b="0" cap="all" spc="50" baseline="0">
                <a:solidFill>
                  <a:schemeClr val="tx1"/>
                </a:solidFill>
                <a:latin typeface="+mj-lt"/>
              </a:defRPr>
            </a:lvl3pPr>
            <a:lvl4pPr marL="685800" indent="0">
              <a:buNone/>
              <a:defRPr sz="1200" b="0" cap="all" spc="50" baseline="0">
                <a:solidFill>
                  <a:schemeClr val="tx1"/>
                </a:solidFill>
                <a:latin typeface="+mj-lt"/>
              </a:defRPr>
            </a:lvl4pPr>
            <a:lvl5pPr marL="914400" indent="0">
              <a:buNone/>
              <a:defRPr sz="1100" b="0" cap="all" spc="50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73913-DF3D-A336-7766-2F2A4077FA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2574524-6D35-F65F-291D-C661BC2839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F484BAB-BC70-496F-BE5F-77C3800258C1}" type="datetime1">
              <a:rPr lang="en-US" smtClean="0"/>
              <a:t>5/13/2026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51DEE08-81D7-3436-67E0-35E4159750B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1234A2-3E92-F2E2-45A7-60E39396715E}"/>
              </a:ext>
            </a:extLst>
          </p:cNvPr>
          <p:cNvCxnSpPr>
            <a:cxnSpLocks/>
          </p:cNvCxnSpPr>
          <p:nvPr/>
        </p:nvCxnSpPr>
        <p:spPr>
          <a:xfrm>
            <a:off x="530352" y="5184424"/>
            <a:ext cx="111421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2847D-BCD1-DEA8-DC65-258A4946768E}"/>
              </a:ext>
            </a:extLst>
          </p:cNvPr>
          <p:cNvCxnSpPr>
            <a:cxnSpLocks/>
          </p:cNvCxnSpPr>
          <p:nvPr/>
        </p:nvCxnSpPr>
        <p:spPr>
          <a:xfrm>
            <a:off x="530352" y="6326367"/>
            <a:ext cx="1115568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6076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0302" y="5345083"/>
            <a:ext cx="10243537" cy="847899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10000"/>
              </a:lnSpc>
              <a:defRPr sz="1800" cap="none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30303" y="951364"/>
            <a:ext cx="10243536" cy="37943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400" b="0" cap="all" spc="50" baseline="0">
                <a:solidFill>
                  <a:schemeClr val="tx1"/>
                </a:solidFill>
                <a:latin typeface="+mj-lt"/>
              </a:defRPr>
            </a:lvl1pPr>
            <a:lvl2pPr marL="228600" indent="0">
              <a:buNone/>
              <a:defRPr sz="4400" b="0" cap="all" spc="50" baseline="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4400" b="0" cap="all" spc="50" baseline="0">
                <a:solidFill>
                  <a:schemeClr val="accent1"/>
                </a:solidFill>
                <a:latin typeface="+mj-lt"/>
              </a:defRPr>
            </a:lvl3pPr>
            <a:lvl4pPr marL="685800" indent="0">
              <a:buNone/>
              <a:defRPr sz="4400" b="0" cap="all" spc="50" baseline="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4400" b="0" cap="all" spc="50" baseline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940F-B015-464A-92BD-FC8709C093C5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050A9D-B7C5-F464-79AD-0740B311B072}"/>
              </a:ext>
            </a:extLst>
          </p:cNvPr>
          <p:cNvCxnSpPr>
            <a:cxnSpLocks/>
          </p:cNvCxnSpPr>
          <p:nvPr/>
        </p:nvCxnSpPr>
        <p:spPr>
          <a:xfrm>
            <a:off x="524909" y="533400"/>
            <a:ext cx="111421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1234A2-3E92-F2E2-45A7-60E39396715E}"/>
              </a:ext>
            </a:extLst>
          </p:cNvPr>
          <p:cNvCxnSpPr>
            <a:cxnSpLocks/>
          </p:cNvCxnSpPr>
          <p:nvPr/>
        </p:nvCxnSpPr>
        <p:spPr>
          <a:xfrm>
            <a:off x="516418" y="5184424"/>
            <a:ext cx="111421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8BEE7C-4A94-0B15-16EB-46B45E9C057E}"/>
              </a:ext>
            </a:extLst>
          </p:cNvPr>
          <p:cNvCxnSpPr>
            <a:cxnSpLocks/>
          </p:cNvCxnSpPr>
          <p:nvPr/>
        </p:nvCxnSpPr>
        <p:spPr>
          <a:xfrm>
            <a:off x="507928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788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30743"/>
            <a:ext cx="9472473" cy="70408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1081377"/>
            <a:ext cx="9413534" cy="359713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tx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6C2023-0583-4B96-882C-68D22DCD46B6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D77A43-F5D0-235F-35F0-CBDFCF048764}"/>
              </a:ext>
            </a:extLst>
          </p:cNvPr>
          <p:cNvCxnSpPr>
            <a:cxnSpLocks/>
          </p:cNvCxnSpPr>
          <p:nvPr/>
        </p:nvCxnSpPr>
        <p:spPr>
          <a:xfrm>
            <a:off x="530352" y="530352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577989-BB5F-9AF1-A65F-3B2D0FDB6368}"/>
              </a:ext>
            </a:extLst>
          </p:cNvPr>
          <p:cNvCxnSpPr>
            <a:cxnSpLocks/>
          </p:cNvCxnSpPr>
          <p:nvPr/>
        </p:nvCxnSpPr>
        <p:spPr>
          <a:xfrm>
            <a:off x="530352" y="5180630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66E7AB-929A-6900-35D9-F1C66399874C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1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A9F1-814E-44B0-83E3-9DA02F3C243F}" type="datetime1">
              <a:rPr lang="en-US" smtClean="0"/>
              <a:t>5/13/2026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3400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139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365760"/>
            <a:ext cx="11256264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48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2212975"/>
            <a:ext cx="530383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238" y="2212975"/>
            <a:ext cx="532180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5078-AEDD-4B5A-AC6A-C8F87F9646E7}" type="datetime1">
              <a:rPr lang="en-US" smtClean="0"/>
              <a:t>5/13/2026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013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2758D-8EE6-4CC5-A170-BE9501D7BCFF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4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B484E-FEE6-4572-A5E5-40AFA2254CF8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097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BEA7-A772-B39C-F049-D8BA2D3F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36" y="694943"/>
            <a:ext cx="3915473" cy="132588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5693C4-36AD-07F9-763E-EE5FC9DFB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3072" y="2057400"/>
            <a:ext cx="3932237" cy="417690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B4614-4148-D757-88D0-D93E5E1EA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4943"/>
            <a:ext cx="6483096" cy="55393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ADC46-B01E-DA2E-F24C-C48F5253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A6063-F591-A804-79FE-A80AD399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C195-9048-4969-9920-6939BE28AE8D}" type="datetime1">
              <a:rPr lang="en-US" smtClean="0"/>
              <a:t>5/13/2026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FF439-6DA2-A61B-C94C-BEDC2411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952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EFA5E-0A3D-E6AD-3C21-DC40BCDEC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694944"/>
            <a:ext cx="3526816" cy="1711825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A8418-7980-9A18-053B-82E4F16EB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5389" y="2508261"/>
            <a:ext cx="3520528" cy="372794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6F9F06-BE63-8EE7-74C5-6D0E3F9B757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419600" y="533400"/>
            <a:ext cx="7239000" cy="57911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485A3-3BFA-4B57-F6E5-5F41542B7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AC9F0-6744-73C8-54FC-5C12BA7B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E6180-3A1B-4424-AB9F-671C4EBC0A2E}" type="datetime1">
              <a:rPr lang="en-US" smtClean="0"/>
              <a:t>5/13/2026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AB9F6-C801-466A-4C39-23DCB1CD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4215D5-0C4C-2E49-3A06-C65652576A64}"/>
              </a:ext>
            </a:extLst>
          </p:cNvPr>
          <p:cNvCxnSpPr>
            <a:cxnSpLocks/>
          </p:cNvCxnSpPr>
          <p:nvPr/>
        </p:nvCxnSpPr>
        <p:spPr>
          <a:xfrm>
            <a:off x="533400" y="533400"/>
            <a:ext cx="35037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757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3423301"/>
            <a:ext cx="11239499" cy="290129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2330-A382-475A-8519-6A39191EC88E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533400" y="297885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952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36238"/>
            <a:ext cx="11256264" cy="2512732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4834052"/>
            <a:ext cx="11239499" cy="140547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000" dirty="0"/>
            </a:lvl1pPr>
            <a:lvl2pPr marL="457200" indent="0">
              <a:buNone/>
              <a:defRPr lang="en-US" sz="1800" dirty="0"/>
            </a:lvl2pPr>
            <a:lvl3pPr marL="914400" indent="0">
              <a:buNone/>
              <a:defRPr lang="en-US" sz="1600" dirty="0"/>
            </a:lvl3pPr>
            <a:lvl4pPr marL="1371600" indent="0">
              <a:buNone/>
              <a:defRPr lang="en-US" sz="1400" dirty="0"/>
            </a:lvl4pPr>
            <a:lvl5pPr marL="18288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0DC0D-99C6-4F09-90C7-C0EC6E2F0A06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533400" y="4531625"/>
            <a:ext cx="1112519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105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3" y="691868"/>
            <a:ext cx="11243617" cy="901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40" y="1754753"/>
            <a:ext cx="11240960" cy="441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857" y="6426091"/>
            <a:ext cx="4688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6205" y="6426091"/>
            <a:ext cx="3327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ECD290D4-E5CF-428F-801F-3741FA4FB792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187" y="6426091"/>
            <a:ext cx="603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DD84031F-D6BF-4677-B12E-7D8B88BA7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32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8C0B5-E376-7603-3CEE-1B57C4691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5" y="765750"/>
            <a:ext cx="10410977" cy="3528339"/>
          </a:xfrm>
        </p:spPr>
        <p:txBody>
          <a:bodyPr anchor="t">
            <a:normAutofit/>
          </a:bodyPr>
          <a:lstStyle/>
          <a:p>
            <a:pPr algn="ctr"/>
            <a:r>
              <a:rPr lang="en-GB" sz="6000" dirty="0"/>
              <a:t>Practical Design and Clear Reporting of Simulation Studies</a:t>
            </a:r>
            <a:endParaRPr lang="en-US" sz="6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5CBA8D-F289-D94D-3681-1995D3896644}"/>
              </a:ext>
            </a:extLst>
          </p:cNvPr>
          <p:cNvSpPr txBox="1"/>
          <p:nvPr/>
        </p:nvSpPr>
        <p:spPr>
          <a:xfrm>
            <a:off x="533400" y="5439475"/>
            <a:ext cx="1082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Alexander Pate</a:t>
            </a:r>
          </a:p>
          <a:p>
            <a:r>
              <a:rPr lang="en-GB" dirty="0"/>
              <a:t>alexander.pate@manchester.ac.uk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0030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1BEF7-9AF6-AA3B-11B3-5B4BDEF78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52368-BEDE-6384-FDB5-DFDD42F36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1164415"/>
          </a:xfrm>
        </p:spPr>
        <p:txBody>
          <a:bodyPr anchor="t">
            <a:normAutofit/>
          </a:bodyPr>
          <a:lstStyle/>
          <a:p>
            <a:r>
              <a:rPr lang="en-US" dirty="0"/>
              <a:t>Why am I here?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4DCC013-3061-ED8F-C532-B92C8155B6E5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1" y="743106"/>
            <a:ext cx="6604991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Started working here in 2015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My research areas: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Quantifying uncertainty in prediction models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Methodology for the evaluation of prediction models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Prediction-under-intervention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A key tool for evaluating methodology, but discussions around their design somewhat limited</a:t>
            </a:r>
          </a:p>
          <a:p>
            <a:pPr marL="457200" lvl="1" indent="0">
              <a:spcBef>
                <a:spcPts val="600"/>
              </a:spcBef>
              <a:buNone/>
            </a:pPr>
            <a:endParaRPr lang="en-GB" sz="2000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Interested to hear your opinions!</a:t>
            </a:r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C8EFED-53B0-C4CA-ECC8-1159B7788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42" y="3159185"/>
            <a:ext cx="3269486" cy="93876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7F018A-9F53-A1D6-B502-55B1885AC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57" y="2191437"/>
            <a:ext cx="2840508" cy="8888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41DF9B-54A7-400F-DA6B-97BD9A288E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42" y="4140169"/>
            <a:ext cx="3013114" cy="10446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3B5087-A683-1EA6-AA09-0B71A58303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0771" y="5371082"/>
            <a:ext cx="2585229" cy="8888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609029-B35A-7435-85AC-08F2EB74BA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342" y="5226993"/>
            <a:ext cx="3269486" cy="103298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50152D-1EB5-BE07-4603-E047BF1A49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557" y="1087817"/>
            <a:ext cx="2840508" cy="102476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7921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CD5D2-E250-4B79-AC2A-294CD2257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F3E27-03AF-6F63-AEEF-74C25C4EE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1164415"/>
          </a:xfrm>
        </p:spPr>
        <p:txBody>
          <a:bodyPr anchor="t">
            <a:normAutofit/>
          </a:bodyPr>
          <a:lstStyle/>
          <a:p>
            <a:r>
              <a:rPr lang="en-US" dirty="0"/>
              <a:t>What do we mean by simulation?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B9A441C-605C-5A22-96DC-215292A334A1}"/>
              </a:ext>
            </a:extLst>
          </p:cNvPr>
          <p:cNvGrpSpPr/>
          <p:nvPr/>
        </p:nvGrpSpPr>
        <p:grpSpPr>
          <a:xfrm>
            <a:off x="663147" y="2046768"/>
            <a:ext cx="11039755" cy="3399229"/>
            <a:chOff x="1152245" y="2759149"/>
            <a:chExt cx="8522208" cy="2240280"/>
          </a:xfrm>
        </p:grpSpPr>
        <p:sp>
          <p:nvSpPr>
            <p:cNvPr id="3" name="Shape 2">
              <a:extLst>
                <a:ext uri="{FF2B5EF4-FFF2-40B4-BE49-F238E27FC236}">
                  <a16:creationId xmlns:a16="http://schemas.microsoft.com/office/drawing/2014/main" id="{A363F636-DF74-E750-9F2B-89DC45E29B42}"/>
                </a:ext>
              </a:extLst>
            </p:cNvPr>
            <p:cNvSpPr/>
            <p:nvPr/>
          </p:nvSpPr>
          <p:spPr>
            <a:xfrm>
              <a:off x="1152245" y="2759149"/>
              <a:ext cx="1627632" cy="2240280"/>
            </a:xfrm>
            <a:prstGeom prst="rect">
              <a:avLst/>
            </a:prstGeom>
            <a:solidFill>
              <a:srgbClr val="F2F5FB"/>
            </a:solidFill>
            <a:ln w="6350">
              <a:solidFill>
                <a:srgbClr val="D8DEF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666DF6BE-10F9-6D5E-6C05-0FA547C2D3FA}"/>
                </a:ext>
              </a:extLst>
            </p:cNvPr>
            <p:cNvSpPr/>
            <p:nvPr/>
          </p:nvSpPr>
          <p:spPr>
            <a:xfrm>
              <a:off x="1152245" y="2759149"/>
              <a:ext cx="54864" cy="2240280"/>
            </a:xfrm>
            <a:prstGeom prst="rect">
              <a:avLst/>
            </a:prstGeom>
            <a:solidFill>
              <a:srgbClr val="1D9E75"/>
            </a:solidFill>
            <a:ln w="1270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6" name="Image 0" descr="preencoded.png">
              <a:extLst>
                <a:ext uri="{FF2B5EF4-FFF2-40B4-BE49-F238E27FC236}">
                  <a16:creationId xmlns:a16="http://schemas.microsoft.com/office/drawing/2014/main" id="{38ACCADA-A8ED-BAEA-4A99-82030EF41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0261" y="2887165"/>
              <a:ext cx="301752" cy="301752"/>
            </a:xfrm>
            <a:prstGeom prst="rect">
              <a:avLst/>
            </a:prstGeom>
          </p:spPr>
        </p:pic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6B4FC98F-EB4E-51AF-E2C4-9C92DF5A0332}"/>
                </a:ext>
              </a:extLst>
            </p:cNvPr>
            <p:cNvSpPr/>
            <p:nvPr/>
          </p:nvSpPr>
          <p:spPr>
            <a:xfrm>
              <a:off x="1243685" y="3252925"/>
              <a:ext cx="148132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Healthcare / clinical simulation</a:t>
              </a:r>
              <a:endParaRPr lang="en-US" sz="1600" dirty="0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F0FFBAFF-E60C-E8D5-7993-E80B85E1C4B9}"/>
                </a:ext>
              </a:extLst>
            </p:cNvPr>
            <p:cNvSpPr/>
            <p:nvPr/>
          </p:nvSpPr>
          <p:spPr>
            <a:xfrm>
              <a:off x="1243685" y="3947869"/>
              <a:ext cx="1481328" cy="9875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D4A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Mannequins, standardised patients, mock clinical environments to train or study clinicians. Not computational — the simulation is physical.</a:t>
              </a:r>
              <a:endParaRPr lang="en-US" sz="1400" dirty="0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C761CF74-BBF8-0153-A3DF-DD7B445CD28D}"/>
                </a:ext>
              </a:extLst>
            </p:cNvPr>
            <p:cNvSpPr/>
            <p:nvPr/>
          </p:nvSpPr>
          <p:spPr>
            <a:xfrm>
              <a:off x="2875889" y="2759149"/>
              <a:ext cx="1627632" cy="2240280"/>
            </a:xfrm>
            <a:prstGeom prst="rect">
              <a:avLst/>
            </a:prstGeom>
            <a:solidFill>
              <a:srgbClr val="F2F5FB"/>
            </a:solidFill>
            <a:ln w="6350">
              <a:solidFill>
                <a:srgbClr val="D8DEF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CF918912-0093-8A38-A189-2FA40F5E4838}"/>
                </a:ext>
              </a:extLst>
            </p:cNvPr>
            <p:cNvSpPr/>
            <p:nvPr/>
          </p:nvSpPr>
          <p:spPr>
            <a:xfrm>
              <a:off x="2875889" y="2759149"/>
              <a:ext cx="54864" cy="2240280"/>
            </a:xfrm>
            <a:prstGeom prst="rect">
              <a:avLst/>
            </a:prstGeom>
            <a:solidFill>
              <a:srgbClr val="378ADD"/>
            </a:solidFill>
            <a:ln w="12700">
              <a:solidFill>
                <a:srgbClr val="378A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11" name="Image 1" descr="preencoded.png">
              <a:extLst>
                <a:ext uri="{FF2B5EF4-FFF2-40B4-BE49-F238E27FC236}">
                  <a16:creationId xmlns:a16="http://schemas.microsoft.com/office/drawing/2014/main" id="{B247EA67-8BFA-B4CA-6443-543D38989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03905" y="2887165"/>
              <a:ext cx="301752" cy="301752"/>
            </a:xfrm>
            <a:prstGeom prst="rect">
              <a:avLst/>
            </a:prstGeom>
          </p:spPr>
        </p:pic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C5136375-3EE5-C73B-D616-ADBB0F3307B0}"/>
                </a:ext>
              </a:extLst>
            </p:cNvPr>
            <p:cNvSpPr/>
            <p:nvPr/>
          </p:nvSpPr>
          <p:spPr>
            <a:xfrm>
              <a:off x="2967329" y="3252925"/>
              <a:ext cx="148132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Discrete event simulation</a:t>
              </a:r>
              <a:endParaRPr lang="en-US" sz="1600" dirty="0"/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3D92F8A5-A2AC-81C3-4D7A-E18D3DB34E78}"/>
                </a:ext>
              </a:extLst>
            </p:cNvPr>
            <p:cNvSpPr/>
            <p:nvPr/>
          </p:nvSpPr>
          <p:spPr>
            <a:xfrm>
              <a:off x="2967329" y="3947869"/>
              <a:ext cx="1481328" cy="9875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D4A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Entities (e.g. patients) move through a series of events over time. Used for patient flow, queues, and capacity planning.</a:t>
              </a:r>
              <a:endParaRPr lang="en-US" sz="1400" dirty="0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AF08E76C-ADD9-7BAF-BDD7-8AA4B1D751BD}"/>
                </a:ext>
              </a:extLst>
            </p:cNvPr>
            <p:cNvSpPr/>
            <p:nvPr/>
          </p:nvSpPr>
          <p:spPr>
            <a:xfrm>
              <a:off x="4599533" y="2759149"/>
              <a:ext cx="1627632" cy="2240280"/>
            </a:xfrm>
            <a:prstGeom prst="rect">
              <a:avLst/>
            </a:prstGeom>
            <a:solidFill>
              <a:srgbClr val="F2F5FB"/>
            </a:solidFill>
            <a:ln w="6350">
              <a:solidFill>
                <a:srgbClr val="D8DEF0"/>
              </a:solidFill>
              <a:prstDash val="solid"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5" name="Shape 11">
              <a:extLst>
                <a:ext uri="{FF2B5EF4-FFF2-40B4-BE49-F238E27FC236}">
                  <a16:creationId xmlns:a16="http://schemas.microsoft.com/office/drawing/2014/main" id="{6E4622F8-C3A3-7C59-469C-48F2C8649EDB}"/>
                </a:ext>
              </a:extLst>
            </p:cNvPr>
            <p:cNvSpPr/>
            <p:nvPr/>
          </p:nvSpPr>
          <p:spPr>
            <a:xfrm>
              <a:off x="4599533" y="2759149"/>
              <a:ext cx="54864" cy="2240280"/>
            </a:xfrm>
            <a:prstGeom prst="rect">
              <a:avLst/>
            </a:prstGeom>
            <a:solidFill>
              <a:srgbClr val="EF9F27"/>
            </a:solidFill>
            <a:ln w="12700">
              <a:solidFill>
                <a:srgbClr val="EF9F27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16" name="Image 2" descr="preencoded.png">
              <a:extLst>
                <a:ext uri="{FF2B5EF4-FFF2-40B4-BE49-F238E27FC236}">
                  <a16:creationId xmlns:a16="http://schemas.microsoft.com/office/drawing/2014/main" id="{1086AA8A-7F19-F451-946A-C9265BBF3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27549" y="2887165"/>
              <a:ext cx="301752" cy="301752"/>
            </a:xfrm>
            <a:prstGeom prst="rect">
              <a:avLst/>
            </a:prstGeom>
          </p:spPr>
        </p:pic>
        <p:sp>
          <p:nvSpPr>
            <p:cNvPr id="17" name="Text 12">
              <a:extLst>
                <a:ext uri="{FF2B5EF4-FFF2-40B4-BE49-F238E27FC236}">
                  <a16:creationId xmlns:a16="http://schemas.microsoft.com/office/drawing/2014/main" id="{E1B62341-715E-BBEE-5C6C-EEA626E878A1}"/>
                </a:ext>
              </a:extLst>
            </p:cNvPr>
            <p:cNvSpPr/>
            <p:nvPr/>
          </p:nvSpPr>
          <p:spPr>
            <a:xfrm>
              <a:off x="4690973" y="3252925"/>
              <a:ext cx="148132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System dynamics</a:t>
              </a:r>
              <a:endParaRPr lang="en-US" sz="1600" dirty="0"/>
            </a:p>
          </p:txBody>
        </p:sp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71930FFD-FC69-775A-6493-A1CC1664CA6F}"/>
                </a:ext>
              </a:extLst>
            </p:cNvPr>
            <p:cNvSpPr/>
            <p:nvPr/>
          </p:nvSpPr>
          <p:spPr>
            <a:xfrm>
              <a:off x="4690973" y="3947869"/>
              <a:ext cx="1481328" cy="9875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D4A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Stocks, flows, and feedback loops model macro-level behaviour — e.g. epidemic trajectories via SIR/SEIR models.</a:t>
              </a:r>
              <a:endParaRPr lang="en-US" sz="1400" dirty="0"/>
            </a:p>
          </p:txBody>
        </p:sp>
        <p:sp>
          <p:nvSpPr>
            <p:cNvPr id="19" name="Shape 14">
              <a:extLst>
                <a:ext uri="{FF2B5EF4-FFF2-40B4-BE49-F238E27FC236}">
                  <a16:creationId xmlns:a16="http://schemas.microsoft.com/office/drawing/2014/main" id="{AC4A163F-2DD9-C7C1-D898-AE92ADD3AEA4}"/>
                </a:ext>
              </a:extLst>
            </p:cNvPr>
            <p:cNvSpPr/>
            <p:nvPr/>
          </p:nvSpPr>
          <p:spPr>
            <a:xfrm>
              <a:off x="6323177" y="2759149"/>
              <a:ext cx="1627632" cy="2240280"/>
            </a:xfrm>
            <a:prstGeom prst="rect">
              <a:avLst/>
            </a:prstGeom>
            <a:solidFill>
              <a:srgbClr val="F2F5FB"/>
            </a:solidFill>
            <a:ln w="6350">
              <a:solidFill>
                <a:srgbClr val="D8DEF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Shape 15">
              <a:extLst>
                <a:ext uri="{FF2B5EF4-FFF2-40B4-BE49-F238E27FC236}">
                  <a16:creationId xmlns:a16="http://schemas.microsoft.com/office/drawing/2014/main" id="{C6482D14-FBF2-BDE4-7909-6EE81A4DD916}"/>
                </a:ext>
              </a:extLst>
            </p:cNvPr>
            <p:cNvSpPr/>
            <p:nvPr/>
          </p:nvSpPr>
          <p:spPr>
            <a:xfrm>
              <a:off x="6323177" y="2759149"/>
              <a:ext cx="54864" cy="2240280"/>
            </a:xfrm>
            <a:prstGeom prst="rect">
              <a:avLst/>
            </a:prstGeom>
            <a:solidFill>
              <a:srgbClr val="D85A30"/>
            </a:solidFill>
            <a:ln w="12700">
              <a:solidFill>
                <a:srgbClr val="D85A3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21" name="Image 3" descr="preencoded.png">
              <a:extLst>
                <a:ext uri="{FF2B5EF4-FFF2-40B4-BE49-F238E27FC236}">
                  <a16:creationId xmlns:a16="http://schemas.microsoft.com/office/drawing/2014/main" id="{D76ECD22-A17F-1872-A15F-2DF443B52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51193" y="2887165"/>
              <a:ext cx="301752" cy="301752"/>
            </a:xfrm>
            <a:prstGeom prst="rect">
              <a:avLst/>
            </a:prstGeom>
          </p:spPr>
        </p:pic>
        <p:sp>
          <p:nvSpPr>
            <p:cNvPr id="22" name="Text 16">
              <a:extLst>
                <a:ext uri="{FF2B5EF4-FFF2-40B4-BE49-F238E27FC236}">
                  <a16:creationId xmlns:a16="http://schemas.microsoft.com/office/drawing/2014/main" id="{4E1A011C-778E-4C4D-C97F-B60529E704F1}"/>
                </a:ext>
              </a:extLst>
            </p:cNvPr>
            <p:cNvSpPr/>
            <p:nvPr/>
          </p:nvSpPr>
          <p:spPr>
            <a:xfrm>
              <a:off x="6414617" y="3252925"/>
              <a:ext cx="148132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Agent-based simulation</a:t>
              </a:r>
              <a:endParaRPr lang="en-US" sz="1600" dirty="0"/>
            </a:p>
          </p:txBody>
        </p:sp>
        <p:sp>
          <p:nvSpPr>
            <p:cNvPr id="23" name="Text 17">
              <a:extLst>
                <a:ext uri="{FF2B5EF4-FFF2-40B4-BE49-F238E27FC236}">
                  <a16:creationId xmlns:a16="http://schemas.microsoft.com/office/drawing/2014/main" id="{8D1422A6-61B8-08FA-FE97-A06B64EFAE9E}"/>
                </a:ext>
              </a:extLst>
            </p:cNvPr>
            <p:cNvSpPr/>
            <p:nvPr/>
          </p:nvSpPr>
          <p:spPr>
            <a:xfrm>
              <a:off x="6414617" y="3947869"/>
              <a:ext cx="1481328" cy="9875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D4A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Autonomous agents follow local rules; system-level behaviour emerges from interactions. Used in epidemiology, economics, social science.</a:t>
              </a:r>
              <a:endParaRPr lang="en-US" sz="1400" dirty="0"/>
            </a:p>
          </p:txBody>
        </p:sp>
        <p:sp>
          <p:nvSpPr>
            <p:cNvPr id="24" name="Shape 18">
              <a:extLst>
                <a:ext uri="{FF2B5EF4-FFF2-40B4-BE49-F238E27FC236}">
                  <a16:creationId xmlns:a16="http://schemas.microsoft.com/office/drawing/2014/main" id="{03A2C892-733D-983B-302D-A1CEFA3707DA}"/>
                </a:ext>
              </a:extLst>
            </p:cNvPr>
            <p:cNvSpPr/>
            <p:nvPr/>
          </p:nvSpPr>
          <p:spPr>
            <a:xfrm>
              <a:off x="8046821" y="2759149"/>
              <a:ext cx="1627632" cy="2240280"/>
            </a:xfrm>
            <a:prstGeom prst="rect">
              <a:avLst/>
            </a:prstGeom>
            <a:solidFill>
              <a:srgbClr val="F2F5FB"/>
            </a:solidFill>
            <a:ln w="6350">
              <a:solidFill>
                <a:srgbClr val="D8DEF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Shape 19">
              <a:extLst>
                <a:ext uri="{FF2B5EF4-FFF2-40B4-BE49-F238E27FC236}">
                  <a16:creationId xmlns:a16="http://schemas.microsoft.com/office/drawing/2014/main" id="{110C85BA-7C6A-1DC7-25D8-6602B82DF2FD}"/>
                </a:ext>
              </a:extLst>
            </p:cNvPr>
            <p:cNvSpPr/>
            <p:nvPr/>
          </p:nvSpPr>
          <p:spPr>
            <a:xfrm>
              <a:off x="8046821" y="2759149"/>
              <a:ext cx="54864" cy="2240280"/>
            </a:xfrm>
            <a:prstGeom prst="rect">
              <a:avLst/>
            </a:prstGeom>
            <a:solidFill>
              <a:srgbClr val="7F77DD"/>
            </a:solidFill>
            <a:ln w="12700">
              <a:solidFill>
                <a:srgbClr val="7F77D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26" name="Image 4" descr="preencoded.png">
              <a:extLst>
                <a:ext uri="{FF2B5EF4-FFF2-40B4-BE49-F238E27FC236}">
                  <a16:creationId xmlns:a16="http://schemas.microsoft.com/office/drawing/2014/main" id="{078FB433-D586-1068-FB90-6AAC5FF76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174837" y="2887165"/>
              <a:ext cx="301752" cy="301752"/>
            </a:xfrm>
            <a:prstGeom prst="rect">
              <a:avLst/>
            </a:prstGeom>
          </p:spPr>
        </p:pic>
        <p:sp>
          <p:nvSpPr>
            <p:cNvPr id="27" name="Text 20">
              <a:extLst>
                <a:ext uri="{FF2B5EF4-FFF2-40B4-BE49-F238E27FC236}">
                  <a16:creationId xmlns:a16="http://schemas.microsoft.com/office/drawing/2014/main" id="{F29DFB63-708F-3531-3D6D-1DA9C86AB5AD}"/>
                </a:ext>
              </a:extLst>
            </p:cNvPr>
            <p:cNvSpPr/>
            <p:nvPr/>
          </p:nvSpPr>
          <p:spPr>
            <a:xfrm>
              <a:off x="8138261" y="3252925"/>
              <a:ext cx="148132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Digital twins</a:t>
              </a:r>
              <a:endParaRPr lang="en-US" sz="1600" dirty="0"/>
            </a:p>
          </p:txBody>
        </p:sp>
        <p:sp>
          <p:nvSpPr>
            <p:cNvPr id="28" name="Text 21">
              <a:extLst>
                <a:ext uri="{FF2B5EF4-FFF2-40B4-BE49-F238E27FC236}">
                  <a16:creationId xmlns:a16="http://schemas.microsoft.com/office/drawing/2014/main" id="{CDD4961D-3164-E5F6-7789-6CD5610CF1B4}"/>
                </a:ext>
              </a:extLst>
            </p:cNvPr>
            <p:cNvSpPr/>
            <p:nvPr/>
          </p:nvSpPr>
          <p:spPr>
            <a:xfrm>
              <a:off x="8138261" y="3947869"/>
              <a:ext cx="1481328" cy="9875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D4A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real-time digital replica of a specific entity (patient, hospital, system), continuously updated with live data for prediction and decision support</a:t>
              </a:r>
              <a:r>
                <a:rPr lang="en-US" sz="950" dirty="0">
                  <a:solidFill>
                    <a:srgbClr val="3D4A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950" dirty="0"/>
            </a:p>
          </p:txBody>
        </p:sp>
      </p:grpSp>
    </p:spTree>
    <p:extLst>
      <p:ext uri="{BB962C8B-B14F-4D97-AF65-F5344CB8AC3E}">
        <p14:creationId xmlns:p14="http://schemas.microsoft.com/office/powerpoint/2010/main" val="281783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BBB34-AAAF-FC10-7462-F0BE90AE0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E054C-3F54-DA69-AD1F-C2D7252BD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784599" cy="1164415"/>
          </a:xfrm>
        </p:spPr>
        <p:txBody>
          <a:bodyPr anchor="t">
            <a:normAutofit/>
          </a:bodyPr>
          <a:lstStyle/>
          <a:p>
            <a:r>
              <a:rPr lang="en-US" dirty="0"/>
              <a:t>Monte </a:t>
            </a:r>
            <a:r>
              <a:rPr lang="en-US" dirty="0" err="1"/>
              <a:t>carlo</a:t>
            </a:r>
            <a:r>
              <a:rPr lang="en-US" dirty="0"/>
              <a:t> simulations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A3AA26D4-84CA-1394-EC7E-DDFD11E76605}"/>
              </a:ext>
            </a:extLst>
          </p:cNvPr>
          <p:cNvSpPr/>
          <p:nvPr/>
        </p:nvSpPr>
        <p:spPr>
          <a:xfrm>
            <a:off x="-3673236" y="4431971"/>
            <a:ext cx="137160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1136A48-9394-0577-8CD6-140D117FA0C7}"/>
              </a:ext>
            </a:extLst>
          </p:cNvPr>
          <p:cNvSpPr/>
          <p:nvPr/>
        </p:nvSpPr>
        <p:spPr>
          <a:xfrm>
            <a:off x="-3197748" y="4559987"/>
            <a:ext cx="420624" cy="420624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0E48D53-B61F-7802-E073-CE66680B2D16}"/>
              </a:ext>
            </a:extLst>
          </p:cNvPr>
          <p:cNvSpPr/>
          <p:nvPr/>
        </p:nvSpPr>
        <p:spPr>
          <a:xfrm>
            <a:off x="-3197748" y="4559987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531A100-7085-9E8A-E397-26995CB72312}"/>
              </a:ext>
            </a:extLst>
          </p:cNvPr>
          <p:cNvSpPr/>
          <p:nvPr/>
        </p:nvSpPr>
        <p:spPr>
          <a:xfrm>
            <a:off x="-3581796" y="5072051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estimand &amp; select methods</a:t>
            </a:r>
            <a:endParaRPr lang="en-US" sz="10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93E1319-7B19-08BC-6557-2BBF6C450211}"/>
              </a:ext>
            </a:extLst>
          </p:cNvPr>
          <p:cNvSpPr/>
          <p:nvPr/>
        </p:nvSpPr>
        <p:spPr>
          <a:xfrm>
            <a:off x="-3581796" y="5840147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quantity to estimate and which statistical methods to compare</a:t>
            </a:r>
            <a:endParaRPr lang="en-US" sz="8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2A848CC-570C-1F08-5034-3C55012B55DD}"/>
              </a:ext>
            </a:extLst>
          </p:cNvPr>
          <p:cNvSpPr/>
          <p:nvPr/>
        </p:nvSpPr>
        <p:spPr>
          <a:xfrm>
            <a:off x="-2274204" y="5392091"/>
            <a:ext cx="141732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3C4DBC4-5968-A278-7EDE-FAC3B10EE397}"/>
              </a:ext>
            </a:extLst>
          </p:cNvPr>
          <p:cNvSpPr/>
          <p:nvPr/>
        </p:nvSpPr>
        <p:spPr>
          <a:xfrm>
            <a:off x="-2105040" y="4431971"/>
            <a:ext cx="137160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F6557A6-193D-0760-F0A7-5E005D4B3622}"/>
              </a:ext>
            </a:extLst>
          </p:cNvPr>
          <p:cNvSpPr/>
          <p:nvPr/>
        </p:nvSpPr>
        <p:spPr>
          <a:xfrm>
            <a:off x="-1629552" y="4559987"/>
            <a:ext cx="420624" cy="420624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234EAFB-8ECB-4AAC-0970-35A62498347D}"/>
              </a:ext>
            </a:extLst>
          </p:cNvPr>
          <p:cNvSpPr/>
          <p:nvPr/>
        </p:nvSpPr>
        <p:spPr>
          <a:xfrm>
            <a:off x="-1629552" y="4559987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201651F-E045-FC14-A797-E5844D49B2B9}"/>
              </a:ext>
            </a:extLst>
          </p:cNvPr>
          <p:cNvSpPr/>
          <p:nvPr/>
        </p:nvSpPr>
        <p:spPr>
          <a:xfrm>
            <a:off x="-2013600" y="5072051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a data-generating process</a:t>
            </a:r>
            <a:endParaRPr lang="en-US" sz="10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65C8D38-2BE5-D52B-E5F8-0FBC535BDEB3}"/>
              </a:ext>
            </a:extLst>
          </p:cNvPr>
          <p:cNvSpPr/>
          <p:nvPr/>
        </p:nvSpPr>
        <p:spPr>
          <a:xfrm>
            <a:off x="-2013600" y="5840147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model representing a target population or scenario</a:t>
            </a:r>
            <a:endParaRPr lang="en-US" sz="8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C5661FE-A853-E135-1C90-70DDC20E1618}"/>
              </a:ext>
            </a:extLst>
          </p:cNvPr>
          <p:cNvSpPr/>
          <p:nvPr/>
        </p:nvSpPr>
        <p:spPr>
          <a:xfrm>
            <a:off x="-706008" y="5392091"/>
            <a:ext cx="141732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72D27A2-55D7-5A51-1584-C1CC83E2C372}"/>
              </a:ext>
            </a:extLst>
          </p:cNvPr>
          <p:cNvSpPr/>
          <p:nvPr/>
        </p:nvSpPr>
        <p:spPr>
          <a:xfrm>
            <a:off x="1021477" y="2273985"/>
            <a:ext cx="2504067" cy="2959785"/>
          </a:xfrm>
          <a:prstGeom prst="rect">
            <a:avLst/>
          </a:prstGeom>
          <a:solidFill>
            <a:srgbClr val="0D7A80"/>
          </a:solidFill>
          <a:ln w="12700">
            <a:solidFill>
              <a:srgbClr val="0D7A8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8AA5BEB-B3A2-7D9C-A1B1-D139B4803738}"/>
              </a:ext>
            </a:extLst>
          </p:cNvPr>
          <p:cNvSpPr/>
          <p:nvPr/>
        </p:nvSpPr>
        <p:spPr>
          <a:xfrm>
            <a:off x="2063198" y="2732621"/>
            <a:ext cx="420624" cy="420624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56F64FC-E204-1462-A2AE-094B37C78F05}"/>
              </a:ext>
            </a:extLst>
          </p:cNvPr>
          <p:cNvSpPr/>
          <p:nvPr/>
        </p:nvSpPr>
        <p:spPr>
          <a:xfrm>
            <a:off x="2063198" y="272204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A2241A9-3745-6E35-943C-D44896D4EAE1}"/>
              </a:ext>
            </a:extLst>
          </p:cNvPr>
          <p:cNvSpPr/>
          <p:nvPr/>
        </p:nvSpPr>
        <p:spPr>
          <a:xfrm>
            <a:off x="1679150" y="3502152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 data</a:t>
            </a:r>
            <a:endParaRPr lang="en-US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2DFAA75-7397-22F5-5BA3-D5827B52C5F8}"/>
              </a:ext>
            </a:extLst>
          </p:cNvPr>
          <p:cNvSpPr/>
          <p:nvPr/>
        </p:nvSpPr>
        <p:spPr>
          <a:xfrm>
            <a:off x="-3564934" y="2575739"/>
            <a:ext cx="141732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0A00433-FAE8-E35E-33E3-ABA7340018DC}"/>
              </a:ext>
            </a:extLst>
          </p:cNvPr>
          <p:cNvSpPr/>
          <p:nvPr/>
        </p:nvSpPr>
        <p:spPr>
          <a:xfrm>
            <a:off x="-3395770" y="1615619"/>
            <a:ext cx="1371600" cy="1920240"/>
          </a:xfrm>
          <a:prstGeom prst="rect">
            <a:avLst/>
          </a:prstGeom>
          <a:solidFill>
            <a:srgbClr val="0D7A80"/>
          </a:solidFill>
          <a:ln w="12700">
            <a:solidFill>
              <a:srgbClr val="0D7A8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1936D51-7761-BF58-0D50-9D2C7F41BCBA}"/>
              </a:ext>
            </a:extLst>
          </p:cNvPr>
          <p:cNvSpPr/>
          <p:nvPr/>
        </p:nvSpPr>
        <p:spPr>
          <a:xfrm>
            <a:off x="-2920282" y="1743635"/>
            <a:ext cx="420624" cy="420624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BDBAA78-8445-2306-92C8-23AF17782BC5}"/>
              </a:ext>
            </a:extLst>
          </p:cNvPr>
          <p:cNvSpPr/>
          <p:nvPr/>
        </p:nvSpPr>
        <p:spPr>
          <a:xfrm>
            <a:off x="-2920282" y="174363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6C87F11-9390-37E8-68DF-6033519F1FF7}"/>
              </a:ext>
            </a:extLst>
          </p:cNvPr>
          <p:cNvSpPr/>
          <p:nvPr/>
        </p:nvSpPr>
        <p:spPr>
          <a:xfrm>
            <a:off x="-3304330" y="2255699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methods</a:t>
            </a:r>
            <a:endParaRPr lang="en-US" sz="10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43B2F36-A14A-E764-621E-C20F0F60C4F3}"/>
              </a:ext>
            </a:extLst>
          </p:cNvPr>
          <p:cNvSpPr/>
          <p:nvPr/>
        </p:nvSpPr>
        <p:spPr>
          <a:xfrm>
            <a:off x="-3304330" y="3023795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quantity of interest using every method under comparison</a:t>
            </a:r>
            <a:endParaRPr lang="en-US" sz="8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517722E-4832-CC59-9E21-A2E800B172F2}"/>
              </a:ext>
            </a:extLst>
          </p:cNvPr>
          <p:cNvSpPr/>
          <p:nvPr/>
        </p:nvSpPr>
        <p:spPr>
          <a:xfrm>
            <a:off x="3525544" y="3810177"/>
            <a:ext cx="1339092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E72F5DA-CD7D-E4C8-9EFA-50E63EA07F27}"/>
              </a:ext>
            </a:extLst>
          </p:cNvPr>
          <p:cNvSpPr/>
          <p:nvPr/>
        </p:nvSpPr>
        <p:spPr>
          <a:xfrm>
            <a:off x="-1827574" y="1615619"/>
            <a:ext cx="1371600" cy="1920240"/>
          </a:xfrm>
          <a:prstGeom prst="rect">
            <a:avLst/>
          </a:prstGeom>
          <a:solidFill>
            <a:srgbClr val="0D7A80"/>
          </a:solidFill>
          <a:ln w="12700">
            <a:solidFill>
              <a:srgbClr val="0D7A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03E2C96-3B27-F765-6428-0BDDE4D3FC39}"/>
              </a:ext>
            </a:extLst>
          </p:cNvPr>
          <p:cNvSpPr/>
          <p:nvPr/>
        </p:nvSpPr>
        <p:spPr>
          <a:xfrm>
            <a:off x="-1352086" y="1743635"/>
            <a:ext cx="420624" cy="420624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B9CE535-C1B0-9659-EC8F-640D7B7398AA}"/>
              </a:ext>
            </a:extLst>
          </p:cNvPr>
          <p:cNvSpPr/>
          <p:nvPr/>
        </p:nvSpPr>
        <p:spPr>
          <a:xfrm>
            <a:off x="-1352086" y="174363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591C05E-D8ED-2FF8-9139-79C5455B3F19}"/>
              </a:ext>
            </a:extLst>
          </p:cNvPr>
          <p:cNvSpPr/>
          <p:nvPr/>
        </p:nvSpPr>
        <p:spPr>
          <a:xfrm>
            <a:off x="-1736134" y="2255699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performance</a:t>
            </a:r>
            <a:endParaRPr lang="en-US" sz="105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61CE2F1-55BC-301B-C228-6B0E2AD92392}"/>
              </a:ext>
            </a:extLst>
          </p:cNvPr>
          <p:cNvSpPr/>
          <p:nvPr/>
        </p:nvSpPr>
        <p:spPr>
          <a:xfrm>
            <a:off x="-1736134" y="3023795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estimates to the known truth — compute bias, coverage, power</a:t>
            </a:r>
            <a:endParaRPr lang="en-US" sz="8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088E7AAC-E6F2-71DD-B2FA-C36D2C5C3165}"/>
              </a:ext>
            </a:extLst>
          </p:cNvPr>
          <p:cNvSpPr/>
          <p:nvPr/>
        </p:nvSpPr>
        <p:spPr>
          <a:xfrm>
            <a:off x="862880" y="5233770"/>
            <a:ext cx="1" cy="690778"/>
          </a:xfrm>
          <a:prstGeom prst="line">
            <a:avLst/>
          </a:prstGeom>
          <a:noFill/>
          <a:ln w="19050">
            <a:solidFill>
              <a:srgbClr val="0D7A8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E00C03F-EB33-D776-9F0D-FDC088A17032}"/>
              </a:ext>
            </a:extLst>
          </p:cNvPr>
          <p:cNvSpPr/>
          <p:nvPr/>
        </p:nvSpPr>
        <p:spPr>
          <a:xfrm flipV="1">
            <a:off x="862880" y="5924546"/>
            <a:ext cx="10605283" cy="2"/>
          </a:xfrm>
          <a:prstGeom prst="line">
            <a:avLst/>
          </a:prstGeom>
          <a:noFill/>
          <a:ln w="19050">
            <a:solidFill>
              <a:srgbClr val="0D7A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AB341800-1F59-6A68-3E8D-A17950EB4B12}"/>
              </a:ext>
            </a:extLst>
          </p:cNvPr>
          <p:cNvSpPr/>
          <p:nvPr/>
        </p:nvSpPr>
        <p:spPr>
          <a:xfrm>
            <a:off x="-455974" y="3627299"/>
            <a:ext cx="0" cy="182880"/>
          </a:xfrm>
          <a:prstGeom prst="line">
            <a:avLst/>
          </a:prstGeom>
          <a:noFill/>
          <a:ln w="19050">
            <a:solidFill>
              <a:srgbClr val="0D7A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A8F491C-8A8E-8A97-0313-02F2EF7357B3}"/>
              </a:ext>
            </a:extLst>
          </p:cNvPr>
          <p:cNvSpPr/>
          <p:nvPr/>
        </p:nvSpPr>
        <p:spPr>
          <a:xfrm>
            <a:off x="3294324" y="5992467"/>
            <a:ext cx="5467096" cy="2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0D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many times</a:t>
            </a:r>
            <a:endParaRPr lang="en-US" dirty="0"/>
          </a:p>
        </p:txBody>
      </p:sp>
      <p:sp>
        <p:nvSpPr>
          <p:cNvPr id="5" name="Shape 14">
            <a:extLst>
              <a:ext uri="{FF2B5EF4-FFF2-40B4-BE49-F238E27FC236}">
                <a16:creationId xmlns:a16="http://schemas.microsoft.com/office/drawing/2014/main" id="{16B52787-8E1C-FBE7-7EB5-CC7D0A8616E2}"/>
              </a:ext>
            </a:extLst>
          </p:cNvPr>
          <p:cNvSpPr/>
          <p:nvPr/>
        </p:nvSpPr>
        <p:spPr>
          <a:xfrm>
            <a:off x="4864636" y="2273985"/>
            <a:ext cx="2504067" cy="2959785"/>
          </a:xfrm>
          <a:prstGeom prst="rect">
            <a:avLst/>
          </a:prstGeom>
          <a:solidFill>
            <a:srgbClr val="0D7A80"/>
          </a:solidFill>
          <a:ln w="12700">
            <a:solidFill>
              <a:srgbClr val="0D7A8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1BA7BB15-F6CE-B9D2-D8B0-0E77CAD3D369}"/>
              </a:ext>
            </a:extLst>
          </p:cNvPr>
          <p:cNvSpPr/>
          <p:nvPr/>
        </p:nvSpPr>
        <p:spPr>
          <a:xfrm>
            <a:off x="5906357" y="2732621"/>
            <a:ext cx="420624" cy="420624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28A43BBC-4449-F41A-50DF-CF414031DE5E}"/>
              </a:ext>
            </a:extLst>
          </p:cNvPr>
          <p:cNvSpPr/>
          <p:nvPr/>
        </p:nvSpPr>
        <p:spPr>
          <a:xfrm>
            <a:off x="5906357" y="272204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36F57BF7-EAE0-6E6A-98E9-BA9963D00918}"/>
              </a:ext>
            </a:extLst>
          </p:cNvPr>
          <p:cNvSpPr/>
          <p:nvPr/>
        </p:nvSpPr>
        <p:spPr>
          <a:xfrm>
            <a:off x="5522309" y="3502152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methods</a:t>
            </a:r>
            <a:endParaRPr lang="en-US" dirty="0"/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761218DB-0D42-BAE6-4746-43A1CEAE209B}"/>
              </a:ext>
            </a:extLst>
          </p:cNvPr>
          <p:cNvSpPr/>
          <p:nvPr/>
        </p:nvSpPr>
        <p:spPr>
          <a:xfrm>
            <a:off x="8784371" y="2273985"/>
            <a:ext cx="2504067" cy="2959785"/>
          </a:xfrm>
          <a:prstGeom prst="rect">
            <a:avLst/>
          </a:prstGeom>
          <a:solidFill>
            <a:srgbClr val="0D7A80"/>
          </a:solidFill>
          <a:ln w="12700">
            <a:solidFill>
              <a:srgbClr val="0D7A8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2" name="Shape 15">
            <a:extLst>
              <a:ext uri="{FF2B5EF4-FFF2-40B4-BE49-F238E27FC236}">
                <a16:creationId xmlns:a16="http://schemas.microsoft.com/office/drawing/2014/main" id="{07893E84-D7CF-F5AD-A9C0-D9B297C6A4BA}"/>
              </a:ext>
            </a:extLst>
          </p:cNvPr>
          <p:cNvSpPr/>
          <p:nvPr/>
        </p:nvSpPr>
        <p:spPr>
          <a:xfrm>
            <a:off x="9826092" y="2732621"/>
            <a:ext cx="420624" cy="420624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938AF53B-9B41-F1E9-F5D1-5F65195CC7C4}"/>
              </a:ext>
            </a:extLst>
          </p:cNvPr>
          <p:cNvSpPr/>
          <p:nvPr/>
        </p:nvSpPr>
        <p:spPr>
          <a:xfrm>
            <a:off x="9826092" y="272204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10D82445-F060-8C63-1773-8149D49D609F}"/>
              </a:ext>
            </a:extLst>
          </p:cNvPr>
          <p:cNvSpPr/>
          <p:nvPr/>
        </p:nvSpPr>
        <p:spPr>
          <a:xfrm>
            <a:off x="9175898" y="3502152"/>
            <a:ext cx="16799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performance</a:t>
            </a:r>
            <a:endParaRPr lang="en-US" dirty="0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C5AC1E4B-D110-6503-5B16-C87BFDBB9148}"/>
              </a:ext>
            </a:extLst>
          </p:cNvPr>
          <p:cNvSpPr/>
          <p:nvPr/>
        </p:nvSpPr>
        <p:spPr>
          <a:xfrm>
            <a:off x="9015590" y="4236542"/>
            <a:ext cx="20416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dirty="0">
                <a:solidFill>
                  <a:srgbClr val="B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estimates to the known truth</a:t>
            </a:r>
            <a:endParaRPr lang="en-US" dirty="0"/>
          </a:p>
        </p:txBody>
      </p:sp>
      <p:sp>
        <p:nvSpPr>
          <p:cNvPr id="46" name="Shape 31">
            <a:extLst>
              <a:ext uri="{FF2B5EF4-FFF2-40B4-BE49-F238E27FC236}">
                <a16:creationId xmlns:a16="http://schemas.microsoft.com/office/drawing/2014/main" id="{94D6E60E-FE6B-D185-E3DA-D958EBC1CABA}"/>
              </a:ext>
            </a:extLst>
          </p:cNvPr>
          <p:cNvSpPr/>
          <p:nvPr/>
        </p:nvSpPr>
        <p:spPr>
          <a:xfrm>
            <a:off x="11468166" y="5233769"/>
            <a:ext cx="1" cy="690778"/>
          </a:xfrm>
          <a:prstGeom prst="line">
            <a:avLst/>
          </a:prstGeom>
          <a:noFill/>
          <a:ln w="19050">
            <a:solidFill>
              <a:srgbClr val="0D7A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25">
            <a:extLst>
              <a:ext uri="{FF2B5EF4-FFF2-40B4-BE49-F238E27FC236}">
                <a16:creationId xmlns:a16="http://schemas.microsoft.com/office/drawing/2014/main" id="{0F60C062-C61A-2BF6-498C-C91B5949DA3B}"/>
              </a:ext>
            </a:extLst>
          </p:cNvPr>
          <p:cNvSpPr/>
          <p:nvPr/>
        </p:nvSpPr>
        <p:spPr>
          <a:xfrm>
            <a:off x="7368703" y="3810177"/>
            <a:ext cx="141566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2827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F83F3-6ED2-BDEE-EEAB-C789D530C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D75D0-8CA8-8066-6FE1-DFD6CA89B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1164415"/>
          </a:xfrm>
        </p:spPr>
        <p:txBody>
          <a:bodyPr anchor="t">
            <a:normAutofit/>
          </a:bodyPr>
          <a:lstStyle/>
          <a:p>
            <a:r>
              <a:rPr lang="en-US" dirty="0"/>
              <a:t>What I’m going to talk about today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501BE2-CF22-3662-6E04-1EDB730AEC78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6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ADEMP framework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Worked examples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Key concepts/discussion</a:t>
            </a:r>
          </a:p>
        </p:txBody>
      </p:sp>
    </p:spTree>
    <p:extLst>
      <p:ext uri="{BB962C8B-B14F-4D97-AF65-F5344CB8AC3E}">
        <p14:creationId xmlns:p14="http://schemas.microsoft.com/office/powerpoint/2010/main" val="1598880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F1C57-9AC3-29A1-48AF-2F829C30F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4976037"/>
            <a:ext cx="8961120" cy="1289846"/>
          </a:xfrm>
        </p:spPr>
        <p:txBody>
          <a:bodyPr anchor="b">
            <a:normAutofit/>
          </a:bodyPr>
          <a:lstStyle/>
          <a:p>
            <a:r>
              <a:rPr lang="en-US" dirty="0"/>
              <a:t>ADEMP framework</a:t>
            </a:r>
          </a:p>
        </p:txBody>
      </p:sp>
    </p:spTree>
    <p:extLst>
      <p:ext uri="{BB962C8B-B14F-4D97-AF65-F5344CB8AC3E}">
        <p14:creationId xmlns:p14="http://schemas.microsoft.com/office/powerpoint/2010/main" val="3379907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C3250-BDB5-C04E-0F91-07E156472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CBE2B-2F07-CA61-2DB9-26CE9E6DD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ademp</a:t>
            </a:r>
            <a:r>
              <a:rPr lang="en-US" dirty="0"/>
              <a:t> framework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6A32E7-DDED-61FE-9754-9AB2173D5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070" y="613953"/>
            <a:ext cx="6096526" cy="2223289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6F31EE-3E5F-AF73-778D-02A1EBDC8D49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22400" y="1349162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b="1" dirty="0"/>
              <a:t> Aims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</a:t>
            </a:r>
            <a:r>
              <a:rPr lang="en-GB" sz="2000" b="1" dirty="0"/>
              <a:t>Data Generating Mechanisms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b="1" dirty="0"/>
              <a:t> </a:t>
            </a:r>
            <a:r>
              <a:rPr lang="en-GB" sz="2000" b="1" dirty="0" err="1"/>
              <a:t>Estimand</a:t>
            </a:r>
            <a:r>
              <a:rPr lang="en-GB" sz="2000" b="1" dirty="0"/>
              <a:t> (and other targets)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b="1" dirty="0"/>
              <a:t> Methods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b="1" dirty="0"/>
              <a:t> Performance metrics</a:t>
            </a:r>
          </a:p>
          <a:p>
            <a:pPr lvl="1"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3222186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E6E35-6E68-EA1D-3223-DD6575E7A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2AD93-8D93-1059-CBDA-69A39574E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ademp</a:t>
            </a:r>
            <a:r>
              <a:rPr lang="en-US" dirty="0"/>
              <a:t> framework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D4EF476-6BE6-64CD-F30A-DB72052307C6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22400" y="1349162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b="1" dirty="0"/>
              <a:t> Aims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Data Generating Mechanisms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</a:t>
            </a:r>
            <a:r>
              <a:rPr lang="en-GB" sz="2000" dirty="0" err="1"/>
              <a:t>Estimand</a:t>
            </a:r>
            <a:r>
              <a:rPr lang="en-GB" sz="2000" dirty="0"/>
              <a:t> (and other targets)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Methods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Performance metrics</a:t>
            </a:r>
          </a:p>
          <a:p>
            <a:pPr lvl="1"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B9BE9-1B93-27FC-C22D-3330F2DA4BB2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6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State specific aims of the simulation study</a:t>
            </a:r>
          </a:p>
          <a:p>
            <a:pPr lvl="1">
              <a:spcBef>
                <a:spcPts val="600"/>
              </a:spcBef>
            </a:pPr>
            <a:endParaRPr lang="en-GB" sz="2000" dirty="0"/>
          </a:p>
          <a:p>
            <a:pPr marL="457200" lvl="1" indent="0">
              <a:spcBef>
                <a:spcPts val="600"/>
              </a:spcBef>
              <a:buNone/>
            </a:pPr>
            <a:endParaRPr lang="en-GB" sz="2000" dirty="0"/>
          </a:p>
          <a:p>
            <a:pPr marL="457200" lvl="1" indent="0">
              <a:spcBef>
                <a:spcPts val="600"/>
              </a:spcBef>
              <a:buNone/>
            </a:pPr>
            <a:endParaRPr lang="en-GB" sz="2000" dirty="0"/>
          </a:p>
          <a:p>
            <a:pPr lvl="1">
              <a:spcBef>
                <a:spcPts val="600"/>
              </a:spcBef>
            </a:pPr>
            <a:r>
              <a:rPr lang="en-GB" sz="2000" dirty="0"/>
              <a:t>Large or small sample performance?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Bias or variance?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Robustness to </a:t>
            </a:r>
            <a:r>
              <a:rPr lang="en-GB" sz="2000" dirty="0" err="1"/>
              <a:t>missspecification</a:t>
            </a:r>
            <a:r>
              <a:rPr lang="en-GB" sz="2000" dirty="0"/>
              <a:t>?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706B3-FC83-A4DC-2479-3A59EAE76D28}"/>
              </a:ext>
            </a:extLst>
          </p:cNvPr>
          <p:cNvSpPr txBox="1"/>
          <p:nvPr/>
        </p:nvSpPr>
        <p:spPr>
          <a:xfrm>
            <a:off x="5391452" y="1508650"/>
            <a:ext cx="6097772" cy="646331"/>
          </a:xfrm>
          <a:prstGeom prst="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2500"/>
              </a:spcBef>
            </a:pPr>
            <a:r>
              <a:rPr lang="en-GB" sz="1800" dirty="0"/>
              <a:t>E.g. compare the performance of methods for predicting a binary outcome (Y) based on a set of predictors (X).</a:t>
            </a:r>
          </a:p>
        </p:txBody>
      </p:sp>
    </p:spTree>
    <p:extLst>
      <p:ext uri="{BB962C8B-B14F-4D97-AF65-F5344CB8AC3E}">
        <p14:creationId xmlns:p14="http://schemas.microsoft.com/office/powerpoint/2010/main" val="2586415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0C953-481D-4BF7-FF54-D84F26900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42EF0-A026-5A24-C486-8EB88666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ademp</a:t>
            </a:r>
            <a:r>
              <a:rPr lang="en-US" dirty="0"/>
              <a:t> framework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5E264C-5AE4-88EE-26F7-9CEA1CD86D70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22400" y="1349162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b="1" dirty="0"/>
              <a:t> </a:t>
            </a:r>
            <a:r>
              <a:rPr lang="en-GB" sz="2000" dirty="0"/>
              <a:t>Aims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</a:t>
            </a:r>
            <a:r>
              <a:rPr lang="en-GB" sz="2000" b="1" dirty="0"/>
              <a:t>Data Generating Mechanisms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</a:t>
            </a:r>
            <a:r>
              <a:rPr lang="en-GB" sz="2000" dirty="0" err="1"/>
              <a:t>Estimand</a:t>
            </a:r>
            <a:r>
              <a:rPr lang="en-GB" sz="2000" dirty="0"/>
              <a:t> (and other targets)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Methods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Performance metrics</a:t>
            </a:r>
          </a:p>
          <a:p>
            <a:pPr lvl="1"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2E96C-39C1-6A8C-8CF3-405ED4F679F6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6"/>
            <a:ext cx="6277070" cy="6114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24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What is the statistical process for generating your data?</a:t>
            </a:r>
          </a:p>
          <a:p>
            <a:pPr>
              <a:lnSpc>
                <a:spcPct val="100000"/>
              </a:lnSpc>
              <a:spcBef>
                <a:spcPts val="24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lnSpc>
                <a:spcPct val="100000"/>
              </a:lnSpc>
              <a:spcBef>
                <a:spcPts val="24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 marL="0" indent="0">
              <a:lnSpc>
                <a:spcPct val="100000"/>
              </a:lnSpc>
              <a:spcBef>
                <a:spcPts val="2400"/>
              </a:spcBef>
              <a:buNone/>
            </a:pP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Is the process fair?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Realistic or unrealistic?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Output in a format consistent with your analysis methods</a:t>
            </a:r>
          </a:p>
          <a:p>
            <a:pPr lvl="1">
              <a:spcBef>
                <a:spcPts val="600"/>
              </a:spcBef>
            </a:pP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682679-6580-98AD-D752-6DEA917340D5}"/>
                  </a:ext>
                </a:extLst>
              </p:cNvPr>
              <p:cNvSpPr txBox="1"/>
              <p:nvPr/>
            </p:nvSpPr>
            <p:spPr>
              <a:xfrm>
                <a:off x="5391452" y="1754551"/>
                <a:ext cx="6097772" cy="1192827"/>
              </a:xfrm>
              <a:prstGeom prst="rect">
                <a:avLst/>
              </a:prstGeom>
              <a:noFill/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GB" sz="1800" dirty="0"/>
                  <a:t>X ~ N(0,1)</a:t>
                </a:r>
              </a:p>
              <a:p>
                <a:pPr>
                  <a:spcBef>
                    <a:spcPts val="600"/>
                  </a:spcBef>
                </a:pPr>
                <a:r>
                  <a:rPr lang="en-GB" dirty="0"/>
                  <a:t>prob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endParaRPr lang="en-GB" sz="1800" dirty="0"/>
              </a:p>
              <a:p>
                <a:pPr>
                  <a:spcBef>
                    <a:spcPts val="600"/>
                  </a:spcBef>
                </a:pPr>
                <a:r>
                  <a:rPr lang="en-GB" dirty="0"/>
                  <a:t>Y ~ Bernoulli(prob)</a:t>
                </a:r>
                <a:r>
                  <a:rPr lang="en-GB" sz="18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682679-6580-98AD-D752-6DEA91734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1452" y="1754551"/>
                <a:ext cx="6097772" cy="1192827"/>
              </a:xfrm>
              <a:prstGeom prst="rect">
                <a:avLst/>
              </a:prstGeom>
              <a:blipFill>
                <a:blip r:embed="rId3"/>
                <a:stretch>
                  <a:fillRect l="-697" t="-2020" b="-6566"/>
                </a:stretch>
              </a:blip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906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DAFE9-E72F-26A0-7C57-46DB51BF8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45FDA-30D9-066B-4294-03F11B91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ademp</a:t>
            </a:r>
            <a:r>
              <a:rPr lang="en-US" dirty="0"/>
              <a:t> framework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6723CB-4E1B-526C-6C86-1775CE6FF189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22400" y="1349162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b="1" dirty="0"/>
              <a:t> </a:t>
            </a:r>
            <a:r>
              <a:rPr lang="en-GB" sz="2000" dirty="0"/>
              <a:t>Aims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</a:t>
            </a:r>
            <a:r>
              <a:rPr lang="en-GB" sz="2000" b="1" dirty="0"/>
              <a:t>Data Generating Mechanisms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</a:t>
            </a:r>
            <a:r>
              <a:rPr lang="en-GB" sz="2000" dirty="0" err="1"/>
              <a:t>Estimand</a:t>
            </a:r>
            <a:r>
              <a:rPr lang="en-GB" sz="2000" dirty="0"/>
              <a:t> (and other targets)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Methods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Performance metrics</a:t>
            </a:r>
          </a:p>
          <a:p>
            <a:pPr lvl="1"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5DE13-E212-EDF9-5AB6-3377946FC931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6"/>
            <a:ext cx="6277070" cy="6114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24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Range of input parameters to generate data for </a:t>
            </a:r>
            <a:r>
              <a:rPr lang="en-GB" sz="2000" dirty="0"/>
              <a:t>(i.e. scenarios):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Sample size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Number of predictors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Outcome prevalence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Amount of missingness, type of missingness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Explained variation/discrimination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Distribution shifts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Etc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000" dirty="0"/>
              <a:t>Tension between realism/generalisability and tractability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A simulation that cannot be run, reported, or reasoned is of limited use, however realistic it may be.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674176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4AB76-DE61-65FC-95E3-97C7A165E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6178F-5D1D-121E-BD14-44A683A27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ademp</a:t>
            </a:r>
            <a:r>
              <a:rPr lang="en-US" dirty="0"/>
              <a:t> framework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C272C4-4B51-1208-55E4-0A7B88D96B1A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22400" y="1349162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b="1" dirty="0"/>
              <a:t> </a:t>
            </a:r>
            <a:r>
              <a:rPr lang="en-GB" sz="2000" dirty="0"/>
              <a:t>Aims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</a:t>
            </a:r>
            <a:r>
              <a:rPr lang="en-GB" sz="2000" b="1" dirty="0"/>
              <a:t>Data Generating Mechanisms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</a:t>
            </a:r>
            <a:r>
              <a:rPr lang="en-GB" sz="2000" dirty="0" err="1"/>
              <a:t>Estimand</a:t>
            </a:r>
            <a:r>
              <a:rPr lang="en-GB" sz="2000" dirty="0"/>
              <a:t> (and other targets)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Methods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Performance metrics</a:t>
            </a:r>
          </a:p>
          <a:p>
            <a:pPr lvl="1"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DC138-B461-4789-DD6D-C8BEC5CA6145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6"/>
            <a:ext cx="6277070" cy="6114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24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What is the step-by-step process that can be followed in order to reproduce your results?</a:t>
            </a:r>
            <a:endParaRPr lang="en-GB" sz="2000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“In planning a simulation study, it is usual to spend more time deciding on data-generating mechanisms than any other element of ADEMP”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813354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3EC8D-5458-8369-56C7-4FEF5DAD6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422F4-B807-04BF-A216-39B169069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ademp</a:t>
            </a:r>
            <a:r>
              <a:rPr lang="en-US" dirty="0"/>
              <a:t> framework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D1A32D5-C987-1441-BB75-DAD233F1A1FF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22400" y="1349162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b="1" dirty="0"/>
              <a:t> </a:t>
            </a:r>
            <a:r>
              <a:rPr lang="en-GB" sz="2000" dirty="0"/>
              <a:t>Aims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Data Generating Mechanisms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</a:t>
            </a:r>
            <a:r>
              <a:rPr lang="en-GB" sz="2000" b="1" dirty="0" err="1"/>
              <a:t>Estimand</a:t>
            </a:r>
            <a:r>
              <a:rPr lang="en-GB" sz="2000" b="1" dirty="0"/>
              <a:t> (and other targets)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Methods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Performance metrics</a:t>
            </a:r>
          </a:p>
          <a:p>
            <a:pPr lvl="1"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D2A5C41-12EF-913F-6B05-CDD40649B40B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6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The thing we are trying to estimate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Normally follows directly from the aim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DE504C-8465-93B6-380E-2EC8AC0E65D2}"/>
              </a:ext>
            </a:extLst>
          </p:cNvPr>
          <p:cNvSpPr txBox="1"/>
          <p:nvPr/>
        </p:nvSpPr>
        <p:spPr>
          <a:xfrm>
            <a:off x="5391452" y="2155669"/>
            <a:ext cx="6097772" cy="1243930"/>
          </a:xfrm>
          <a:prstGeom prst="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2500"/>
              </a:spcBef>
            </a:pPr>
            <a:r>
              <a:rPr lang="en-GB" sz="1800" dirty="0"/>
              <a:t>The probability of having the event (Y) given th</a:t>
            </a:r>
            <a:r>
              <a:rPr lang="en-GB" dirty="0"/>
              <a:t>e set of predictor variables (X).</a:t>
            </a:r>
          </a:p>
          <a:p>
            <a:pPr>
              <a:spcBef>
                <a:spcPts val="2500"/>
              </a:spcBef>
            </a:pPr>
            <a:r>
              <a:rPr lang="en-GB" dirty="0"/>
              <a:t>P(Y|X)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687773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941B0-ACB3-E7D8-737F-1BFD2E2AD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7A5E-FF7F-5014-75D5-08AFC2F50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ademp</a:t>
            </a:r>
            <a:r>
              <a:rPr lang="en-US" dirty="0"/>
              <a:t> framework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0F8A34-98E3-6AB6-BA78-D1E11A0D4252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22400" y="1349162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b="1" dirty="0"/>
              <a:t> </a:t>
            </a:r>
            <a:r>
              <a:rPr lang="en-GB" sz="2000" dirty="0"/>
              <a:t>Aims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Data Generating Mechanisms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</a:t>
            </a:r>
            <a:r>
              <a:rPr lang="en-GB" sz="2000" dirty="0" err="1"/>
              <a:t>Estimand</a:t>
            </a:r>
            <a:r>
              <a:rPr lang="en-GB" sz="2000" dirty="0"/>
              <a:t> (and other targets)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</a:t>
            </a:r>
            <a:r>
              <a:rPr lang="en-GB" sz="2000" b="1" dirty="0"/>
              <a:t>Methods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Performance metrics</a:t>
            </a:r>
          </a:p>
          <a:p>
            <a:pPr lvl="1"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4FB534B-EF2C-4126-E678-578866FC9090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6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What methods are we comparing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Often identified through literature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Motivated by the aim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GB" sz="2000" dirty="0"/>
              <a:t> 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May just be one!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60915B-6C8C-A37B-DF78-4390814D51A9}"/>
              </a:ext>
            </a:extLst>
          </p:cNvPr>
          <p:cNvSpPr txBox="1"/>
          <p:nvPr/>
        </p:nvSpPr>
        <p:spPr>
          <a:xfrm>
            <a:off x="5391452" y="2217240"/>
            <a:ext cx="6097772" cy="646331"/>
          </a:xfrm>
          <a:prstGeom prst="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2500"/>
              </a:spcBef>
            </a:pPr>
            <a:r>
              <a:rPr lang="en-GB" dirty="0"/>
              <a:t>Logistic Regression; Support vector machine; Random forest; Decision trees; Neural Networks; Transformers.</a:t>
            </a:r>
          </a:p>
        </p:txBody>
      </p:sp>
    </p:spTree>
    <p:extLst>
      <p:ext uri="{BB962C8B-B14F-4D97-AF65-F5344CB8AC3E}">
        <p14:creationId xmlns:p14="http://schemas.microsoft.com/office/powerpoint/2010/main" val="2912988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30633-2040-AF61-4D94-9D62C230D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B0435-5736-FFA0-EF1E-82DD7A479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ademp</a:t>
            </a:r>
            <a:r>
              <a:rPr lang="en-US" dirty="0"/>
              <a:t> framework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27C7B2-2523-4067-F4DB-2510908C0570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22400" y="1349162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b="1" dirty="0"/>
              <a:t> </a:t>
            </a:r>
            <a:r>
              <a:rPr lang="en-GB" sz="2000" dirty="0"/>
              <a:t>Aims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Data Generating Mechanisms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</a:t>
            </a:r>
            <a:r>
              <a:rPr lang="en-GB" sz="2000" dirty="0" err="1"/>
              <a:t>Estimand</a:t>
            </a:r>
            <a:r>
              <a:rPr lang="en-GB" sz="2000" dirty="0"/>
              <a:t> (and other targets)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Methods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</a:t>
            </a:r>
            <a:r>
              <a:rPr lang="en-GB" sz="2000" b="1" dirty="0"/>
              <a:t>Performance metrics</a:t>
            </a:r>
          </a:p>
          <a:p>
            <a:pPr lvl="1"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87DA99E-9FB7-69F8-127E-18FEB4271C99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6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How are we going to compare and evaluate the performance of the methods?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Bias; Variance; Coverage; Mean squared error; Calibration; Discrimination; Net-Benefit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Agnostic to the analysis methods 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Monte Carlo Standard Error (the variability of simulation results)</a:t>
            </a:r>
            <a:endParaRPr lang="en-GB" sz="2000" b="1" dirty="0"/>
          </a:p>
          <a:p>
            <a:pPr lvl="1">
              <a:spcBef>
                <a:spcPts val="600"/>
              </a:spcBef>
            </a:pPr>
            <a:endParaRPr lang="en-GB" sz="2000" dirty="0"/>
          </a:p>
          <a:p>
            <a:pPr marL="0" indent="0">
              <a:spcBef>
                <a:spcPts val="2500"/>
              </a:spcBef>
              <a:buNone/>
            </a:pPr>
            <a:endParaRPr lang="en-GB" sz="2000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FCEEE8-9FD3-43C6-E397-7BA01C447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65" r="49483" b="7956"/>
          <a:stretch>
            <a:fillRect/>
          </a:stretch>
        </p:blipFill>
        <p:spPr>
          <a:xfrm>
            <a:off x="7134830" y="3763961"/>
            <a:ext cx="3105750" cy="2350933"/>
          </a:xfrm>
          <a:prstGeom prst="rect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F0C9CF-439D-3532-8EEE-591104D887FD}"/>
              </a:ext>
            </a:extLst>
          </p:cNvPr>
          <p:cNvSpPr txBox="1"/>
          <p:nvPr/>
        </p:nvSpPr>
        <p:spPr>
          <a:xfrm>
            <a:off x="6096000" y="1937657"/>
            <a:ext cx="4386943" cy="391886"/>
          </a:xfrm>
          <a:prstGeom prst="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2500"/>
              </a:spcBef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6660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F7B8F-FF6E-F4DC-8138-D52A74D80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E4D8C-FD03-3A78-1F52-641E5D1F9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ademp</a:t>
            </a:r>
            <a:r>
              <a:rPr lang="en-US" dirty="0"/>
              <a:t> framework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AD0E9D-4EBF-FAF8-2ECF-387ECE541CBA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22400" y="1349162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b="1" dirty="0"/>
              <a:t> </a:t>
            </a:r>
            <a:r>
              <a:rPr lang="en-GB" sz="2000" dirty="0"/>
              <a:t>Aims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Data Generating Mechanisms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</a:t>
            </a:r>
            <a:r>
              <a:rPr lang="en-GB" sz="2000" dirty="0" err="1"/>
              <a:t>Estimand</a:t>
            </a:r>
            <a:r>
              <a:rPr lang="en-GB" sz="2000" dirty="0"/>
              <a:t> (and other targets)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Methods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v"/>
            </a:pPr>
            <a:r>
              <a:rPr lang="en-GB" sz="2000" dirty="0"/>
              <a:t> Performance metrics</a:t>
            </a:r>
          </a:p>
          <a:p>
            <a:pPr lvl="1"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915F8-73AF-3C3D-8EF7-0AF0CAE9E854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6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It’s a framework/starting point</a:t>
            </a: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1535039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8D1A3-7AA7-346E-3C9A-6CBE6F4F3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21799-9792-F32E-5240-93B2FD923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4976037"/>
            <a:ext cx="8961120" cy="1289846"/>
          </a:xfrm>
        </p:spPr>
        <p:txBody>
          <a:bodyPr anchor="b">
            <a:normAutofit/>
          </a:bodyPr>
          <a:lstStyle/>
          <a:p>
            <a:r>
              <a:rPr lang="en-US" dirty="0"/>
              <a:t>example #1</a:t>
            </a:r>
          </a:p>
        </p:txBody>
      </p:sp>
    </p:spTree>
    <p:extLst>
      <p:ext uri="{BB962C8B-B14F-4D97-AF65-F5344CB8AC3E}">
        <p14:creationId xmlns:p14="http://schemas.microsoft.com/office/powerpoint/2010/main" val="3385947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11C04-7D56-111F-B8A9-38EE78194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1F387-3845-A4A6-6A16-55BA046FA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969052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Example #1 – Clinical prediction models to estimate the risk of two survival outcomes both occurring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DC8CEC-5972-4B34-8275-DE6F48ED6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88" y="4236242"/>
            <a:ext cx="4563654" cy="199508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7704D-3C70-ADE3-2AD6-985B2BF5C393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6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Study Background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There are several clinical settings where predicting the risk of two outcomes (A, B) both occurring is of interest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GB" sz="2000" dirty="0"/>
              <a:t>E.g. risk of stroke/major bleeding for individuals on anticoagulants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Issue is if the two outcomes are dependent after adjusting for all predictors.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A range of methods available, but no simulation studies comparing their performance.</a:t>
            </a:r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3572526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5084E-C0A1-6395-98D9-A84D2C889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6928C19-83C6-EE3B-F7DF-5CDACDCD8601}"/>
                  </a:ext>
                </a:extLst>
              </p:cNvPr>
              <p:cNvSpPr txBox="1">
                <a:spLocks/>
              </p:cNvSpPr>
              <p:nvPr>
                <p:extLst>
                  <p:ext uri="{E7BDC344-281C-4309-B0C6-D0EE65EED2A8}">
                    <p202:designPr xmlns:p202="http://schemas.microsoft.com/office/powerpoint/2020/02/main">
                      <p202:designTagLst>
                        <p202:designTag name="ARCH:1:CLS" val="InformationBlock"/>
                        <p202:designTag name="ARCH:1:VSVAR" val="TitledTextBox"/>
                      </p202:designTagLst>
                    </p202:designPr>
                  </p:ext>
                </p:extLst>
              </p:nvPr>
            </p:nvSpPr>
            <p:spPr>
              <a:xfrm>
                <a:off x="5391452" y="743106"/>
                <a:ext cx="6277070" cy="531298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2500"/>
                  </a:spcBef>
                  <a:buFont typeface="Wingdings" panose="05000000000000000000" pitchFamily="2" charset="2"/>
                  <a:buChar char="Ø"/>
                </a:pPr>
                <a:r>
                  <a:rPr lang="en-GB" sz="2000" b="1" dirty="0"/>
                  <a:t>Aims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GB" sz="2000" dirty="0"/>
                  <a:t>To compare the performance of available methods for predicting the risk of two survival outcomes both occurring </a:t>
                </a:r>
                <a:r>
                  <a:rPr lang="en-GB" sz="2000" b="1" dirty="0"/>
                  <a:t>in the presence of dependent outcomes</a:t>
                </a:r>
              </a:p>
              <a:p>
                <a:pPr>
                  <a:spcBef>
                    <a:spcPts val="2500"/>
                  </a:spcBef>
                  <a:buFont typeface="Wingdings" panose="05000000000000000000" pitchFamily="2" charset="2"/>
                  <a:buChar char="Ø"/>
                </a:pPr>
                <a:r>
                  <a:rPr lang="en-GB" sz="2000" b="1" dirty="0"/>
                  <a:t>Estimand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GB" sz="2000" dirty="0"/>
                  <a:t>Probability of event A and event B both occurring prior to time t</a:t>
                </a:r>
                <a:endParaRPr lang="en-GB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sz="2000" dirty="0"/>
              </a:p>
              <a:p>
                <a:pPr>
                  <a:spcBef>
                    <a:spcPts val="2500"/>
                  </a:spcBef>
                  <a:buFont typeface="Wingdings" panose="05000000000000000000" pitchFamily="2" charset="2"/>
                  <a:buChar char="Ø"/>
                </a:pPr>
                <a:r>
                  <a:rPr lang="en-GB" sz="2000" b="1" dirty="0"/>
                  <a:t>Methods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2000" dirty="0"/>
                      <m:t>Product</m:t>
                    </m:r>
                    <m:r>
                      <m:rPr>
                        <m:nor/>
                      </m:rPr>
                      <a:rPr lang="en-GB" sz="2000" dirty="0"/>
                      <m:t>, </m:t>
                    </m:r>
                    <m:r>
                      <m:rPr>
                        <m:nor/>
                      </m:rPr>
                      <a:rPr lang="en-GB" sz="2000" dirty="0"/>
                      <m:t>dual</m:t>
                    </m:r>
                    <m:r>
                      <m:rPr>
                        <m:nor/>
                      </m:rPr>
                      <a:rPr lang="en-GB" sz="2000" dirty="0"/>
                      <m:t>−</m:t>
                    </m:r>
                    <m:r>
                      <m:rPr>
                        <m:nor/>
                      </m:rPr>
                      <a:rPr lang="en-GB" sz="2000" dirty="0"/>
                      <m:t>outcome</m:t>
                    </m:r>
                    <m:r>
                      <m:rPr>
                        <m:nor/>
                      </m:rPr>
                      <a:rPr lang="en-GB" sz="2000" dirty="0"/>
                      <m:t>, </m:t>
                    </m:r>
                    <m:r>
                      <m:rPr>
                        <m:nor/>
                      </m:rPr>
                      <a:rPr lang="en-GB" sz="2000" dirty="0"/>
                      <m:t>copulas</m:t>
                    </m:r>
                    <m:r>
                      <m:rPr>
                        <m:nor/>
                      </m:rPr>
                      <a:rPr lang="en-GB" sz="2000" dirty="0"/>
                      <m:t>, </m:t>
                    </m:r>
                    <m:r>
                      <m:rPr>
                        <m:nor/>
                      </m:rPr>
                      <a:rPr lang="en-GB" sz="2000" dirty="0"/>
                      <m:t>frailty</m:t>
                    </m:r>
                    <m:r>
                      <m:rPr>
                        <m:nor/>
                      </m:rPr>
                      <a:rPr lang="en-GB" sz="2000" dirty="0"/>
                      <m:t>, </m:t>
                    </m:r>
                    <m:r>
                      <m:rPr>
                        <m:nor/>
                      </m:rPr>
                      <a:rPr lang="en-GB" sz="2000" dirty="0"/>
                      <m:t>multistate</m:t>
                    </m:r>
                    <m:r>
                      <m:rPr>
                        <m:nor/>
                      </m:rPr>
                      <a:rPr lang="en-GB" sz="2000" dirty="0"/>
                      <m:t> </m:t>
                    </m:r>
                    <m:r>
                      <m:rPr>
                        <m:nor/>
                      </m:rPr>
                      <a:rPr lang="en-GB" sz="2000" dirty="0"/>
                      <m:t>model</m:t>
                    </m:r>
                    <m:r>
                      <m:rPr>
                        <m:nor/>
                      </m:rPr>
                      <a:rPr lang="en-GB" sz="2000" dirty="0"/>
                      <m:t>.</m:t>
                    </m:r>
                  </m:oMath>
                </a14:m>
                <a:endParaRPr lang="en-GB" sz="2000" dirty="0"/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:endParaRPr lang="en-GB" sz="2000" b="1" dirty="0"/>
              </a:p>
              <a:p>
                <a:pPr>
                  <a:spcBef>
                    <a:spcPts val="2500"/>
                  </a:spcBef>
                  <a:buFont typeface="Wingdings" panose="05000000000000000000" pitchFamily="2" charset="2"/>
                  <a:buChar char="Ø"/>
                </a:pPr>
                <a:endParaRPr lang="en-GB" sz="2000" dirty="0"/>
              </a:p>
              <a:p>
                <a:pPr>
                  <a:spcBef>
                    <a:spcPts val="2500"/>
                  </a:spcBef>
                </a:pPr>
                <a:endParaRPr lang="en-GB" sz="2000" b="1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6928C19-83C6-EE3B-F7DF-5CDACDCD8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extLst>
                  <p:ext uri="{E7BDC344-281C-4309-B0C6-D0EE65EED2A8}">
                    <p202:designPr xmlns:p202="http://schemas.microsoft.com/office/powerpoint/2020/02/main">
                      <p202:designTagLst>
                        <p202:designTag name="ARCH:1:CLS" val="InformationBlock"/>
                        <p202:designTag name="ARCH:1:VSVAR" val="TitledTextBox"/>
                      </p202:designTagLst>
                    </p202:designPr>
                  </p:ext>
                </p:extLst>
              </p:nvPr>
            </p:nvSpPr>
            <p:spPr>
              <a:xfrm>
                <a:off x="5391452" y="743106"/>
                <a:ext cx="6277070" cy="5312987"/>
              </a:xfrm>
              <a:prstGeom prst="rect">
                <a:avLst/>
              </a:prstGeom>
              <a:blipFill>
                <a:blip r:embed="rId3"/>
                <a:stretch>
                  <a:fillRect l="-874" t="-115" r="-4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E84A2796-E4E8-B975-7AF8-4F45509BF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969052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Example #1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162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E0D1A-644A-2ED4-2692-9D8A421E8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F3E79-44EE-BCDA-B8EA-B255E8D9E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969052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Example #1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DATA GENERATING MECHANISM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DFC731-AB33-4B40-E402-3064CD8DE1F3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6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Statistical process for simulating the data: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Identified 6 different ways to simulate multi-outcome data with dependence between the outcomes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Each aligned with one of the different analysis methods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Study became about model misspecification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2998769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CE28A-F25F-25EB-EACB-272462A92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FC2C981-4177-BDB9-4A9A-54C8A7F32805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6"/>
            <a:ext cx="6495748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Range of input parameters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Results in 6 (DGMs) * 3 (residual dependence) * 2 (outcome prevalence) * 3 (sample sizes) = 108 scenarios.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124DF7D-C33A-9F6D-F97A-F14B44466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969052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Example #1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DATA GENERATING MECHANISM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D9A7D53-9EEA-5986-3743-A43679C5F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2464025"/>
                  </p:ext>
                </p:extLst>
              </p:nvPr>
            </p:nvGraphicFramePr>
            <p:xfrm>
              <a:off x="5391452" y="1339529"/>
              <a:ext cx="6495748" cy="269392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4384083">
                      <a:extLst>
                        <a:ext uri="{9D8B030D-6E8A-4147-A177-3AD203B41FA5}">
                          <a16:colId xmlns:a16="http://schemas.microsoft.com/office/drawing/2014/main" val="2627743585"/>
                        </a:ext>
                      </a:extLst>
                    </a:gridCol>
                    <a:gridCol w="2111665">
                      <a:extLst>
                        <a:ext uri="{9D8B030D-6E8A-4147-A177-3AD203B41FA5}">
                          <a16:colId xmlns:a16="http://schemas.microsoft.com/office/drawing/2014/main" val="20102516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 dirty="0">
                              <a:effectLst/>
                            </a:rPr>
                            <a:t>Input parameter</a:t>
                          </a:r>
                          <a:endParaRPr lang="en-GB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 dirty="0">
                              <a:effectLst/>
                            </a:rPr>
                            <a:t>Values taken</a:t>
                          </a:r>
                          <a:endParaRPr lang="en-GB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49970382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 dirty="0">
                              <a:effectLst/>
                            </a:rPr>
                            <a:t>Number of predictor variables</a:t>
                          </a:r>
                          <a:endParaRPr lang="en-GB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>
                              <a:effectLst/>
                            </a:rPr>
                            <a:t>Fixed</a:t>
                          </a:r>
                          <a:endParaRPr lang="en-GB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942647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 dirty="0">
                              <a:effectLst/>
                            </a:rPr>
                            <a:t>Effect of predictor variables</a:t>
                          </a:r>
                          <a:endParaRPr lang="en-GB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>
                              <a:effectLst/>
                            </a:rPr>
                            <a:t>Fixed</a:t>
                          </a:r>
                          <a:endParaRPr lang="en-GB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0188037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 dirty="0">
                              <a:effectLst/>
                            </a:rPr>
                            <a:t>Event time (</a:t>
                          </a:r>
                          <a14:m>
                            <m:oMath xmlns:m="http://schemas.openxmlformats.org/officeDocument/2006/math">
                              <m:r>
                                <a:rPr lang="en-GB" sz="1800" kern="100"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GB" sz="1800" kern="100" dirty="0">
                              <a:effectLst/>
                            </a:rPr>
                            <a:t>) to evaluate performance at</a:t>
                          </a:r>
                          <a:endParaRPr lang="en-GB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>
                              <a:effectLst/>
                            </a:rPr>
                            <a:t>Fixed</a:t>
                          </a:r>
                          <a:endParaRPr lang="en-GB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2830067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 dirty="0">
                              <a:effectLst/>
                            </a:rPr>
                            <a:t>Prevalence of censoring mechanism</a:t>
                          </a:r>
                          <a:endParaRPr lang="en-GB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 dirty="0">
                              <a:effectLst/>
                            </a:rPr>
                            <a:t>Fixed</a:t>
                          </a:r>
                          <a:endParaRPr lang="en-GB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5332177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>
                              <a:effectLst/>
                            </a:rPr>
                            <a:t>Prevalence of outcome A and B</a:t>
                          </a:r>
                          <a:endParaRPr lang="en-GB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 dirty="0">
                              <a:effectLst/>
                            </a:rPr>
                            <a:t>(Both low, both high)</a:t>
                          </a:r>
                          <a:endParaRPr lang="en-GB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5452644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 dirty="0">
                              <a:effectLst/>
                            </a:rPr>
                            <a:t>Amount of dependence between outcomes</a:t>
                          </a:r>
                          <a:endParaRPr lang="en-GB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 dirty="0">
                              <a:effectLst/>
                            </a:rPr>
                            <a:t>(None, weak high)</a:t>
                          </a:r>
                          <a:endParaRPr lang="en-GB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4454858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>
                              <a:effectLst/>
                            </a:rPr>
                            <a:t>Sample size</a:t>
                          </a:r>
                          <a:endParaRPr lang="en-GB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 dirty="0">
                              <a:effectLst/>
                            </a:rPr>
                            <a:t>(1000, 2500, 5000)</a:t>
                          </a:r>
                          <a:endParaRPr lang="en-GB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525377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D9A7D53-9EEA-5986-3743-A43679C5F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2464025"/>
                  </p:ext>
                </p:extLst>
              </p:nvPr>
            </p:nvGraphicFramePr>
            <p:xfrm>
              <a:off x="5391452" y="1339529"/>
              <a:ext cx="6495748" cy="269392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4384083">
                      <a:extLst>
                        <a:ext uri="{9D8B030D-6E8A-4147-A177-3AD203B41FA5}">
                          <a16:colId xmlns:a16="http://schemas.microsoft.com/office/drawing/2014/main" val="2627743585"/>
                        </a:ext>
                      </a:extLst>
                    </a:gridCol>
                    <a:gridCol w="2111665">
                      <a:extLst>
                        <a:ext uri="{9D8B030D-6E8A-4147-A177-3AD203B41FA5}">
                          <a16:colId xmlns:a16="http://schemas.microsoft.com/office/drawing/2014/main" val="201025167"/>
                        </a:ext>
                      </a:extLst>
                    </a:gridCol>
                  </a:tblGrid>
                  <a:tr h="2973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 dirty="0">
                              <a:effectLst/>
                            </a:rPr>
                            <a:t>Input parameter</a:t>
                          </a:r>
                          <a:endParaRPr lang="en-GB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 dirty="0">
                              <a:effectLst/>
                            </a:rPr>
                            <a:t>Values taken</a:t>
                          </a:r>
                          <a:endParaRPr lang="en-GB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499703822"/>
                      </a:ext>
                    </a:extLst>
                  </a:tr>
                  <a:tr h="2973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 dirty="0">
                              <a:effectLst/>
                            </a:rPr>
                            <a:t>Number of predictor variables</a:t>
                          </a:r>
                          <a:endParaRPr lang="en-GB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>
                              <a:effectLst/>
                            </a:rPr>
                            <a:t>Fixed</a:t>
                          </a:r>
                          <a:endParaRPr lang="en-GB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94264702"/>
                      </a:ext>
                    </a:extLst>
                  </a:tr>
                  <a:tr h="2973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 dirty="0">
                              <a:effectLst/>
                            </a:rPr>
                            <a:t>Effect of predictor variables</a:t>
                          </a:r>
                          <a:endParaRPr lang="en-GB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>
                              <a:effectLst/>
                            </a:rPr>
                            <a:t>Fixed</a:t>
                          </a:r>
                          <a:endParaRPr lang="en-GB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01880370"/>
                      </a:ext>
                    </a:extLst>
                  </a:tr>
                  <a:tr h="2973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39" t="-318367" r="-48957" b="-548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>
                              <a:effectLst/>
                            </a:rPr>
                            <a:t>Fixed</a:t>
                          </a:r>
                          <a:endParaRPr lang="en-GB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28300670"/>
                      </a:ext>
                    </a:extLst>
                  </a:tr>
                  <a:tr h="2973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 dirty="0">
                              <a:effectLst/>
                            </a:rPr>
                            <a:t>Prevalence of censoring mechanism</a:t>
                          </a:r>
                          <a:endParaRPr lang="en-GB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 dirty="0">
                              <a:effectLst/>
                            </a:rPr>
                            <a:t>Fixed</a:t>
                          </a:r>
                          <a:endParaRPr lang="en-GB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53321773"/>
                      </a:ext>
                    </a:extLst>
                  </a:tr>
                  <a:tr h="61277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>
                              <a:effectLst/>
                            </a:rPr>
                            <a:t>Prevalence of outcome A and B</a:t>
                          </a:r>
                          <a:endParaRPr lang="en-GB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 dirty="0">
                              <a:effectLst/>
                            </a:rPr>
                            <a:t>(Both low, both high)</a:t>
                          </a:r>
                          <a:endParaRPr lang="en-GB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54526443"/>
                      </a:ext>
                    </a:extLst>
                  </a:tr>
                  <a:tr h="2973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 dirty="0">
                              <a:effectLst/>
                            </a:rPr>
                            <a:t>Amount of dependence between outcomes</a:t>
                          </a:r>
                          <a:endParaRPr lang="en-GB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 dirty="0">
                              <a:effectLst/>
                            </a:rPr>
                            <a:t>(None, weak high)</a:t>
                          </a:r>
                          <a:endParaRPr lang="en-GB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44548589"/>
                      </a:ext>
                    </a:extLst>
                  </a:tr>
                  <a:tr h="2973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>
                              <a:effectLst/>
                            </a:rPr>
                            <a:t>Sample size</a:t>
                          </a:r>
                          <a:endParaRPr lang="en-GB" sz="18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GB" sz="1800" kern="100" dirty="0">
                              <a:effectLst/>
                            </a:rPr>
                            <a:t>(1000, 2500, 5000)</a:t>
                          </a:r>
                          <a:endParaRPr lang="en-GB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5253779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18139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BAC84-563E-5A5A-4182-F10380367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C31AF5-968F-B14F-41F5-C4F423CEDBD7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7"/>
            <a:ext cx="6277070" cy="984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Performance metric</a:t>
            </a: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7AA0A9-F8BE-0DDC-2216-897880C2F0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044" t="26781" b="43904"/>
          <a:stretch>
            <a:fillRect/>
          </a:stretch>
        </p:blipFill>
        <p:spPr>
          <a:xfrm>
            <a:off x="10360504" y="2536259"/>
            <a:ext cx="1541721" cy="283909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0F5E618-93D2-D225-C2BB-974C26108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969052" cy="1164415"/>
          </a:xfrm>
        </p:spPr>
        <p:txBody>
          <a:bodyPr anchor="t">
            <a:normAutofit/>
          </a:bodyPr>
          <a:lstStyle/>
          <a:p>
            <a:r>
              <a:rPr lang="en-US" dirty="0"/>
              <a:t>Example #1</a:t>
            </a:r>
            <a:br>
              <a:rPr lang="en-US" dirty="0"/>
            </a:b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474665-0401-5774-76CA-C742CF18F4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40"/>
          <a:stretch>
            <a:fillRect/>
          </a:stretch>
        </p:blipFill>
        <p:spPr>
          <a:xfrm>
            <a:off x="4292600" y="1727201"/>
            <a:ext cx="6067904" cy="4822015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5160B2A-753C-64B7-A256-823A585F975C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6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Performance metric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Calibration curves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97D1BA-3AB0-43D1-E45D-ADE92AAF14F5}"/>
              </a:ext>
            </a:extLst>
          </p:cNvPr>
          <p:cNvSpPr txBox="1"/>
          <p:nvPr/>
        </p:nvSpPr>
        <p:spPr>
          <a:xfrm rot="16200000">
            <a:off x="2540710" y="3221538"/>
            <a:ext cx="261122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00" b="1" dirty="0"/>
              <a:t>Observed / True probability</a:t>
            </a:r>
          </a:p>
        </p:txBody>
      </p:sp>
    </p:spTree>
    <p:extLst>
      <p:ext uri="{BB962C8B-B14F-4D97-AF65-F5344CB8AC3E}">
        <p14:creationId xmlns:p14="http://schemas.microsoft.com/office/powerpoint/2010/main" val="3913585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E65CB-B1D0-0EFC-0B19-06C40F02A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74F03-39C9-B633-35A6-1E82B5A83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969052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Example #1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6DEAB99-BC17-4BEB-BAAF-0A0F850DCB74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6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Performance metric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Median of the calibration curves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DA33BB-D9E1-4DB8-21C1-3EE9F40E3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739900"/>
            <a:ext cx="9220200" cy="498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49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3AD62-0F96-EEE5-EBFE-AA23CA111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230B1-7D69-7E21-5CE6-CDE1BF2A4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969052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Example #1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4B97E80-2797-BE61-4572-30C3E76D48BD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6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Performance metric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Variation in calibration curves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495335-AC09-717A-DAE6-F73FE3540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" y="1741950"/>
            <a:ext cx="9296400" cy="501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863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6B702-CFD2-D0EC-AC00-63EE1340C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DD0E9-8029-BCA1-25CC-316FA9FDE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969052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Example #1 - time machine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30133ED-0382-A6D4-9A4F-72E86A6B195F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6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Performance metric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Lines difficult to differentiate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Tables for numerical metrics (e.g., </a:t>
            </a:r>
            <a:r>
              <a:rPr lang="en-GB" sz="2000" b="1" dirty="0"/>
              <a:t>mean</a:t>
            </a:r>
            <a:r>
              <a:rPr lang="en-GB" sz="2000" dirty="0"/>
              <a:t> bias of the </a:t>
            </a:r>
            <a:r>
              <a:rPr lang="en-GB" sz="2000" b="1" dirty="0"/>
              <a:t>median</a:t>
            </a:r>
            <a:r>
              <a:rPr lang="en-GB" sz="2000" dirty="0"/>
              <a:t> calibration curve!)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Choose less methods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No Monte Carlo Error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How accurate are these results?</a:t>
            </a:r>
            <a:endParaRPr lang="en-GB" sz="2000" b="1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pic>
        <p:nvPicPr>
          <p:cNvPr id="1026" name="Picture 2" descr="Back to the Future: making history - Big Issue North">
            <a:extLst>
              <a:ext uri="{FF2B5EF4-FFF2-40B4-BE49-F238E27FC236}">
                <a16:creationId xmlns:a16="http://schemas.microsoft.com/office/drawing/2014/main" id="{23D5593E-C46E-C75F-0612-A256B2B0D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00" y="2273301"/>
            <a:ext cx="4795926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E6AEFC-9E65-EA4F-ABEF-5B12B0CDE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2301" y="3896785"/>
            <a:ext cx="3623924" cy="266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63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6F794-6906-9B3B-7A6F-D800C13B4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47797-C967-31B5-80D9-458BAF1B9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4976037"/>
            <a:ext cx="8961120" cy="1289846"/>
          </a:xfrm>
        </p:spPr>
        <p:txBody>
          <a:bodyPr anchor="b">
            <a:normAutofit/>
          </a:bodyPr>
          <a:lstStyle/>
          <a:p>
            <a:r>
              <a:rPr lang="en-US" dirty="0"/>
              <a:t>example #2</a:t>
            </a:r>
          </a:p>
        </p:txBody>
      </p:sp>
    </p:spTree>
    <p:extLst>
      <p:ext uri="{BB962C8B-B14F-4D97-AF65-F5344CB8AC3E}">
        <p14:creationId xmlns:p14="http://schemas.microsoft.com/office/powerpoint/2010/main" val="1996457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B36DC-59B0-73F0-F282-3B8A27C42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CD88D2-6319-1380-8091-FCE9F8FA22E1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2388012" y="2659054"/>
            <a:ext cx="6277070" cy="3993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shrinkage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Two estimators (heuristic, and bootstrapped)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Simulate the input parameters at random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No specific parameter of interest, so vary them all at random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Two ways to generate the data</a:t>
            </a:r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B738C1F-C7AD-DBB7-F76A-FE2F084FA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969052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Example #2 – performance of the Heuristic shrinkage factor</a:t>
            </a:r>
            <a:br>
              <a:rPr lang="en-US" dirty="0"/>
            </a:br>
            <a:endParaRPr lang="en-US" dirty="0"/>
          </a:p>
        </p:txBody>
      </p:sp>
      <p:pic>
        <p:nvPicPr>
          <p:cNvPr id="1028" name="Picture 4" descr="Machine Learning: How to Prevent Overfitting | by Ken Hoffman | The Startup  | Medium">
            <a:extLst>
              <a:ext uri="{FF2B5EF4-FFF2-40B4-BE49-F238E27FC236}">
                <a16:creationId xmlns:a16="http://schemas.microsoft.com/office/drawing/2014/main" id="{4678132A-FC96-77E5-FBD9-AFD8BCEDB3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301"/>
          <a:stretch>
            <a:fillRect/>
          </a:stretch>
        </p:blipFill>
        <p:spPr bwMode="auto">
          <a:xfrm>
            <a:off x="523478" y="2131978"/>
            <a:ext cx="4148484" cy="2194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achine Learning: How to Prevent Overfitting | by Ken Hoffman | The Startup  | Medium">
            <a:extLst>
              <a:ext uri="{FF2B5EF4-FFF2-40B4-BE49-F238E27FC236}">
                <a16:creationId xmlns:a16="http://schemas.microsoft.com/office/drawing/2014/main" id="{ECEB7344-97EF-D827-E660-0A5AE428EF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40" b="6231"/>
          <a:stretch>
            <a:fillRect/>
          </a:stretch>
        </p:blipFill>
        <p:spPr bwMode="auto">
          <a:xfrm>
            <a:off x="2649443" y="4326584"/>
            <a:ext cx="2074242" cy="200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E963B3-5AA0-AAC6-7C75-F76099810C50}"/>
              </a:ext>
            </a:extLst>
          </p:cNvPr>
          <p:cNvSpPr txBox="1"/>
          <p:nvPr/>
        </p:nvSpPr>
        <p:spPr>
          <a:xfrm>
            <a:off x="63812" y="6422215"/>
            <a:ext cx="5826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Image source: https://medium.com/swlh/machine-learning-how-to-prevent-overfitting-fdf759cc00a9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FA2E963-4301-929C-AEE7-08F7284E3A7D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6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Aim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Evaluate performance of the “heuristic shrinkage factor” when estimating the global shrinkage factor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 err="1"/>
              <a:t>Estimand</a:t>
            </a:r>
            <a:endParaRPr lang="en-GB" sz="2000" b="1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Global shrinkage factor (S)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Methods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Heuristic shrinkage factor, bootstrapped shrinkage factor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Data Generating Mechanism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Replicated the process of developing and validating a logistic regression model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Generated inputs (N, C, Q, </a:t>
            </a:r>
            <a:r>
              <a:rPr lang="el-GR" sz="2000"/>
              <a:t>Ω</a:t>
            </a:r>
            <a:r>
              <a:rPr lang="en-GB" sz="2000"/>
              <a:t>) </a:t>
            </a:r>
            <a:r>
              <a:rPr lang="en-GB" sz="2000" dirty="0"/>
              <a:t>at random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11332364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F93F8-365F-B7AA-F962-1F9B985C9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7805F32-E3AE-A0A4-3891-00D5DC293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969052" cy="1164415"/>
          </a:xfrm>
        </p:spPr>
        <p:txBody>
          <a:bodyPr anchor="t">
            <a:normAutofit/>
          </a:bodyPr>
          <a:lstStyle/>
          <a:p>
            <a:r>
              <a:rPr lang="en-US" dirty="0"/>
              <a:t>Example #2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046C20-7235-B969-3CF6-C039ACD0858E}"/>
              </a:ext>
            </a:extLst>
          </p:cNvPr>
          <p:cNvSpPr txBox="1"/>
          <p:nvPr/>
        </p:nvSpPr>
        <p:spPr>
          <a:xfrm rot="5400000">
            <a:off x="11290149" y="1356070"/>
            <a:ext cx="95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DGM-1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CEC6902-FF60-B6AE-9E46-0E513016B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739" y="376740"/>
            <a:ext cx="2890463" cy="31269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5A3995D-4E67-4773-E943-84709BD53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5183" y="369332"/>
            <a:ext cx="2949750" cy="313433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18AFC-9E50-E0B2-C79E-080A500AA7FF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22400" y="2699497"/>
            <a:ext cx="4574902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 err="1"/>
              <a:t>Q</a:t>
            </a:r>
            <a:r>
              <a:rPr lang="en-GB" sz="2000" b="1" baseline="-25000" dirty="0" err="1"/>
              <a:t>meas</a:t>
            </a:r>
            <a:r>
              <a:rPr lang="en-GB" sz="2000" b="1" dirty="0"/>
              <a:t> = number of predictor variables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 err="1"/>
              <a:t>C</a:t>
            </a:r>
            <a:r>
              <a:rPr lang="en-GB" sz="2000" b="1" baseline="-25000" dirty="0" err="1"/>
              <a:t>pop</a:t>
            </a:r>
            <a:r>
              <a:rPr lang="en-GB" sz="2000" b="1" dirty="0"/>
              <a:t> = discrimination of the model</a:t>
            </a: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F034F-9DDD-311E-1601-0F1AB28C1309}"/>
              </a:ext>
            </a:extLst>
          </p:cNvPr>
          <p:cNvSpPr txBox="1"/>
          <p:nvPr/>
        </p:nvSpPr>
        <p:spPr>
          <a:xfrm>
            <a:off x="6097795" y="7408"/>
            <a:ext cx="216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Plotted by </a:t>
            </a:r>
            <a:r>
              <a:rPr lang="en-GB" b="1" dirty="0" err="1"/>
              <a:t>Q</a:t>
            </a:r>
            <a:r>
              <a:rPr lang="en-GB" b="1" baseline="-25000" dirty="0" err="1"/>
              <a:t>meas</a:t>
            </a:r>
            <a:endParaRPr lang="en-GB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FCCE77-5B50-A5F5-D19B-627932D2974D}"/>
              </a:ext>
            </a:extLst>
          </p:cNvPr>
          <p:cNvSpPr txBox="1"/>
          <p:nvPr/>
        </p:nvSpPr>
        <p:spPr>
          <a:xfrm>
            <a:off x="9583479" y="0"/>
            <a:ext cx="1782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Plotted by </a:t>
            </a:r>
            <a:r>
              <a:rPr lang="en-GB" b="1" dirty="0" err="1"/>
              <a:t>C</a:t>
            </a:r>
            <a:r>
              <a:rPr lang="en-GB" b="1" baseline="-25000" dirty="0" err="1"/>
              <a:t>pop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456729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EAD44-A324-097B-B0B0-A8F2B6947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93F45E-2968-F322-A4E6-3D14C76C8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969052" cy="1164415"/>
          </a:xfrm>
        </p:spPr>
        <p:txBody>
          <a:bodyPr anchor="t">
            <a:normAutofit/>
          </a:bodyPr>
          <a:lstStyle/>
          <a:p>
            <a:r>
              <a:rPr lang="en-US" dirty="0"/>
              <a:t>Example #2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8C60C0A-93A4-D848-5E13-543A2C479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739" y="376740"/>
            <a:ext cx="2890463" cy="312692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6CA9AE-F4B5-152A-2422-074640C9B552}"/>
              </a:ext>
            </a:extLst>
          </p:cNvPr>
          <p:cNvSpPr txBox="1"/>
          <p:nvPr/>
        </p:nvSpPr>
        <p:spPr>
          <a:xfrm>
            <a:off x="6097795" y="7408"/>
            <a:ext cx="216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Plotted by </a:t>
            </a:r>
            <a:r>
              <a:rPr lang="en-GB" b="1" dirty="0" err="1"/>
              <a:t>Q</a:t>
            </a:r>
            <a:r>
              <a:rPr lang="en-GB" b="1" baseline="-25000" dirty="0" err="1"/>
              <a:t>meas</a:t>
            </a:r>
            <a:endParaRPr lang="en-GB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BDF060-B5AA-D7AF-2D39-D2ECDFF6C6D7}"/>
              </a:ext>
            </a:extLst>
          </p:cNvPr>
          <p:cNvSpPr txBox="1"/>
          <p:nvPr/>
        </p:nvSpPr>
        <p:spPr>
          <a:xfrm>
            <a:off x="9583479" y="0"/>
            <a:ext cx="1782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Plotted by </a:t>
            </a:r>
            <a:r>
              <a:rPr lang="en-GB" b="1" dirty="0" err="1"/>
              <a:t>C</a:t>
            </a:r>
            <a:r>
              <a:rPr lang="en-GB" b="1" baseline="-25000" dirty="0" err="1"/>
              <a:t>pop</a:t>
            </a:r>
            <a:endParaRPr lang="en-GB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D1326A-48BC-1399-AFD3-5054269C2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5183" y="369332"/>
            <a:ext cx="2949750" cy="31343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01F11D-D14A-35E6-715C-F5082F7D37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5182" y="3546466"/>
            <a:ext cx="2949751" cy="3227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04C039-2663-889C-8F8B-881E9346D97A}"/>
              </a:ext>
            </a:extLst>
          </p:cNvPr>
          <p:cNvSpPr txBox="1"/>
          <p:nvPr/>
        </p:nvSpPr>
        <p:spPr>
          <a:xfrm rot="5400000">
            <a:off x="11290149" y="1356070"/>
            <a:ext cx="95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DGM-1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1F7DC4-9F38-C350-E2D3-49B98148F571}"/>
              </a:ext>
            </a:extLst>
          </p:cNvPr>
          <p:cNvSpPr txBox="1"/>
          <p:nvPr/>
        </p:nvSpPr>
        <p:spPr>
          <a:xfrm rot="5400000">
            <a:off x="11290148" y="4400527"/>
            <a:ext cx="95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DGM-2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356BD7-58F6-ABAB-5DDD-27B54CB828A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85"/>
          <a:stretch>
            <a:fillRect/>
          </a:stretch>
        </p:blipFill>
        <p:spPr>
          <a:xfrm>
            <a:off x="5447167" y="3574998"/>
            <a:ext cx="2897606" cy="3170828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A1A79A6-70CF-535B-6E3C-1B766363F500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22400" y="2699497"/>
            <a:ext cx="4574902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 err="1"/>
              <a:t>Q</a:t>
            </a:r>
            <a:r>
              <a:rPr lang="en-GB" sz="2000" b="1" baseline="-25000" dirty="0" err="1"/>
              <a:t>meas</a:t>
            </a:r>
            <a:r>
              <a:rPr lang="en-GB" sz="2000" b="1" dirty="0"/>
              <a:t> = number of predictor variables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 err="1"/>
              <a:t>C</a:t>
            </a:r>
            <a:r>
              <a:rPr lang="en-GB" sz="2000" b="1" baseline="-25000" dirty="0" err="1"/>
              <a:t>pop</a:t>
            </a:r>
            <a:r>
              <a:rPr lang="en-GB" sz="2000" b="1" dirty="0"/>
              <a:t> = discrimination of the model</a:t>
            </a: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10271453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DD1CC-8A96-9475-9526-CE254AB1E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F9C0F89-6F89-A87C-0C30-BA5872590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969052" cy="1164415"/>
          </a:xfrm>
        </p:spPr>
        <p:txBody>
          <a:bodyPr anchor="t">
            <a:normAutofit/>
          </a:bodyPr>
          <a:lstStyle/>
          <a:p>
            <a:r>
              <a:rPr lang="en-US" dirty="0"/>
              <a:t>Example #2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7E01E5-C893-A12C-36A9-BD8B3B697F06}"/>
              </a:ext>
            </a:extLst>
          </p:cNvPr>
          <p:cNvSpPr txBox="1"/>
          <p:nvPr/>
        </p:nvSpPr>
        <p:spPr>
          <a:xfrm rot="5400000">
            <a:off x="11290149" y="1356070"/>
            <a:ext cx="95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DGM-1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8245C5-3B82-AF84-7C69-680114925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408" y="345681"/>
            <a:ext cx="2877064" cy="30833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63828E1-1B83-FD23-1AA3-838EB5CBD4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73"/>
          <a:stretch>
            <a:fillRect/>
          </a:stretch>
        </p:blipFill>
        <p:spPr>
          <a:xfrm>
            <a:off x="5636123" y="345681"/>
            <a:ext cx="2792613" cy="30384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8FF36-F2D0-EBC4-1D1E-521811486797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22400" y="2699497"/>
            <a:ext cx="4574902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 err="1"/>
              <a:t>Q</a:t>
            </a:r>
            <a:r>
              <a:rPr lang="en-GB" sz="2000" b="1" baseline="-25000" dirty="0" err="1"/>
              <a:t>meas</a:t>
            </a:r>
            <a:r>
              <a:rPr lang="en-GB" sz="2000" b="1" dirty="0"/>
              <a:t> = number of predictor variables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 err="1"/>
              <a:t>C</a:t>
            </a:r>
            <a:r>
              <a:rPr lang="en-GB" sz="2000" b="1" baseline="-25000" dirty="0" err="1"/>
              <a:t>pop</a:t>
            </a:r>
            <a:r>
              <a:rPr lang="en-GB" sz="2000" b="1" dirty="0"/>
              <a:t> = discrimination of the model</a:t>
            </a: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C796E4-225A-403A-E38F-E9754CA02538}"/>
              </a:ext>
            </a:extLst>
          </p:cNvPr>
          <p:cNvSpPr txBox="1"/>
          <p:nvPr/>
        </p:nvSpPr>
        <p:spPr>
          <a:xfrm>
            <a:off x="6097795" y="7408"/>
            <a:ext cx="216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Plotted by </a:t>
            </a:r>
            <a:r>
              <a:rPr lang="en-GB" b="1" dirty="0" err="1"/>
              <a:t>Q</a:t>
            </a:r>
            <a:r>
              <a:rPr lang="en-GB" b="1" baseline="-25000" dirty="0" err="1"/>
              <a:t>meas</a:t>
            </a:r>
            <a:endParaRPr lang="en-GB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842288-15E7-6A0F-E4F3-83C515C88F9F}"/>
              </a:ext>
            </a:extLst>
          </p:cNvPr>
          <p:cNvSpPr txBox="1"/>
          <p:nvPr/>
        </p:nvSpPr>
        <p:spPr>
          <a:xfrm>
            <a:off x="9583479" y="0"/>
            <a:ext cx="1782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Plotted by </a:t>
            </a:r>
            <a:r>
              <a:rPr lang="en-GB" b="1" dirty="0" err="1"/>
              <a:t>C</a:t>
            </a:r>
            <a:r>
              <a:rPr lang="en-GB" b="1" baseline="-25000" dirty="0" err="1"/>
              <a:t>pop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536776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6F0D1-F1BC-0969-F2EA-0BA733E5B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545DC85-D7E6-14BE-BAB6-58796A01E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969052" cy="1164415"/>
          </a:xfrm>
        </p:spPr>
        <p:txBody>
          <a:bodyPr anchor="t">
            <a:normAutofit/>
          </a:bodyPr>
          <a:lstStyle/>
          <a:p>
            <a:r>
              <a:rPr lang="en-US" dirty="0"/>
              <a:t>Example #2</a:t>
            </a:r>
            <a:br>
              <a:rPr lang="en-US" dirty="0"/>
            </a:b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2CBB39-5AD1-1100-7701-7D8D5D11C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408" y="345681"/>
            <a:ext cx="2877064" cy="30833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AE7327E-8F89-783B-14D0-17A5936BA3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73"/>
          <a:stretch>
            <a:fillRect/>
          </a:stretch>
        </p:blipFill>
        <p:spPr>
          <a:xfrm>
            <a:off x="5636123" y="345681"/>
            <a:ext cx="2792613" cy="30384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02C474-AF0B-401E-9534-00C1B6436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6612" y="3588351"/>
            <a:ext cx="3013860" cy="32696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7113A7-2FCD-58B8-82B6-ABDE9D44EB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0493" y="3611095"/>
            <a:ext cx="2897605" cy="31708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B86315-1E7C-99F0-AD9A-3E9E8E188235}"/>
              </a:ext>
            </a:extLst>
          </p:cNvPr>
          <p:cNvSpPr txBox="1"/>
          <p:nvPr/>
        </p:nvSpPr>
        <p:spPr>
          <a:xfrm rot="5400000">
            <a:off x="11290149" y="1356070"/>
            <a:ext cx="95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DGM-1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DB4DA4-4D34-225F-63A3-9D304EA4D57A}"/>
              </a:ext>
            </a:extLst>
          </p:cNvPr>
          <p:cNvSpPr txBox="1"/>
          <p:nvPr/>
        </p:nvSpPr>
        <p:spPr>
          <a:xfrm rot="5400000">
            <a:off x="11290148" y="4400527"/>
            <a:ext cx="95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DGM-2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65D02B9-AA60-F2AB-8C7C-D5CB77AEC697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22400" y="2699497"/>
            <a:ext cx="4574902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 err="1"/>
              <a:t>Q</a:t>
            </a:r>
            <a:r>
              <a:rPr lang="en-GB" sz="2000" b="1" baseline="-25000" dirty="0" err="1"/>
              <a:t>meas</a:t>
            </a:r>
            <a:r>
              <a:rPr lang="en-GB" sz="2000" b="1" dirty="0"/>
              <a:t> = number of predictor variables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 err="1"/>
              <a:t>C</a:t>
            </a:r>
            <a:r>
              <a:rPr lang="en-GB" sz="2000" b="1" baseline="-25000" dirty="0" err="1"/>
              <a:t>pop</a:t>
            </a:r>
            <a:r>
              <a:rPr lang="en-GB" sz="2000" b="1" dirty="0"/>
              <a:t> = discrimination of the model</a:t>
            </a: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893E2D-42BF-9FC6-E93F-3B4A1E9407A9}"/>
              </a:ext>
            </a:extLst>
          </p:cNvPr>
          <p:cNvSpPr txBox="1"/>
          <p:nvPr/>
        </p:nvSpPr>
        <p:spPr>
          <a:xfrm>
            <a:off x="6097795" y="7408"/>
            <a:ext cx="216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Plotted by </a:t>
            </a:r>
            <a:r>
              <a:rPr lang="en-GB" b="1" dirty="0" err="1"/>
              <a:t>Q</a:t>
            </a:r>
            <a:r>
              <a:rPr lang="en-GB" b="1" baseline="-25000" dirty="0" err="1"/>
              <a:t>meas</a:t>
            </a:r>
            <a:endParaRPr lang="en-GB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FDAF0A-6C7C-D227-40C0-4DA41C94EFC0}"/>
              </a:ext>
            </a:extLst>
          </p:cNvPr>
          <p:cNvSpPr txBox="1"/>
          <p:nvPr/>
        </p:nvSpPr>
        <p:spPr>
          <a:xfrm>
            <a:off x="9583479" y="0"/>
            <a:ext cx="1782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Plotted by </a:t>
            </a:r>
            <a:r>
              <a:rPr lang="en-GB" b="1" dirty="0" err="1"/>
              <a:t>C</a:t>
            </a:r>
            <a:r>
              <a:rPr lang="en-GB" b="1" baseline="-25000" dirty="0" err="1"/>
              <a:t>pop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6160797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CE408-4A83-982C-C93B-C71D8AB7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DFEC3-B2C0-BE77-9DFF-5EB964973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4976037"/>
            <a:ext cx="8961120" cy="1289846"/>
          </a:xfrm>
        </p:spPr>
        <p:txBody>
          <a:bodyPr anchor="b">
            <a:normAutofit/>
          </a:bodyPr>
          <a:lstStyle/>
          <a:p>
            <a:r>
              <a:rPr lang="en-US" dirty="0"/>
              <a:t>Key concepts</a:t>
            </a:r>
          </a:p>
        </p:txBody>
      </p:sp>
    </p:spTree>
    <p:extLst>
      <p:ext uri="{BB962C8B-B14F-4D97-AF65-F5344CB8AC3E}">
        <p14:creationId xmlns:p14="http://schemas.microsoft.com/office/powerpoint/2010/main" val="1046116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8E27E-A040-6C57-8C54-F476BF5E4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2D4BC-71A9-8222-B787-AC24BEFFD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1164415"/>
          </a:xfrm>
        </p:spPr>
        <p:txBody>
          <a:bodyPr anchor="t">
            <a:normAutofit/>
          </a:bodyPr>
          <a:lstStyle/>
          <a:p>
            <a:r>
              <a:rPr lang="en-US" dirty="0"/>
              <a:t>KEY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53A7E-22C4-79F0-9FB6-C212A281B141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1" y="743106"/>
            <a:ext cx="6800549" cy="5455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With every design decision, remember the aim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Consider the fairness and impact of the data generating mechanism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Consider realism/complexity vs tractability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What are the most informative performance metrics?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Large sample vs small sample (bias vs variability)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Design of a data simulator: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Keep the DGM flexible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Consider computational efficiency carefully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Interactive application for presenting results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Simulation should be fully reproducible, including random number seeds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 lvl="1">
              <a:spcBef>
                <a:spcPts val="600"/>
              </a:spcBef>
            </a:pPr>
            <a:endParaRPr lang="en-GB" sz="2000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 marL="0" indent="0">
              <a:spcBef>
                <a:spcPts val="2500"/>
              </a:spcBef>
              <a:buNone/>
            </a:pPr>
            <a:endParaRPr lang="en-GB" sz="2000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38773137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58995-A1B7-12B5-E83B-A9BDD14C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FEF04-5121-7EEE-E4D9-A1E417D9C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1164415"/>
          </a:xfrm>
        </p:spPr>
        <p:txBody>
          <a:bodyPr anchor="t">
            <a:normAutofit/>
          </a:bodyPr>
          <a:lstStyle/>
          <a:p>
            <a:r>
              <a:rPr lang="en-US" dirty="0"/>
              <a:t>KEY reference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FFB5C6-7386-3288-1491-099D456DE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54" y="3899414"/>
            <a:ext cx="6096526" cy="222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4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16DEA-0DCA-6C94-F603-7D4BCB4EF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E5E42-A911-F38B-09B4-AE664C7C0F0F}"/>
              </a:ext>
            </a:extLst>
          </p:cNvPr>
          <p:cNvSpPr txBox="1">
            <a:spLocks/>
          </p:cNvSpPr>
          <p:nvPr/>
        </p:nvSpPr>
        <p:spPr>
          <a:xfrm>
            <a:off x="422400" y="435785"/>
            <a:ext cx="7502400" cy="2918754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THANK you for listening!</a:t>
            </a:r>
          </a:p>
        </p:txBody>
      </p:sp>
      <p:pic>
        <p:nvPicPr>
          <p:cNvPr id="2050" name="Picture 2" descr="Set of hand drawn question marks. vector illustration. 9392732 Vector Art  at Vecteezy">
            <a:extLst>
              <a:ext uri="{FF2B5EF4-FFF2-40B4-BE49-F238E27FC236}">
                <a16:creationId xmlns:a16="http://schemas.microsoft.com/office/drawing/2014/main" id="{732BB84E-6DDD-6D0D-93D3-E1B323DE6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50" y="1031359"/>
            <a:ext cx="10973100" cy="548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34319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9CD7EB-A14D-D94E-0A66-701792C3E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A7691-9F19-48CA-194A-7E539BBCD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4976037"/>
            <a:ext cx="8961120" cy="1289846"/>
          </a:xfrm>
        </p:spPr>
        <p:txBody>
          <a:bodyPr anchor="b">
            <a:normAutofit/>
          </a:bodyPr>
          <a:lstStyle/>
          <a:p>
            <a:r>
              <a:rPr lang="en-US" dirty="0"/>
              <a:t>An actual example (2)</a:t>
            </a:r>
          </a:p>
        </p:txBody>
      </p:sp>
    </p:spTree>
    <p:extLst>
      <p:ext uri="{BB962C8B-B14F-4D97-AF65-F5344CB8AC3E}">
        <p14:creationId xmlns:p14="http://schemas.microsoft.com/office/powerpoint/2010/main" val="39616256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7C02C00-3053-8CC2-60AF-1CC5148D2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7EF68-87B4-4202-99D5-38C1B8FA5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969052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Calibration plots for multistate risk prediction models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7EC0AA-98A2-6FE6-7B96-825A8A985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00" y="3858127"/>
            <a:ext cx="6656835" cy="235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5190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848BF51-47BD-7A5C-BFEA-04551DB76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71C0CB-35F2-7C22-79BB-ED46D4A455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89" b="4635"/>
          <a:stretch>
            <a:fillRect/>
          </a:stretch>
        </p:blipFill>
        <p:spPr>
          <a:xfrm>
            <a:off x="318977" y="3003698"/>
            <a:ext cx="7027595" cy="27314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5D8F19-C5CA-FDB3-7E76-5032A0506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969052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Calibration plots for multistate risk prediction models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74903EB-7E62-4908-03C6-B2E67D23584A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6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Study Background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Multistate models are commonly developed in practice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Lack of methodology to evaluate their performance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Specific issue is how to deal with censoring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We aimed to develop methods to assess </a:t>
            </a:r>
            <a:r>
              <a:rPr lang="en-GB" sz="2000" b="1" dirty="0"/>
              <a:t>calibration</a:t>
            </a:r>
            <a:r>
              <a:rPr lang="en-GB" sz="2000" dirty="0"/>
              <a:t> of multistate models</a:t>
            </a:r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28473146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3742DCF-4B70-2C6B-2414-A43EFF9E9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9DC5F01-296F-1F77-5464-3588C420D3A4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6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Aims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To compare the bias (and variability) of each of the calibration methods under different levels of dependent censoring </a:t>
            </a:r>
            <a:endParaRPr lang="en-GB" sz="2000" b="1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 err="1"/>
              <a:t>Estimand</a:t>
            </a:r>
            <a:endParaRPr lang="en-GB" sz="2000" b="1" dirty="0"/>
          </a:p>
          <a:p>
            <a:pPr lvl="1">
              <a:spcBef>
                <a:spcPts val="600"/>
              </a:spcBef>
            </a:pPr>
            <a:r>
              <a:rPr lang="en-GB" sz="2000" dirty="0"/>
              <a:t>The true calibration curve</a:t>
            </a:r>
            <a:endParaRPr lang="en-GB" sz="2000" b="1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Methods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BLR-IPCW; MLR-IPCW; PV</a:t>
            </a:r>
            <a:endParaRPr lang="en-GB" sz="2000" b="1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F7C3F3E-9E0B-D4CD-6C60-7609F2204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969052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Calibration plots for multistate risk prediction models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CEA85E-1E52-79D7-D4F1-97F7B7627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50" y="2519917"/>
            <a:ext cx="4917821" cy="292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2871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D7D5FB-5DC4-CBB8-A0E7-2B9495DC5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268F-422D-5B87-F052-0E117208A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969052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Calibration plots for multistate risk prediction models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– DATA generating mechanism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71BA0F-AAE3-8FEF-D3B9-4FBF3FE9246C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6"/>
            <a:ext cx="6277070" cy="5513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What needed to be simulated?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Some predictors X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Event times under a multistate framework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Time until censoring event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Dependence between the censoring event and event times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b="1" dirty="0"/>
          </a:p>
        </p:txBody>
      </p:sp>
      <p:pic>
        <p:nvPicPr>
          <p:cNvPr id="3" name="Picture 2" descr="Details are in the caption following the image">
            <a:extLst>
              <a:ext uri="{FF2B5EF4-FFF2-40B4-BE49-F238E27FC236}">
                <a16:creationId xmlns:a16="http://schemas.microsoft.com/office/drawing/2014/main" id="{E3C79723-83A1-DD53-5ED0-05B5D57CE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3806763"/>
            <a:ext cx="6277070" cy="230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14751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BD0B0CF-8594-923B-EF1D-252EAA2FD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etails are in the caption following the image">
            <a:extLst>
              <a:ext uri="{FF2B5EF4-FFF2-40B4-BE49-F238E27FC236}">
                <a16:creationId xmlns:a16="http://schemas.microsoft.com/office/drawing/2014/main" id="{4A5D60D7-62D5-A9C9-DF5D-0F01BA78E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3806763"/>
            <a:ext cx="6277070" cy="230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8BCCAB-03C7-3F83-953F-61DE57207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969052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Calibration plots for multistate risk prediction models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– DATA generating mechanism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99B2E-0B09-1614-E7B3-6B7DDED2DEBF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6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Large sample simulation Process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Simulate a validation dataset of size 200,000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Calculate the true transition probabilities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Define perfectly calibrated risks, over predicted risks, and under predicting risks.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Assess calibration of these ‘predicted’ risks using each method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Compare calibration to true calibration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26253982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71FC48F-92C1-BCEF-24B2-83EDA1100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D859504-FCC3-F521-5B12-1423D06DD6F2}"/>
                  </a:ext>
                </a:extLst>
              </p:cNvPr>
              <p:cNvSpPr txBox="1">
                <a:spLocks/>
              </p:cNvSpPr>
              <p:nvPr>
                <p:extLst>
                  <p:ext uri="{E7BDC344-281C-4309-B0C6-D0EE65EED2A8}">
                    <p202:designPr xmlns:p202="http://schemas.microsoft.com/office/powerpoint/2020/02/main">
                      <p202:designTagLst>
                        <p202:designTag name="ARCH:1:CLS" val="InformationBlock"/>
                        <p202:designTag name="ARCH:1:VSVAR" val="TitledTextBox"/>
                      </p202:designTagLst>
                    </p202:designPr>
                  </p:ext>
                </p:extLst>
              </p:nvPr>
            </p:nvSpPr>
            <p:spPr>
              <a:xfrm>
                <a:off x="5391452" y="743106"/>
                <a:ext cx="6277070" cy="531298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2500"/>
                  </a:spcBef>
                  <a:buFont typeface="Wingdings" panose="05000000000000000000" pitchFamily="2" charset="2"/>
                  <a:buChar char="Ø"/>
                </a:pPr>
                <a:r>
                  <a:rPr lang="en-GB" sz="2000" b="1" dirty="0"/>
                  <a:t>Range of input parameters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GB" sz="2000" dirty="0"/>
                  <a:t>How many predictor variables? (fixed)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GB" sz="2000" dirty="0"/>
                  <a:t>What should the effect of each of these predictor variables be? (fixed)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GB" sz="2000" dirty="0"/>
                  <a:t>Explained variation of the models (fixed)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GB" sz="2000" dirty="0"/>
                  <a:t>Rate for each outcome/transition (fixed)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GB" sz="2000" dirty="0"/>
                  <a:t>Prevalence of censoring mechanism (fixed)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GB" sz="2000" dirty="0"/>
                  <a:t>Event times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2000" dirty="0"/>
                  <a:t> to evaluate performance at (fixed)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GB" sz="2000" dirty="0"/>
                  <a:t>True calibration of the model (perfect, </a:t>
                </a:r>
                <a:r>
                  <a:rPr lang="en-GB" sz="2000" dirty="0" err="1"/>
                  <a:t>miscalibrated</a:t>
                </a:r>
                <a:r>
                  <a:rPr lang="en-GB" sz="2000" dirty="0"/>
                  <a:t> 1, </a:t>
                </a:r>
                <a:r>
                  <a:rPr lang="en-GB" sz="2000" dirty="0" err="1"/>
                  <a:t>miscalibrated</a:t>
                </a:r>
                <a:r>
                  <a:rPr lang="en-GB" sz="2000" dirty="0"/>
                  <a:t> 2)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GB" sz="2000" dirty="0"/>
                  <a:t>Amount of correlation between outcome and censoring mechanism (None, weak, strong)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GB" sz="2000" dirty="0"/>
                  <a:t>Sample size (1500, 3000, 200 000)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:endParaRPr lang="en-GB" sz="2000" dirty="0"/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:endParaRPr lang="en-GB" sz="2000" b="1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D859504-FCC3-F521-5B12-1423D06DD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extLst>
                  <p:ext uri="{E7BDC344-281C-4309-B0C6-D0EE65EED2A8}">
                    <p202:designPr xmlns:p202="http://schemas.microsoft.com/office/powerpoint/2020/02/main">
                      <p202:designTagLst>
                        <p202:designTag name="ARCH:1:CLS" val="InformationBlock"/>
                        <p202:designTag name="ARCH:1:VSVAR" val="TitledTextBox"/>
                      </p202:designTagLst>
                    </p202:designPr>
                  </p:ext>
                </p:extLst>
              </p:nvPr>
            </p:nvSpPr>
            <p:spPr>
              <a:xfrm>
                <a:off x="5391452" y="743106"/>
                <a:ext cx="6277070" cy="5312987"/>
              </a:xfrm>
              <a:prstGeom prst="rect">
                <a:avLst/>
              </a:prstGeom>
              <a:blipFill>
                <a:blip r:embed="rId3"/>
                <a:stretch>
                  <a:fillRect l="-874" t="-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920F50D7-09EC-431A-5E7D-C1369FF1D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969052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Calibration plots for multistate risk prediction models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– DATA generating mechanism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916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0A35E1E-CB76-2F31-2134-CBE884120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AB86238-9CDC-6D15-E874-F1CF00820408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7"/>
            <a:ext cx="6277070" cy="522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Performance metric</a:t>
            </a: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844E207-D5A6-D605-33B6-6B090DEAE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969052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Calibration plots for multistate risk prediction models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DB6F0B-3731-E855-1692-9AA20899E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15" y="140106"/>
            <a:ext cx="9986874" cy="657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281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071672-BC03-9B65-EF9D-25BA222CA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8360FD1-9444-F8EA-0F4C-AF64EFACBC88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7"/>
            <a:ext cx="6277070" cy="984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Performance metric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Moderate calibration curves, small sample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88B3D3-1AD5-4DFD-CD70-EEE635926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79" y="1907522"/>
            <a:ext cx="10451805" cy="493052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5E7A533-691A-092E-FE30-90D52062A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969052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Calibration plots for multistate risk prediction models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8858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799E1DA-DECE-284A-A96B-2EB2DF0E5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DD5EB15-6740-E0F9-6E0F-2140C1C7756C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1452" y="743106"/>
            <a:ext cx="6277070" cy="53129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Performance metric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 err="1"/>
              <a:t>Whats</a:t>
            </a:r>
            <a:r>
              <a:rPr lang="en-GB" sz="2000" dirty="0"/>
              <a:t> interesting about this one is: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- DGM no longer an issue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The </a:t>
            </a:r>
            <a:r>
              <a:rPr lang="en-GB" sz="2000" dirty="0" err="1"/>
              <a:t>estimand</a:t>
            </a:r>
            <a:r>
              <a:rPr lang="en-GB" sz="2000" dirty="0"/>
              <a:t> is a performance metrics (inception?)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The data generating mechanism reflected that and cut out the model fitting part as it wasn’t </a:t>
            </a:r>
            <a:r>
              <a:rPr lang="en-GB" sz="2000" dirty="0" err="1"/>
              <a:t>neccesary</a:t>
            </a: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No Monte Carlo Error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How accurate are these results?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GB" sz="2000" b="1" dirty="0"/>
              <a:t>Sample sizes were small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 dirty="0"/>
              <a:t>What about large sample performance?</a:t>
            </a:r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GB" sz="2000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spcBef>
                <a:spcPts val="2500"/>
              </a:spcBef>
            </a:pPr>
            <a:endParaRPr lang="en-GB" sz="2000" b="1" dirty="0"/>
          </a:p>
        </p:txBody>
      </p:sp>
      <p:pic>
        <p:nvPicPr>
          <p:cNvPr id="1026" name="Picture 2" descr="Back to the Future: making history - Big Issue North">
            <a:extLst>
              <a:ext uri="{FF2B5EF4-FFF2-40B4-BE49-F238E27FC236}">
                <a16:creationId xmlns:a16="http://schemas.microsoft.com/office/drawing/2014/main" id="{230B24E8-EE52-3AC0-22A5-80AD6E19A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00" y="2273301"/>
            <a:ext cx="4795926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CEDB30C-2448-6C71-91B3-BB9C6B95A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969052" cy="1164415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Calibration plots for multistate risk prediction models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60463"/>
      </p:ext>
    </p:extLst>
  </p:cSld>
  <p:clrMapOvr>
    <a:masterClrMapping/>
  </p:clrMapOvr>
</p:sld>
</file>

<file path=ppt/theme/theme1.xml><?xml version="1.0" encoding="utf-8"?>
<a:theme xmlns:a="http://schemas.openxmlformats.org/drawingml/2006/main" name="Lines">
  <a:themeElements>
    <a:clrScheme name="Lines">
      <a:dk1>
        <a:srgbClr val="0F0F0F"/>
      </a:dk1>
      <a:lt1>
        <a:sysClr val="window" lastClr="FFFFFF"/>
      </a:lt1>
      <a:dk2>
        <a:srgbClr val="0A242A"/>
      </a:dk2>
      <a:lt2>
        <a:srgbClr val="F5F2ED"/>
      </a:lt2>
      <a:accent1>
        <a:srgbClr val="E45730"/>
      </a:accent1>
      <a:accent2>
        <a:srgbClr val="27717D"/>
      </a:accent2>
      <a:accent3>
        <a:srgbClr val="8CA8B5"/>
      </a:accent3>
      <a:accent4>
        <a:srgbClr val="607381"/>
      </a:accent4>
      <a:accent5>
        <a:srgbClr val="A39990"/>
      </a:accent5>
      <a:accent6>
        <a:srgbClr val="BA3106"/>
      </a:accent6>
      <a:hlink>
        <a:srgbClr val="E45730"/>
      </a:hlink>
      <a:folHlink>
        <a:srgbClr val="24717F"/>
      </a:folHlink>
    </a:clrScheme>
    <a:fontScheme name="Univers Condensed Arial Light">
      <a:majorFont>
        <a:latin typeface="Univers Condensed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656B2F94-71EE-4F5F-8AB6-423A33239BAD}" vid="{CD481196-1649-4740-8CB7-70D8662C6A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bcae70-2094-4b7a-826b-7a1e155a0cd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708679AB01D2E4EB66063A29DDC378B" ma:contentTypeVersion="12" ma:contentTypeDescription="Create a new document." ma:contentTypeScope="" ma:versionID="0c1741d49206071c5bbf637c7667d165">
  <xsd:schema xmlns:xsd="http://www.w3.org/2001/XMLSchema" xmlns:xs="http://www.w3.org/2001/XMLSchema" xmlns:p="http://schemas.microsoft.com/office/2006/metadata/properties" xmlns:ns2="4dbcae70-2094-4b7a-826b-7a1e155a0cd1" targetNamespace="http://schemas.microsoft.com/office/2006/metadata/properties" ma:root="true" ma:fieldsID="822ffeb5e6a5af2a61586cd3baeacf8e" ns2:_="">
    <xsd:import namespace="4dbcae70-2094-4b7a-826b-7a1e155a0c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cae70-2094-4b7a-826b-7a1e155a0c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63537c-d192-4dc4-bb87-a5632b1c76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8251039-0B1C-45AD-BDF3-E784F1E00F4E}">
  <ds:schemaRefs>
    <ds:schemaRef ds:uri="230e9df3-be65-4c73-a93b-d1236ebd677e"/>
    <ds:schemaRef ds:uri="4dbcae70-2094-4b7a-826b-7a1e155a0cd1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E0FB2353-4AC6-4EAE-A026-F0FA155059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bcae70-2094-4b7a-826b-7a1e155a0c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DDFC564-B38B-4437-B10C-2B4F696FB12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2210</TotalTime>
  <Words>2325</Words>
  <Application>Microsoft Office PowerPoint</Application>
  <PresentationFormat>Widescreen</PresentationFormat>
  <Paragraphs>478</Paragraphs>
  <Slides>44</Slides>
  <Notes>44</Notes>
  <HiddenSlides>10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Aptos</vt:lpstr>
      <vt:lpstr>Arial</vt:lpstr>
      <vt:lpstr>Arial Nova Light</vt:lpstr>
      <vt:lpstr>Calibri</vt:lpstr>
      <vt:lpstr>Cambria Math</vt:lpstr>
      <vt:lpstr>Courier New</vt:lpstr>
      <vt:lpstr>Univers Condensed</vt:lpstr>
      <vt:lpstr>Wingdings</vt:lpstr>
      <vt:lpstr>Lines</vt:lpstr>
      <vt:lpstr>Practical Design and Clear Reporting of Simulation Studies</vt:lpstr>
      <vt:lpstr>Why am I here?</vt:lpstr>
      <vt:lpstr>What do we mean by simulation?</vt:lpstr>
      <vt:lpstr>Monte carlo simulations</vt:lpstr>
      <vt:lpstr>What I’m going to talk about today</vt:lpstr>
      <vt:lpstr>ADEMP framework</vt:lpstr>
      <vt:lpstr>The ademp framework  </vt:lpstr>
      <vt:lpstr>The ademp framework  </vt:lpstr>
      <vt:lpstr>The ademp framework  </vt:lpstr>
      <vt:lpstr>The ademp framework  </vt:lpstr>
      <vt:lpstr>The ademp framework  </vt:lpstr>
      <vt:lpstr>The ademp framework  </vt:lpstr>
      <vt:lpstr>The ademp framework  </vt:lpstr>
      <vt:lpstr>The ademp framework  </vt:lpstr>
      <vt:lpstr>The ademp framework  </vt:lpstr>
      <vt:lpstr>example #1</vt:lpstr>
      <vt:lpstr>Example #1 – Clinical prediction models to estimate the risk of two survival outcomes both occurring  </vt:lpstr>
      <vt:lpstr>Example #1  </vt:lpstr>
      <vt:lpstr>Example #1  - DATA GENERATING MECHANISM </vt:lpstr>
      <vt:lpstr>Example #1  - DATA GENERATING MECHANISM </vt:lpstr>
      <vt:lpstr>Example #1 </vt:lpstr>
      <vt:lpstr>Example #1  </vt:lpstr>
      <vt:lpstr>Example #1  </vt:lpstr>
      <vt:lpstr>Example #1 - time machine  </vt:lpstr>
      <vt:lpstr>example #2</vt:lpstr>
      <vt:lpstr>Example #2 – performance of the Heuristic shrinkage factor </vt:lpstr>
      <vt:lpstr>Example #2</vt:lpstr>
      <vt:lpstr>Example #2</vt:lpstr>
      <vt:lpstr>Example #2 </vt:lpstr>
      <vt:lpstr>Example #2 </vt:lpstr>
      <vt:lpstr>Key concepts</vt:lpstr>
      <vt:lpstr>KEY concepts</vt:lpstr>
      <vt:lpstr>KEY reference</vt:lpstr>
      <vt:lpstr>PowerPoint Presentation</vt:lpstr>
      <vt:lpstr>An actual example (2)</vt:lpstr>
      <vt:lpstr>Calibration plots for multistate risk prediction models  </vt:lpstr>
      <vt:lpstr>Calibration plots for multistate risk prediction models  </vt:lpstr>
      <vt:lpstr>Calibration plots for multistate risk prediction models  </vt:lpstr>
      <vt:lpstr>Calibration plots for multistate risk prediction models   – DATA generating mechanism  </vt:lpstr>
      <vt:lpstr>Calibration plots for multistate risk prediction models   – DATA generating mechanism  </vt:lpstr>
      <vt:lpstr>Calibration plots for multistate risk prediction models   – DATA generating mechanism  </vt:lpstr>
      <vt:lpstr>Calibration plots for multistate risk prediction models  </vt:lpstr>
      <vt:lpstr>Calibration plots for multistate risk prediction models  </vt:lpstr>
      <vt:lpstr>Calibration plots for multistate risk prediction models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Pate</dc:creator>
  <cp:lastModifiedBy>Alexander Pate</cp:lastModifiedBy>
  <cp:revision>8</cp:revision>
  <dcterms:created xsi:type="dcterms:W3CDTF">2025-08-04T19:15:43Z</dcterms:created>
  <dcterms:modified xsi:type="dcterms:W3CDTF">2026-05-13T09:33:55Z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0x0101008708679AB01D2E4EB66063A29DDC378B</vt:lpwstr>
  </property>
  <property fmtid="{D5CDD505-2E9C-101B-9397-08002B2CF9AE}" pid="3" name="MediaServiceImageTags">
    <vt:lpwstr/>
  </property>
</Properties>
</file>